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63" r:id="rId4"/>
    <p:sldId id="260" r:id="rId5"/>
    <p:sldId id="258" r:id="rId6"/>
    <p:sldId id="259" r:id="rId7"/>
    <p:sldId id="261" r:id="rId8"/>
    <p:sldId id="262" r:id="rId9"/>
    <p:sldId id="264" r:id="rId10"/>
    <p:sldId id="265" r:id="rId11"/>
    <p:sldId id="267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nate Jain" userId="976167ac889b25c4" providerId="LiveId" clId="{250E833E-F64D-4ED8-940D-5AB3540D8995}"/>
    <pc:docChg chg="modSld">
      <pc:chgData name="Mannate Jain" userId="976167ac889b25c4" providerId="LiveId" clId="{250E833E-F64D-4ED8-940D-5AB3540D8995}" dt="2026-10-05T15:00:52.989" v="10" actId="20577"/>
      <pc:docMkLst>
        <pc:docMk/>
      </pc:docMkLst>
      <pc:sldChg chg="modSp mod">
        <pc:chgData name="Mannate Jain" userId="976167ac889b25c4" providerId="LiveId" clId="{250E833E-F64D-4ED8-940D-5AB3540D8995}" dt="2026-10-05T15:00:52.989" v="10" actId="20577"/>
        <pc:sldMkLst>
          <pc:docMk/>
          <pc:sldMk cId="1268978073" sldId="269"/>
        </pc:sldMkLst>
        <pc:spChg chg="mod">
          <ac:chgData name="Mannate Jain" userId="976167ac889b25c4" providerId="LiveId" clId="{250E833E-F64D-4ED8-940D-5AB3540D8995}" dt="2026-10-05T15:00:52.989" v="10" actId="20577"/>
          <ac:spMkLst>
            <pc:docMk/>
            <pc:sldMk cId="1268978073" sldId="269"/>
            <ac:spMk id="4" creationId="{353E2B0F-1BE0-BEFD-61CD-D208C8E4A1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C836D-B34C-4DBC-9463-904D094D28A5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1D548-DD1F-4BC3-BDA6-C817C8D36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 respected panel members. </a:t>
            </a:r>
            <a:r>
              <a:rPr dirty="0"/>
              <a:t>We are Bhoomi Singhal (2314168) and Archita Roy (2314165), working under the supervision of Dr. Koushik Guha.</a:t>
            </a:r>
          </a:p>
          <a:p>
            <a:r>
              <a:rPr dirty="0"/>
              <a:t>Our project is "Design of an Energy-Efficient EEG Seizure Detection System using Approximate Computing".</a:t>
            </a:r>
          </a:p>
          <a:p>
            <a:r>
              <a:rPr dirty="0"/>
              <a:t>In one line: we detect epileptic seizures from EEG signals with a machine-learning classifier (SVM), and we plan to build its hardware with APPROXIMATE adders and multipliers so that it consumes much less power - making it suitable for wearable, battery-powered seizure monitors.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4048"/>
            <a:ext cx="8229600" cy="5486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2400" b="0" dirty="0">
                <a:latin typeface="Times New Roman"/>
              </a:rPr>
              <a:t>B. Tech. Project Mid-Semester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05840"/>
            <a:ext cx="8229600" cy="1234440"/>
          </a:xfrm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/>
              </a:rPr>
              <a:t>Explainable Deep Learning Framework for Automated ECG Arrhythmia</a:t>
            </a:r>
            <a:endParaRPr sz="3000" b="1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395728"/>
            <a:ext cx="18288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Presented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Sidhesh Mahesh Tavare (2314037)</a:t>
            </a:r>
            <a:b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Nikhil Kumar Singh (2314055)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572000" y="2697480"/>
            <a:ext cx="0" cy="914400"/>
          </a:xfrm>
          <a:prstGeom prst="line">
            <a:avLst/>
          </a:prstGeom>
          <a:ln w="12700">
            <a:solidFill>
              <a:srgbClr val="BFC9D9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663440" y="2606040"/>
            <a:ext cx="3657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1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Supervisor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Arnab Nandi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NIT Silcha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3977639"/>
            <a:ext cx="1143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Department of Electronics and Communication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1200" cap="none" spc="0" normalizeH="0" baseline="0" noProof="0">
                <a:ln>
                  <a:noFill/>
                </a:ln>
                <a:solidFill>
                  <a:srgbClr val="002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National Institute of Technology Silchar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47688"/>
            <a:ext cx="91440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dirty="0">
                <a:solidFill>
                  <a:srgbClr val="1F1F1F"/>
                </a:solidFill>
                <a:latin typeface="Times New Roman"/>
              </a:rPr>
              <a:t>Introduction</a:t>
            </a:r>
            <a:r>
              <a:rPr sz="2600" b="1" dirty="0">
                <a:solidFill>
                  <a:srgbClr val="1F1F1F"/>
                </a:solidFill>
                <a:latin typeface="Times New Roman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27048"/>
            <a:ext cx="353872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latin typeface="Calibri"/>
              </a:rPr>
              <a:t>Non-contact vital-sign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92808"/>
            <a:ext cx="3538728" cy="61401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250" dirty="0"/>
              <a:t>Radar can sense tiny periodic movements of the chest caused by breathing and heartbeat without requiring electrodes, belts, or physical contact with the subject.</a:t>
            </a:r>
            <a:endParaRPr sz="125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5152" y="1545491"/>
            <a:ext cx="353872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>
                <a:latin typeface="Calibri"/>
              </a:rPr>
              <a:t>Why radar?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92808"/>
            <a:ext cx="3538728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dirty="0"/>
              <a:t>Radar operates without physical contact and can monitor a subject from a distance, making it suitable for comfortable and continuous monitoring.</a:t>
            </a:r>
            <a:endParaRPr sz="125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768096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u="sng" dirty="0">
                <a:latin typeface="Calibri"/>
              </a:rPr>
              <a:t>Clinical quantities of interest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Heart Rate (HR)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dirty="0">
                <a:solidFill>
                  <a:srgbClr val="646464"/>
                </a:solidFill>
                <a:latin typeface="Calibri"/>
              </a:rPr>
              <a:t>beats per minute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Respiratory Rate (RR)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breaths per minute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547872"/>
            <a:ext cx="214884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latin typeface="Calibri"/>
              </a:rPr>
              <a:t>Multiple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3968496"/>
            <a:ext cx="2148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6464"/>
                </a:solidFill>
                <a:latin typeface="Calibri"/>
              </a:rPr>
              <a:t>simultaneous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906089"/>
            <a:ext cx="7543800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dirty="0">
                <a:latin typeface="Calibri"/>
              </a:rPr>
              <a:t>The project focuses on the signal-processing chain required to separate multiple radar returns and estimate HR/RR from the recovered phase information.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Radar System &amp; Why FMCW mmWave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Primary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3474720" cy="10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Texas Instruments IWR6843AOP FMCW </a:t>
            </a:r>
            <a:r>
              <a:rPr sz="1150" b="0" dirty="0" err="1">
                <a:solidFill>
                  <a:srgbClr val="202020"/>
                </a:solidFill>
                <a:latin typeface="Calibri"/>
              </a:rPr>
              <a:t>mmWave</a:t>
            </a:r>
            <a:r>
              <a:rPr sz="1150" b="0" dirty="0">
                <a:solidFill>
                  <a:srgbClr val="202020"/>
                </a:solidFill>
                <a:latin typeface="Calibri"/>
              </a:rPr>
              <a:t> radar
77–81 GHz</a:t>
            </a:r>
            <a:r>
              <a:rPr lang="en-US" sz="1150" dirty="0">
                <a:solidFill>
                  <a:srgbClr val="202020"/>
                </a:solidFill>
                <a:latin typeface="Calibri"/>
              </a:rPr>
              <a:t>.</a:t>
            </a:r>
            <a:r>
              <a:rPr lang="en-US" sz="1150" dirty="0"/>
              <a:t> It continuously transmits FMCW chirps and receives their reflections from the human body. Multiple receiving antennas help capture spatial information about the target.</a:t>
            </a:r>
          </a:p>
          <a:p>
            <a:pPr algn="l"/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Chirp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9164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A transmitted signal whose frequency changes continuously over a known time interval.</a:t>
            </a:r>
            <a:r>
              <a:rPr lang="en-US" sz="1150" dirty="0"/>
              <a:t> The frequency sweeps from a lower frequency to a higher frequency during each chirp. Comparing the transmitted and received chirps produces a frequency difference called the beat frequency.</a:t>
            </a:r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74320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47472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DCA1000EVM for high-speed ADC capture; TI </a:t>
            </a:r>
            <a:r>
              <a:rPr sz="1150" b="0" dirty="0" err="1">
                <a:solidFill>
                  <a:srgbClr val="202020"/>
                </a:solidFill>
                <a:latin typeface="Calibri"/>
              </a:rPr>
              <a:t>mmWave</a:t>
            </a:r>
            <a:r>
              <a:rPr lang="en-US" sz="1150" b="0" dirty="0">
                <a:solidFill>
                  <a:srgbClr val="202020"/>
                </a:solidFill>
                <a:latin typeface="Calibri"/>
              </a:rPr>
              <a:t>,</a:t>
            </a:r>
            <a:r>
              <a:rPr sz="1150" b="0" dirty="0">
                <a:solidFill>
                  <a:srgbClr val="202020"/>
                </a:solidFill>
                <a:latin typeface="Calibri"/>
              </a:rPr>
              <a:t> </a:t>
            </a:r>
            <a:r>
              <a:rPr lang="en-US" sz="1150" dirty="0"/>
              <a:t>The radar's analog received signal is converted into digital ADC samples, which are stored as raw data for offline processing.</a:t>
            </a:r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Range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383280" cy="1100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The beat-frequency difference between transmitted and received signals is related to target distance.</a:t>
            </a:r>
            <a:r>
              <a:rPr lang="en-US" sz="1150" dirty="0"/>
              <a:t> A farther target produces a larger propagation delay, which results in a different beat frequency. By estimating this frequency, the radar can determine how far the target is from the sensor.</a:t>
            </a:r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Secondary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34747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dirty="0">
                <a:solidFill>
                  <a:srgbClr val="202020"/>
                </a:solidFill>
                <a:latin typeface="Calibri"/>
              </a:rPr>
              <a:t>Infineon BGT60LTR11AIP around 60/61 GHz was used in selected measurements.</a:t>
            </a:r>
            <a:r>
              <a:rPr lang="en-US" sz="1150" dirty="0"/>
              <a:t> It provides an independent radar sensing setup and allows measurements to be performed using a different </a:t>
            </a:r>
            <a:r>
              <a:rPr lang="en-US" sz="1150" dirty="0" err="1"/>
              <a:t>mmWave</a:t>
            </a:r>
            <a:r>
              <a:rPr lang="en-US" sz="1150" dirty="0"/>
              <a:t> frequency and hardware configuration.</a:t>
            </a:r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Vital-sign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Tiny chest movements modulate received phase, allowing periodic components related to respiration and heartbeat to be extracted.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02020"/>
                </a:solidFill>
                <a:latin typeface="Calibri"/>
              </a:rPr>
              <a:t>Compared with a basic Doppler-only view, FMCW also provides range information, which is crucial for separating multiple subjects.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8664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Literature Review &amp;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7680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202020"/>
                </a:solidFill>
                <a:latin typeface="Calibri"/>
              </a:rPr>
              <a:t>The paper positions </a:t>
            </a:r>
            <a:r>
              <a:rPr sz="1500" b="0" dirty="0" err="1">
                <a:solidFill>
                  <a:srgbClr val="202020"/>
                </a:solidFill>
                <a:latin typeface="Calibri"/>
              </a:rPr>
              <a:t>SiViS</a:t>
            </a:r>
            <a:r>
              <a:rPr sz="1500" b="0" dirty="0">
                <a:solidFill>
                  <a:srgbClr val="202020"/>
                </a:solidFill>
                <a:latin typeface="Calibri"/>
              </a:rPr>
              <a:t> primarily as a dataset + technical-validation contribution.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0574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28800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Existing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Multi-person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40280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Signal separation, localization and vital-sign estimation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FMCW vital signs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34640"/>
            <a:ext cx="24231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Range + phase information for non-contact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834640"/>
            <a:ext cx="27889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20574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202020"/>
                </a:solidFill>
                <a:latin typeface="Calibri"/>
              </a:rPr>
              <a:t>SiViS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429000"/>
            <a:ext cx="24231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>
                <a:solidFill>
                  <a:srgbClr val="202020"/>
                </a:solidFill>
                <a:latin typeface="Calibri"/>
              </a:rPr>
              <a:t>Public dataset with multiple patients,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429000"/>
            <a:ext cx="27889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0" dirty="0">
                <a:solidFill>
                  <a:srgbClr val="202020"/>
                </a:solidFill>
                <a:latin typeface="Calibri"/>
              </a:rPr>
              <a:t>\</a:t>
            </a:r>
            <a:endParaRPr sz="1150" b="0" dirty="0">
              <a:solidFill>
                <a:srgbClr val="20202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63347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227832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7726679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Gap addressed by SiViS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A public dataset combines multiple simulated patients, physiological states, radar geometries and raw recordings.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Our project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2628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Study and reproduce the paper’s processing pipeline as a foundation for later comparison with additional papers and methods.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76809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>
                <a:latin typeface="Calibri"/>
              </a:rPr>
              <a:t>Develop a non-contact signal-processing pipeline capable of separating multiple patient radar returns and estimating their heart and respiratory rates from FMCW </a:t>
            </a:r>
            <a:r>
              <a:rPr sz="1600" b="0" dirty="0" err="1">
                <a:latin typeface="Calibri"/>
              </a:rPr>
              <a:t>mmWave</a:t>
            </a:r>
            <a:r>
              <a:rPr sz="1600" b="0" dirty="0">
                <a:latin typeface="Calibri"/>
              </a:rPr>
              <a:t> radar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73152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Overlapping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1F1F1F"/>
                </a:solidFill>
                <a:latin typeface="Calibri"/>
              </a:rPr>
              <a:t>Signals from different patients can occupy similar range/angle regions.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148840"/>
            <a:ext cx="73152" cy="15087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33472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Clutter &amp; multipath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Reflections from beds, walls and equipment can interfere with weak vital-sign components.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14884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1" y="2258568"/>
            <a:ext cx="157276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Target separation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624328"/>
            <a:ext cx="157276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The system must identify each subject before estimating an individual HR/RR.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148840"/>
            <a:ext cx="73152" cy="1508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2258568"/>
            <a:ext cx="152704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latin typeface="Calibri"/>
              </a:rPr>
              <a:t>Clinical scenarios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24328"/>
            <a:ext cx="1527048" cy="9418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1F1F"/>
                </a:solidFill>
                <a:latin typeface="Calibri"/>
              </a:rPr>
              <a:t>The dataset includes different simulated physiological states rather than only healthy rest.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7543800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dirty="0">
                <a:latin typeface="Times New Roman"/>
              </a:rPr>
              <a:t>Core challenge:  identify  →  isolate  →  extract  →  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75438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Motivation</a:t>
            </a:r>
            <a:r>
              <a:rPr sz="1300" b="0" dirty="0">
                <a:solidFill>
                  <a:srgbClr val="1F1F1F"/>
                </a:solidFill>
                <a:latin typeface="Calibri"/>
              </a:rPr>
              <a:t>
• Contact sensors are not always convenient for continuous or multi-patient observation.
• </a:t>
            </a:r>
            <a:r>
              <a:rPr sz="1300" b="0" dirty="0" err="1">
                <a:solidFill>
                  <a:srgbClr val="1F1F1F"/>
                </a:solidFill>
                <a:latin typeface="Calibri"/>
              </a:rPr>
              <a:t>SiViS</a:t>
            </a:r>
            <a:r>
              <a:rPr sz="1300" b="0" dirty="0">
                <a:solidFill>
                  <a:srgbClr val="1F1F1F"/>
                </a:solidFill>
                <a:latin typeface="Calibri"/>
              </a:rPr>
              <a:t> provides controlled, repeatable multi-patient clinical simulations for algorithm development.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411480"/>
            <a:ext cx="77724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dirty="0">
                <a:solidFill>
                  <a:srgbClr val="1F1F1F"/>
                </a:solidFill>
                <a:latin typeface="Times New Roman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3350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Study the </a:t>
            </a:r>
            <a:r>
              <a:rPr sz="1600" b="1" dirty="0" err="1">
                <a:solidFill>
                  <a:srgbClr val="1F1F1F"/>
                </a:solidFill>
                <a:latin typeface="Calibri"/>
              </a:rPr>
              <a:t>SiViS</a:t>
            </a:r>
            <a:r>
              <a:rPr sz="1600" b="1" dirty="0">
                <a:solidFill>
                  <a:srgbClr val="1F1F1F"/>
                </a:solidFill>
                <a:latin typeface="Calibri"/>
              </a:rPr>
              <a:t>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350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Understand its experimental setups, radar configurations and simulated physiological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566928" cy="2369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2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23880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Decode and preprocess </a:t>
            </a:r>
            <a:endParaRPr lang="en-US" sz="1600" b="1" dirty="0">
              <a:solidFill>
                <a:srgbClr val="1F1F1F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radar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49424"/>
            <a:ext cx="4754880" cy="2139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dirty="0">
                <a:solidFill>
                  <a:srgbClr val="1F1F1F"/>
                </a:solidFill>
                <a:latin typeface="Calibri"/>
              </a:rPr>
              <a:t>Convert raw IWR6843AOP recordings into usable complex I/Q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243668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Separate multiple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1638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Use range-angle information and MVDR beamforming to isolate individual subjects.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78224"/>
            <a:ext cx="2743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Extract HR and 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782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Use phase-derived frequency information to estimate heart and respiratory rates.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56692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992624"/>
            <a:ext cx="274320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Build and validate the </a:t>
            </a:r>
            <a:endParaRPr lang="en-US" sz="1600" b="1" dirty="0">
              <a:solidFill>
                <a:srgbClr val="1F1F1F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F1F1F"/>
                </a:solidFill>
                <a:latin typeface="Calibri"/>
              </a:rPr>
              <a:t>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92624"/>
            <a:ext cx="47548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F1F1F"/>
                </a:solidFill>
                <a:latin typeface="Calibri"/>
              </a:rPr>
              <a:t>Reproduce the base-paper processing flow; implementation/results remain in progress.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 Paper: </a:t>
            </a:r>
            <a:r>
              <a:rPr sz="2600" b="1" dirty="0" err="1">
                <a:solidFill>
                  <a:srgbClr val="202020"/>
                </a:solidFill>
                <a:latin typeface="Times New Roman"/>
              </a:rPr>
              <a:t>SiViS</a:t>
            </a:r>
            <a:endParaRPr sz="2600" b="1" dirty="0">
              <a:solidFill>
                <a:srgbClr val="20202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680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202020"/>
                </a:solidFill>
                <a:latin typeface="Calibri"/>
              </a:rPr>
              <a:t>SiViS: Simulated multi-patient physiological clinical states for advanced vital sign radar monitoring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696969"/>
                </a:solidFill>
                <a:latin typeface="Calibri"/>
              </a:rPr>
              <a:t>Scientific Data (2026) • Reyes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Main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474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A publicly available dataset designed for simultaneous multi-patient vital-sign monitoring and a technical-validation pipeline for HR/RR extraction.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Important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4747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paper does not claim a new HR/RR estimation algorithm as its primary novelty. Its emphasis is the dataset and validation of a processing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Dataset availability: Harvard Dataverse (SiViS)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7543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project uses this paper as the primary technical reference. The implementation aims to reproduce its processing flow; project-specific results are not yet available.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SiViS Dataset &amp; Experimental Design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77" y="2491740"/>
            <a:ext cx="3749039" cy="18745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0" y="141732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Experimental setups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33832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Area Set-up
• Mannequin Set-up
• Radar Set-up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6324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Key dataset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56432"/>
            <a:ext cx="3429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• 2–3 SimMan 3G PLUS patient simulators
• 100+ uniquely configured sessions
• Radar positions: top, frontal and lateral
• Distances: 1–4 m; orientations: 0° and 45°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controlled setups allow target separation and HR/RR extraction to be studied across different spatial configurations.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202020"/>
                </a:solidFill>
                <a:latin typeface="Times New Roman"/>
              </a:rPr>
              <a:t>Methodology</a:t>
            </a:r>
          </a:p>
          <a:p>
            <a:pPr algn="ctr"/>
            <a:endParaRPr sz="3200" b="1" dirty="0">
              <a:solidFill>
                <a:srgbClr val="202020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Raw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ADC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complex I/Q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Range-angle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identification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MVDR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beamforming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173736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202020"/>
                </a:solidFill>
                <a:latin typeface="Times New Roman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3533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6733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HR / RR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Calibri"/>
              </a:rPr>
              <a:t>estimation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88920"/>
            <a:ext cx="7040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Calibri"/>
              </a:rPr>
              <a:t>The first five stages solve the multi-target separation problem; the final two stages convert the isolated target signal into physiological-rate estimates.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7947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Data decoding &amp; preprocessing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160520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Raw binary IWR6843AOP recordings are decoded into complex I/Q samples and organized according to the radar acquisition configuration.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794760"/>
            <a:ext cx="3383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Recorded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160520"/>
            <a:ext cx="3383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Calibri"/>
              </a:rPr>
              <a:t>The processing chain operates on captured radar data, not directly on HR/RR labels. CSV versions are also provided with the dataset.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>
                <a:solidFill>
                  <a:srgbClr val="202020"/>
                </a:solidFill>
                <a:latin typeface="Times New Roman"/>
              </a:rPr>
              <a:t>Target Separation &amp; HR/RR Extraction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04822"/>
            <a:ext cx="3474720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14173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202020"/>
                </a:solidFill>
                <a:latin typeface="Calibri"/>
              </a:rPr>
              <a:t>Range-angle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810512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Range indicates target distance.
• Angle indicates spatial direction.
• Candidate bins are selected using expected target </a:t>
            </a:r>
            <a:r>
              <a:rPr lang="en-US" sz="1200" b="0" dirty="0">
                <a:solidFill>
                  <a:srgbClr val="202020"/>
                </a:solidFill>
                <a:latin typeface="Calibri"/>
              </a:rPr>
              <a:t>   </a:t>
            </a:r>
            <a:r>
              <a:rPr sz="1200" b="0" dirty="0">
                <a:solidFill>
                  <a:srgbClr val="202020"/>
                </a:solidFill>
                <a:latin typeface="Calibri"/>
              </a:rPr>
              <a:t>locations and separation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1089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MVDR beamforming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49300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MVDR is used as a spatial filter: emphasize the selected direction while minimizing output power and suppressing interference/clutter.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4805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Phase → HR / 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4864608"/>
            <a:ext cx="3657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Heart-rate band: 0.8–3.0 Hz. </a:t>
            </a:r>
            <a:endParaRPr lang="en-US" sz="1200" b="0" dirty="0">
              <a:solidFill>
                <a:srgbClr val="202020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Respiratory band: 0.1–0.6 Hz. </a:t>
            </a:r>
            <a:endParaRPr lang="en-US" sz="1200" b="0" dirty="0">
              <a:solidFill>
                <a:srgbClr val="202020"/>
              </a:solidFill>
              <a:latin typeface="Calibri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rgbClr val="202020"/>
                </a:solidFill>
                <a:latin typeface="Calibri"/>
              </a:rPr>
              <a:t>Frequency × 60 converts Hz to beats/min or breaths/min.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03520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96969"/>
                </a:solidFill>
                <a:latin typeface="Calibri"/>
              </a:rPr>
              <a:t>Goal: assign a spatial region to each mannequin before extracting its individual vital-sign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772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202020"/>
                </a:solidFill>
                <a:latin typeface="Times New Roman"/>
              </a:rPr>
              <a:t>Conclusion</a:t>
            </a:r>
            <a:r>
              <a:rPr lang="en-US" sz="2600" b="1" dirty="0">
                <a:solidFill>
                  <a:srgbClr val="202020"/>
                </a:solidFill>
                <a:latin typeface="Times New Roman"/>
              </a:rPr>
              <a:t> And</a:t>
            </a:r>
            <a:r>
              <a:rPr sz="2600" b="1" dirty="0">
                <a:solidFill>
                  <a:srgbClr val="202020"/>
                </a:solidFill>
                <a:latin typeface="Times New Roman"/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19072"/>
            <a:ext cx="347472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• </a:t>
            </a:r>
            <a:r>
              <a:rPr sz="1200" b="0" dirty="0" err="1">
                <a:solidFill>
                  <a:srgbClr val="202020"/>
                </a:solidFill>
                <a:latin typeface="Calibri"/>
              </a:rPr>
              <a:t>SiViS</a:t>
            </a:r>
            <a:r>
              <a:rPr sz="1200" b="0" dirty="0">
                <a:solidFill>
                  <a:srgbClr val="202020"/>
                </a:solidFill>
                <a:latin typeface="Calibri"/>
              </a:rPr>
              <a:t> provides a controlled multi-patient radar dataset.
• FMCW </a:t>
            </a:r>
            <a:r>
              <a:rPr sz="1200" b="0" dirty="0" err="1">
                <a:solidFill>
                  <a:srgbClr val="202020"/>
                </a:solidFill>
                <a:latin typeface="Calibri"/>
              </a:rPr>
              <a:t>mmWave</a:t>
            </a:r>
            <a:r>
              <a:rPr sz="1200" b="0" dirty="0">
                <a:solidFill>
                  <a:srgbClr val="202020"/>
                </a:solidFill>
                <a:latin typeface="Calibri"/>
              </a:rPr>
              <a:t> supplies spatial/range information and sensitivity to chest motion.
• Target separation is required before individual vital-sign extraction.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Current project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30752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Reproduce the base-paper chain: decoding → range-angle processing → target selection → MVDR → phase-based HR/RR extraction.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9475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Calibri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76672"/>
            <a:ext cx="34747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02020"/>
                </a:solidFill>
                <a:latin typeface="Calibri"/>
              </a:rPr>
              <a:t>Compare ICA, MVDR and MUSIC; test robustness across radar configurations; investigate ML-based tracking; combine simulated and human datasets.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57150"/>
            <a:ext cx="9144000" cy="285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800850"/>
            <a:ext cx="9144000" cy="5715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72275"/>
            <a:ext cx="9144000" cy="28575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3E2B0F-1BE0-BEFD-61CD-D208C8E4A1B6}"/>
              </a:ext>
            </a:extLst>
          </p:cNvPr>
          <p:cNvSpPr txBox="1"/>
          <p:nvPr/>
        </p:nvSpPr>
        <p:spPr>
          <a:xfrm>
            <a:off x="2360595" y="724504"/>
            <a:ext cx="410758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902A3-03EC-E018-169F-15516CCD1D7F}"/>
              </a:ext>
            </a:extLst>
          </p:cNvPr>
          <p:cNvSpPr txBox="1"/>
          <p:nvPr/>
        </p:nvSpPr>
        <p:spPr>
          <a:xfrm>
            <a:off x="731519" y="1750177"/>
            <a:ext cx="7661709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202020"/>
                </a:solidFill>
              </a:rPr>
              <a:t>[1] K. M. Reyes et al., “</a:t>
            </a:r>
            <a:r>
              <a:rPr lang="en-US" sz="1250" dirty="0" err="1">
                <a:solidFill>
                  <a:srgbClr val="202020"/>
                </a:solidFill>
              </a:rPr>
              <a:t>SiViS</a:t>
            </a:r>
            <a:r>
              <a:rPr lang="en-US" sz="1250" dirty="0">
                <a:solidFill>
                  <a:srgbClr val="202020"/>
                </a:solidFill>
              </a:rPr>
              <a:t>: Simulated multi-patient physiological clinical states for advanced vital sign radar monitoring research,” Scientific Data, 2026.
[2] D.-M. Chian et al., “Signal Separation and Tracking Algorithm for Multi-Person Vital Signs by Using Doppler Radar,” IEEE TB-CAS, 2020.
[3] M. Mercuri et al., “Enabling Robust Radar-Based Localization and Vital Signs Monitoring in Multipath Propagation Environments,” IEEE TBME, 2021.
[4] Y. Eder and Y. C. Eldar, “Sparsity-Based Multi-Person Non-Contact Vital Signs Monitoring via FMCW Radar,” IEEE JBHI, 2023.
[5] </a:t>
            </a:r>
            <a:r>
              <a:rPr lang="en-US" sz="1250" dirty="0" err="1">
                <a:solidFill>
                  <a:srgbClr val="202020"/>
                </a:solidFill>
              </a:rPr>
              <a:t>SiViS</a:t>
            </a:r>
            <a:r>
              <a:rPr lang="en-US" sz="1250" dirty="0">
                <a:solidFill>
                  <a:srgbClr val="202020"/>
                </a:solidFill>
              </a:rPr>
              <a:t> dataset, Harvard Dataverse, DOI: 10.7910/DVN/S9SNAK.</a:t>
            </a:r>
          </a:p>
          <a:p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26897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1451</Words>
  <Application>Microsoft Office PowerPoint</Application>
  <PresentationFormat>On-screen Show (4:3)</PresentationFormat>
  <Paragraphs>150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B. Tech. Project Mid-Semester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Tech. Project Mid-Semester Evaluation</dc:title>
  <dc:subject/>
  <dc:creator/>
  <cp:keywords/>
  <dc:description>generated using python-pptx</dc:description>
  <cp:lastModifiedBy>Sidhesh Tavare</cp:lastModifiedBy>
  <cp:revision>10</cp:revision>
  <dcterms:created xsi:type="dcterms:W3CDTF">2013-01-27T09:14:16Z</dcterms:created>
  <dcterms:modified xsi:type="dcterms:W3CDTF">2026-10-06T09:37:31Z</dcterms:modified>
  <cp:category/>
</cp:coreProperties>
</file>