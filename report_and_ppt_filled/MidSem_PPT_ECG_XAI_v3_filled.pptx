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8" r:id="rId2"/>
    <p:sldId id="257" r:id="rId3"/>
    <p:sldId id="263" r:id="rId4"/>
    <p:sldId id="260" r:id="rId5"/>
    <p:sldId id="258" r:id="rId6"/>
    <p:sldId id="259" r:id="rId7"/>
    <p:sldId id="261" r:id="rId8"/>
    <p:sldId id="264" r:id="rId9"/>
    <p:sldId id="265" r:id="rId10"/>
    <p:sldId id="270" r:id="rId11"/>
    <p:sldId id="262" r:id="rId12"/>
    <p:sldId id="271" r:id="rId13"/>
    <p:sldId id="272" r:id="rId14"/>
    <p:sldId id="273" r:id="rId15"/>
    <p:sldId id="274" r:id="rId16"/>
    <p:sldId id="275" r:id="rId17"/>
    <p:sldId id="267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e Jain" userId="976167ac889b25c4" providerId="LiveId" clId="{250E833E-F64D-4ED8-940D-5AB3540D8995}"/>
    <pc:docChg chg="modSld">
      <pc:chgData name="Mannate Jain" userId="976167ac889b25c4" providerId="LiveId" clId="{250E833E-F64D-4ED8-940D-5AB3540D8995}" dt="2026-10-05T15:00:52.989" v="10" actId="20577"/>
      <pc:docMkLst>
        <pc:docMk/>
      </pc:docMkLst>
      <pc:sldChg chg="modSp mod">
        <pc:chgData name="Mannate Jain" userId="976167ac889b25c4" providerId="LiveId" clId="{250E833E-F64D-4ED8-940D-5AB3540D8995}" dt="2026-10-05T15:00:52.989" v="10" actId="20577"/>
        <pc:sldMkLst>
          <pc:docMk/>
          <pc:sldMk cId="1268978073" sldId="269"/>
        </pc:sldMkLst>
        <pc:spChg chg="mod">
          <ac:chgData name="Mannate Jain" userId="976167ac889b25c4" providerId="LiveId" clId="{250E833E-F64D-4ED8-940D-5AB3540D8995}" dt="2026-10-05T15:00:52.989" v="10" actId="20577"/>
          <ac:spMkLst>
            <pc:docMk/>
            <pc:sldMk cId="1268978073" sldId="269"/>
            <ac:spMk id="4" creationId="{353E2B0F-1BE0-BEFD-61CD-D208C8E4A1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C836D-B34C-4DBC-9463-904D094D28A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548-DD1F-4BC3-BDA6-C817C8D3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panel members. </a:t>
            </a:r>
            <a:r>
              <a:rPr dirty="0"/>
              <a:t>We are Bhoomi Singhal (2314168) and Archita Roy (2314165), working under the supervision of Dr. Koushik Guha.</a:t>
            </a:r>
          </a:p>
          <a:p>
            <a:r>
              <a:rPr dirty="0"/>
              <a:t>Our project is "Design of an Energy-Efficient EEG Seizure Detection System using Approximate Computing".</a:t>
            </a:r>
          </a:p>
          <a:p>
            <a:r>
              <a:rPr dirty="0"/>
              <a:t>In one line: we detect epileptic seizures from EEG signals with a machine-learning classifier (SVM), and we plan to build its hardware with APPROXIMATE adders and multipliers so that it consumes much less power - making it suitable for wearable, battery-powered seizure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048"/>
            <a:ext cx="8229600" cy="5486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400" b="0" dirty="0">
                <a:latin typeface="Times New Roman"/>
              </a:rPr>
              <a:t>B. Tech. Project 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5840"/>
            <a:ext cx="8229600" cy="12344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Times New Roman"/>
              </a:rPr>
              <a:t>Explainable Deep Learning Framework for Automated ECG Arrhythmia Detection and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95728"/>
            <a:ext cx="18288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Sidhesh Mahesh Tavare (2314037)</a:t>
            </a:r>
            <a:b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Nikhil Kumar Singh (2314055)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914400"/>
          </a:xfrm>
          <a:prstGeom prst="line">
            <a:avLst/>
          </a:prstGeom>
          <a:ln w="12700">
            <a:solidFill>
              <a:srgbClr val="BFC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66344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Arnab Nandi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NIT Silcha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977639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Electronics and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2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Institute of Technology Silchar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dirty="0">
                <a:solidFill>
                  <a:srgbClr val="1F1F1F"/>
                </a:solidFill>
                <a:latin typeface="Times New Roman"/>
              </a:rPr>
              <a:t>Introduction</a:t>
            </a:r>
            <a:r>
              <a:rPr sz="2600" b="1" dirty="0">
                <a:solidFill>
                  <a:srgbClr val="1F1F1F"/>
                </a:solidFill>
                <a:latin typeface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53872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latin typeface="Calibri"/>
              </a:rPr>
              <a:t>Electrocardiogram (ECG)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3538728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250" dirty="0"/>
              <a:t>Skin electrodes record the heart's electrical activity. Each beat shows a P wave, QRS complex and T wave; arrhythmias alter their morphology (shape) or rhythm (timing).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545491"/>
            <a:ext cx="353872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alibri"/>
              </a:rPr>
              <a:t>Why automate?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8"/>
            <a:ext cx="353872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dirty="0"/>
              <a:t>A 24 h Holter recording at ~70 bpm holds ≈ 100,000 beats. Manual beat-by-beat review is slow and error-prone, so automatic beat classification is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76809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u="sng" dirty="0">
                <a:latin typeface="Calibri"/>
              </a:rPr>
              <a:t>What the framework must deliver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Accurate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per-class F1 on N, S, V,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sample-level heatmap per beat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Robustness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stable under real ECG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840211"/>
            <a:ext cx="754380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dirty="0">
                <a:latin typeface="Calibri"/>
              </a:rPr>
              <a:t>Deep models reach high accuracy but act as black boxes. This project pairs a CNN / CNN-LSTM classifier with Grad-CAM and SHAP, and quantitatively checks whether the explanations point at the clinically relevant waves.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ECG Beats &amp; Arrhythmia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P, QRS and T waves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 = atrial depolarisation; QRS = ventricular depolarisation (normal width &lt; 120 ms); T = ventricular repolarisation. Normal PR interval 120–200 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RR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Time between successive R peaks; heart rate = 60 / RR (s). A premature beat has a short previous RR and a long next RR (compensatory pause).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 – Normal  {N, L, R, e, j}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Normal, bundle-branch-block and escape beats. ≈ 90% of all beats, so the data are heavily imbalanced.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S – Supraventricular  {A, a, J, 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Premature beats from the atria / AV junction. QRS is near-normal, so detection relies on the RR timing and an abnormal or hidden P wave.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V – Ventricular  {V, 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Ectopic focus in the ventricles: wide (≥ 120 ms), bizarre QRS, no preceding P wave, often an opposite-polarity T wave.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 – Fusion  {F}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Normal and ventricular activation meet, giving an intermediate shape. Rarest class (&lt; 1% of beats) and hardest to classify.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Labels are grouped into AAMI EC57 classes [12]; paced / unclassifiable beats (Q) are excluded, as in most MIT-BIH studies.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680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Calibri"/>
              </a:rPr>
              <a:t>37 papers (2020–2026) on deep learning and XAI for ECG arrhythmia classification were reviewed.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Existing direction &amp; reported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Deep learning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CNN 96.8% vs CNN-LSTM 98.5% accuracy in a direct comparison [7]; lightweight CNN-LSTM with SHAP reports 98.24% over 9 rhythm classes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53949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Only 30.3% of 122 studies use an inter-patient split [5]; where both are reported, F1 falls from 95.52% to 83.89% on unseen patients 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Explainability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29000"/>
            <a:ext cx="53949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Grad-CAM / SHAP mostly shown as example plots [2], [3]; &lt; 10% of studies validate maps against P / QRS / T structures [6]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2783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Research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Explanations are rarely quantified: do they fall on the right wave, are they faithful to the model, and do they stay stable when the ECG is noisy?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Our project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Compare CNN vs CNN-LSTM + RR under intra- and inter-patient splits, then score Grad-CAM / SHAP with wave-region, deletion and noise-stability metrics.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680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latin typeface="Calibri"/>
              </a:rPr>
              <a:t>Given a beat x ∈ ℝ²⁵² and its RR features r, learn a classifier f(x, r) → ŷ ∈ {N, S, V, F} together with an attribution map A(x) ∈ ℝ²⁵² that shows how much each sample drove the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Black-box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1F1F1F"/>
                </a:solidFill>
                <a:latin typeface="Calibri"/>
              </a:rPr>
              <a:t>Thousands of learned weights and no stated reason; a clinician cannot verify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48840"/>
            <a:ext cx="73152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N ≈ 90%, S ≈ 2%, F &lt; 1% of beats: high accuracy can hide near-zero S / F recall.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4884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Patient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Beats of one patient look alike; random splits place them in both train and test sets.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73152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58568"/>
            <a:ext cx="152704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Noisy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24328"/>
            <a:ext cx="152704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Muscle (EMG) and motion artefacts overlap the QRS band; most models are tested only on clean ECG.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75438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dirty="0">
                <a:latin typeface="Times New Roman"/>
              </a:rPr>
              <a:t>Core pipeline:  preprocess  →  classify  →  explain  → 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09160"/>
            <a:ext cx="75438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Motivation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Long-term ECG screening needs automatic, beat-level arrhythmia detection.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A heatmap a clinician can check (e.g. "wide QRS → V") builds trust in the prediction.</a:t>
            </a:r>
          </a:p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F1F1F"/>
                </a:solidFill>
                <a:latin typeface="Calibri"/>
              </a:rPr>
              <a:t>• Inter-patient and noise tests show how the model would behave on new, real recordings.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350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Preprocess MIT-BIH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350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Band-pass filter, segment 252-sample beats around R peaks, compute normalised RR features, map labels to AAMI N / S / V / 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880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Baseline &amp; proposed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9424"/>
            <a:ext cx="475488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Train a 1D CNN baseline and a CNN-LSTM + RR model with class-weighted cross-entropy to handle the ≈ 45:1 N:S imbalance.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3668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Fair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Intra-patient (stratified 80/20) and inter-patient DS1 → DS2 splits; confusion matrix, per-class precision, recall, F1, macro-F1.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782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Explain &amp; 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782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Grad-CAM and Gradient SHAP maps; measure importance share on P / QRS / T and faithfulness with a deletion test.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9262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Robustness &amp;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926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Add NSTDB muscle noise at 18 / 6 / 0 dB SNR: F1 vs SNR and heatmap stability; Streamlit demo of prediction + heatmap.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Dataset: MIT-BIH Arrhythmia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MIT-BIH Arrhythmia Database (PhysioNet)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Calibri"/>
              </a:rPr>
              <a:t>Moody &amp; Mark [1] • 48 records × 30 min • 47 subjects • 2 leads • 360 Hz, 11-bit • ≈ 110,000 annotated beats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Lead MLII. Paced records 102, 104, 107, 217 removed → 44 records. Cardiologist beat labels and R-peak positions are used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Two evaluation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Intra-patient: stratified random 80/20 split of beats. Inter-patient [8]: train on DS1 (22 records), test on DS2 (22 other records).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data: MIT-BIH Noise Stress Test Database (NSTDB) [11]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7543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'ma' (muscle artefact) recording is scaled and added to test beats at SNR = 18, 6 and 0 dB, where SNR = 10·log₁₀(P_signal / P_noise).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" y="3703320"/>
          <a:ext cx="749807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DS1 (train)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45,866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944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3,788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51,013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DS2 (test)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49,705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4663440"/>
            <a:ext cx="7498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95959"/>
                </a:solidFill>
                <a:latin typeface="Calibri"/>
              </a:rPr>
              <a:t>AAMI beat counts per split [8]: S and F together are &lt; 3% of beats, so per-class F1 matters more than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02020"/>
                </a:solidFill>
                <a:latin typeface="Times New Roman"/>
              </a:rPr>
              <a:t>Methodology</a:t>
            </a:r>
          </a:p>
          <a:p>
            <a:pPr algn="ctr"/>
            <a:endParaRPr sz="32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Raw ECG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MLII, 360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BP 0.5–40 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Segment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−0.25 / +0.45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prev,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CNN / CNN-LSTM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N, S, V,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Grad-CAM, SHAP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8892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Steps 1–4 turn each record into fixed-length beats plus timing features; steps 5–7 classify each beat and produce a sample-level explanation.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947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3474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4th-order zero-phase Butterworth band-pass, 0.5–40 Hz: removes baseline wander and 60 Hz mains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Window: 90 samples before + 161 after the R peak = 252 samples (0.7 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Per-beat z-score: x′ = (x − μ) / 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Features &amp;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RR_prev, RR_next divided by the record's mean RR (removes patient heart-rate differences)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Class-weighted cross-entropy, w_c = N / (K · n_c)</a:t>
            </a:r>
          </a:p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Adam (lr 10⁻³), batch 128, early stopping on validation macro-F1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Models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Baseline: 1D CNN  (≈ 44 k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9164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Conv1D 32 (k=7) → 64 (k=5) → 128 (k=3)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Each: BatchNorm → ReLU → MaxPool(2): 252 → 31 steps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Global avg. pool → Dense 64 → Softmax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889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Proposed: CNN-LSTM + 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546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The 31 × 128 conv feature sequence feeds an LSTM(64) that models the P → QRS → T order; its last hidden state is concatenated with the 2 RR features before Dense 64 → Softmax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1605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Explainability (Captum)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526280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Grad-CAM [9]: α_k = (1/T) Σ_t ∂y_c / ∂A_k(t),  L = ReLU(Σ_k α_k A_k), upsampled 31 → 252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Gradient SHAP [10]: averages gradient × (x − x′) over random baselines x′; Σ φ_i ≈ f(x) − E[f(x′)]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1208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96969"/>
                </a:solidFill>
                <a:latin typeface="Calibri"/>
              </a:rPr>
              <a:t>Expected: V beats → heatmap on the wide QRS; S beats → more weight on the P wave and RR inputs.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11480" y="1417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Beat x: 252 ×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148840"/>
            <a:ext cx="21945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Conv1D ×3</a:t>
            </a:r>
          </a:p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32 → 64 → 128 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97180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100" b="0">
                <a:solidFill>
                  <a:srgbClr val="202020"/>
                </a:solidFill>
                <a:latin typeface="Calibri"/>
              </a:rPr>
              <a:t>LSTM(64)  (proposed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0332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50" b="0">
                <a:solidFill>
                  <a:srgbClr val="202020"/>
                </a:solidFill>
                <a:latin typeface="Calibri"/>
              </a:rPr>
              <a:t>Concat → Dense 64 → Softmax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434840"/>
            <a:ext cx="2194560" cy="4572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 / S / V / 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37033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0">
                <a:solidFill>
                  <a:srgbClr val="202020"/>
                </a:solidFill>
                <a:latin typeface="Calibri"/>
              </a:rPr>
              <a:t>RR prev, next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2148840"/>
            <a:ext cx="109728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Heatmap</a:t>
            </a:r>
          </a:p>
          <a:p>
            <a:pPr algn="ctr"/>
            <a:r>
              <a:rPr sz="950" b="1">
                <a:solidFill>
                  <a:srgbClr val="C55A11"/>
                </a:solidFill>
                <a:latin typeface="Calibri"/>
              </a:rPr>
              <a:t>A(x) ∈ ℝ²⁵²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" y="1874519"/>
            <a:ext cx="0" cy="274321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08760" y="269748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08760" y="342900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4160520"/>
            <a:ext cx="0" cy="27432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06040" y="3931920"/>
            <a:ext cx="182880" cy="0"/>
          </a:xfrm>
          <a:prstGeom prst="line">
            <a:avLst/>
          </a:prstGeom>
          <a:ln w="1587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06040" y="2423160"/>
            <a:ext cx="182880" cy="0"/>
          </a:xfrm>
          <a:prstGeom prst="line">
            <a:avLst/>
          </a:prstGeom>
          <a:ln w="15875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697480" y="2724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C55A11"/>
                </a:solidFill>
                <a:latin typeface="Calibri"/>
              </a:rPr>
              <a:t>Grad-CAM / SHAP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Evaluation &amp; Explanation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Classification (per class)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Precision = TP / (TP + FP),  Recall = TP / (TP + FN),  F1 = 2PR / (P + R). Macro-F1 = mean F1 over N, S, V, F, so rare classes count equally.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Confusion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4 × 4 table of true vs predicted class. Shows the typical errors: S beats called N (similar shape) and F beats called N or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Region share (are maps clinical?)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R_w = Σ_{t∈w} |A(t)| / Σ_t |A(t)| for w ∈ {P, QRS, T}. Windows relative to R: P [−250, −80] ms, QRS [−50, +50] ms, T [+100, +400] 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Deletion test (are maps faithful?)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Zero the 10% highest-importance samples: Δp = p_c(x) − p_c(x_del). Compare with 10% random samples; a faithful map gives a much larger drop.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Noise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Add NSTDB muscle noise at SNR ∈ {18, 6, 0} dB and plot macro-F1 vs SNR for both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Explanation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ρ = Pearson correlation of A(x_clean) and A(x_noisy); ρ → 1 means the explanation does not change with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All metrics are reported for both the intra-patient and inter-patient (DS1 → DS2) splits.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Work Done Till Mid-Semester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188720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572768"/>
            <a:ext cx="374903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Literature review of 37 papers; research gap identified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Framework, splits (incl. DS1 / DS2) and metrics defined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V1: baseline 1D CNN, class-weighted loss, Grad-CAM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V2: 5 step-by-step experiments + threshold tuning</a:t>
            </a:r>
          </a:p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• Final model: </a:t>
            </a:r>
            <a:r>
              <a:rPr sz="1200" b="1" i="0">
                <a:solidFill>
                  <a:srgbClr val="202020"/>
                </a:solidFill>
                <a:latin typeface="Calibri"/>
              </a:rPr>
              <a:t>98.41% accuracy, 91.10% 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1887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Development dataset [13]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572768"/>
            <a:ext cx="40233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Kaggle version of MIT-BIH, already segmented by the dataset authors: 187-sample beats (1.5 s at 125 Hz), scaled 0–1, five AAMI classes (N, S, V, F, Q).</a:t>
            </a:r>
          </a:p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Used to build and debug the training, evaluation and Grad-CAM pipeline before our own MIT-BIH preprocessing.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" y="3840480"/>
          <a:ext cx="749808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Train file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72,471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2,223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5,788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641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6,431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87,554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02020"/>
                          </a:solidFill>
                          <a:latin typeface="Calibri"/>
                        </a:rPr>
                        <a:t>Test file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18,118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1,448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1,608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  <a:latin typeface="Calibri"/>
                        </a:rPr>
                        <a:t>21,892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" y="4846320"/>
            <a:ext cx="74980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Train file split 80/20 (stratified, seed 42) → 70,043 train / 17,511 validation beats; the test file is used only for final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02020"/>
                </a:solidFill>
                <a:latin typeface="Calibri"/>
              </a:rPr>
              <a:t>Caveat: </a:t>
            </a:r>
            <a:r>
              <a:rPr sz="1200" b="0" i="0">
                <a:solidFill>
                  <a:srgbClr val="202020"/>
                </a:solidFill>
                <a:latin typeface="Calibri"/>
              </a:rPr>
              <a:t>the split is by beat, so the same patients appear in training and test data (intra-patient). These scores are optimistic; DS1 / DS2 comes next.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V1 Result: Baseline 1D 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7498079" cy="2919236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0.559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0.669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0.609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0.871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0.866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0.260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0.864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0.400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0.970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0.732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02020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709160" y="4069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Accuracy 94.41%  |  Macro-F1 76.29%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480560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538 beats predicted F, only 140 truly F (293 were N) → F precision 26%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29% of S beats called N (163 / 556)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Validation accuracy swung 14.5% ↔ 95.1%; early stop at epoch 17 (best: 11)</a:t>
            </a:r>
          </a:p>
          <a:p>
            <a:pPr algn="l"/>
            <a:r>
              <a:rPr sz="1100" b="0" i="0" dirty="0">
                <a:solidFill>
                  <a:srgbClr val="202020"/>
                </a:solidFill>
                <a:latin typeface="Calibri"/>
              </a:rPr>
              <a:t>• Cause: balanced weights make 1 F beat count as 113 N beats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V2: Step-by-Step Improvements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Same data, split and seed as V1. One change added per step; epoch, model and thresholds chosen on validation only.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63040"/>
          <a:ext cx="81381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Change added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Acc.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Macro-F1 %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 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 F1 %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Macro-F1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B0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V1 baseline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94.41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76.29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60.90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40.00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Best epoch by val. macro-F1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96.28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83.96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63.48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68.12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+7.67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LR 5e-4, clipping, BN mom. 0.9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93.58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78.30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49.13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58.49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−5.66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square-root class weights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97.39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87.58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69.84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76.97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+9.28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 light augmentation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97.02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86.20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66.16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76.25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−1.38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02020"/>
                          </a:solidFill>
                          <a:latin typeface="Calibri"/>
                        </a:rPr>
                        <a:t>+ residual CNN [14] (185 k params)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98.29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90.77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81.22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78.53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+4.57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E5 + tuned thresholds (N × 3)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98.41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91.10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82.14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79.23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02020"/>
                          </a:solidFill>
                          <a:latin typeface="Calibri"/>
                        </a:rPr>
                        <a:t>+0.33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40690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helped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3840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E1: picking the epoch on macro-F1, not val. loss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E3: softer weights (F:N 113:1 → 10.6:1) – biggest gain, F precision 44 → 76%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E5: residual network – smoothest training, S F1 66 → 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did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34840"/>
            <a:ext cx="39319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E2 stability settings: −5.66, swings remained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E4 augmentation: −1.38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Threshold tuning: only +0.33, trades S / F recall for precision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Steps are cumulative, so E2 / E4 were kept in the final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Final Model: Residual CNN + Tuned Thresholds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V2_04_confusion_matrix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7498079" cy="2920902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0.992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0.938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0.959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0.991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0.933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0.891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0.911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709160" y="4114800"/>
          <a:ext cx="393192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(%)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 (B0)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27432" marB="27432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94.41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98.41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76.29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91.10</a:t>
                      </a:r>
                    </a:p>
                  </a:txBody>
                  <a:tcPr marL="54864" marR="54864" marT="27432" marB="27432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Precision 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55.86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87.58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Precision 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26.02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82.12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Recall S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66.91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77.34</a:t>
                      </a:r>
                    </a:p>
                  </a:txBody>
                  <a:tcPr marL="54864" marR="54864" marT="27432" marB="27432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02020"/>
                          </a:solidFill>
                          <a:latin typeface="Calibri"/>
                        </a:rPr>
                        <a:t>Recall 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86.42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76.54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594360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Calibri"/>
              </a:rPr>
              <a:t>Largest remaining error: S → N (120 of 556 S beats). S differs from N mainly in timing, which motivates the RR features. F recall fell because V1's high recall came from over-predicting 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Grad-CAM Explanations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02020"/>
                </a:solidFill>
                <a:latin typeface="Calibri"/>
              </a:rPr>
              <a:t>V1 baseline CNN</a:t>
            </a:r>
          </a:p>
        </p:txBody>
      </p:sp>
      <p:pic>
        <p:nvPicPr>
          <p:cNvPr id="16" name="Picture 15" descr="V1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8138160" cy="16549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301752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202020"/>
                </a:solidFill>
                <a:latin typeface="Calibri"/>
              </a:rPr>
              <a:t>Final model (residual CNN)</a:t>
            </a:r>
          </a:p>
        </p:txBody>
      </p:sp>
      <p:pic>
        <p:nvPicPr>
          <p:cNvPr id="18" name="Picture 17" descr="V2_06_gradcam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8138160" cy="16793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12064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Most confident correct test beat per class; red = regions that drove the prediction.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Heat concentrates at the window start and around the second R peak → the model likely uses the timing of the next beat (an implicit RR cue), not only beat shape. Final-model maps are broader.</a:t>
            </a:r>
          </a:p>
          <a:p>
            <a:pPr algn="l"/>
            <a:r>
              <a:rPr sz="1100" b="0" i="0">
                <a:solidFill>
                  <a:srgbClr val="202020"/>
                </a:solidFill>
                <a:latin typeface="Calibri"/>
              </a:rPr>
              <a:t>• Qualitative only so far → next: P / QRS / T region share and deletion test, plus SHAP.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Challenges &amp; Lessons Learned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Class 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709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Balanced weights (F:N 113:1) made the model over-predict F: precision 26%. Square-root weights (10.6:1) fixed most of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325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Unstable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709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Validation accuracy swung 14.5% ↔ 95.1%; early stopping on validation loss stopped too early. Selecting on macro-F1 and a residual CNN helped.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Not every change helps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95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alibri"/>
              </a:rPr>
              <a:t>Stability settings (E2) and augmentation (E4) lowered macro-F1. Steps were cumulative, so the best combination is not yet known.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118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Optimistic setting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95928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202020"/>
                </a:solidFill>
                <a:latin typeface="Calibri"/>
              </a:rPr>
              <a:t>Pre-segmented Kaggle beats, intra-patient split, 5 classes, single seed. Next: raw MIT-BIH, 4 classes, RR features and DS1 / DS2.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Conclusion</a:t>
            </a:r>
            <a:r>
              <a:rPr lang="en-US" sz="2600" b="1" dirty="0">
                <a:solidFill>
                  <a:srgbClr val="202020"/>
                </a:solidFill>
                <a:latin typeface="Times New Roman"/>
              </a:rPr>
              <a:t> And</a:t>
            </a:r>
            <a:r>
              <a:rPr sz="2600" b="1" dirty="0">
                <a:solidFill>
                  <a:srgbClr val="202020"/>
                </a:solidFill>
                <a:latin typeface="Times New Roman"/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7498079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A working pipeline is in place: training, macro-F1-based evaluation and Grad-CAM.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Macro-F1 76.29% → 91.10% (accuracy 94.41% → 98.41%) via epoch selection, softer class weights and a residual CNN.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S → N remains the main error; results are intra-patient, so inter-patient scores will be lower.</a:t>
            </a:r>
          </a:p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Published 98–99% accuracies are mostly intra-patient; our framework adds region, deletion and noise-stability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30752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Raw MIT-BIH preprocessing (4 classes, RR features) → CNN vs CNN-LSTM + RR → DS1 / DS2 evaluation → Grad-CAM / SHAP with region and deletion checks → NSTDB noise tests → Streamlit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9475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76672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External test on INCART, automatic R-peak detection (Pan-Tompkins), MC-dropout uncertainty, full P/QRS/T delineation and clinician review of explanations.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E2B0F-1BE0-BEFD-61CD-D208C8E4A1B6}"/>
              </a:ext>
            </a:extLst>
          </p:cNvPr>
          <p:cNvSpPr txBox="1"/>
          <p:nvPr/>
        </p:nvSpPr>
        <p:spPr>
          <a:xfrm>
            <a:off x="2360595" y="724504"/>
            <a:ext cx="410758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902A3-03EC-E018-169F-15516CCD1D7F}"/>
              </a:ext>
            </a:extLst>
          </p:cNvPr>
          <p:cNvSpPr txBox="1"/>
          <p:nvPr/>
        </p:nvSpPr>
        <p:spPr>
          <a:xfrm>
            <a:off x="731519" y="1280160"/>
            <a:ext cx="766170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[1] G. B. Moody and R. G. Mark, “The impact of the MIT-BIH Arrhythmia Database,” IEEE Eng. Med. Biol. Mag., vol. 20, no. 3, pp. 45–50, 2001.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[2] N. Alamatsaz et al., “A lightweight hybrid CNN-LSTM explainable model for ECG-based arrhythmia detection,” Biomed. Signal Process. Control, vol. 90, 2024.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[3] D. Tenepalli and T. M. Navamani, “Design of an explainable deep learning framework for ECG-based arrhythmia prediction,” IEEE Access, vol. 13,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[4] Q. Xiao et al., “Deep learning-based ECG arrhythmia classification: A systematic review,” Applied Sciences, vol. 13, 4964, 2023.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[5] G. A. L. Silva et al., “A systematic review of ECG arrhythmia classification: Adherence to standards, fair evaluation, and embedded feasibility,” arXiv:2503.07276, 2025.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[6] N. N. Kulkarni et al., “Recent advances in deep learning based arrhythmia classification using ECG and PPG signals: a systematic review,” Discover Computing, vol. 29,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[7] P. Pramkeaw et al., “Deep learning-based ECG arrhythmia detection system: A comparative study of CNN, RNN, and LSTM architectures,” IEEE ICCI, 2026.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[8] P. de Chazal, M. O’Dwyer and R. B. Reilly, “Automatic classification of heartbeats using ECG morphology and heartbeat interval features,” IEEE Trans. Biomed. Eng., vol. 51, no. 7, 2004.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[9] R. R. Selvaraju et al., “Grad-CAM: Visual explanations from deep networks via gradient-based localization,” Proc. IEEE ICCV,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[10] S. M. Lundberg and S.-I. Lee, “A unified approach to interpreting model predictions,” Proc. NeurIPS, 2017.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[11] G. B. Moody, W. Muldrow and R. G. Mark, “A noise stress test for arrhythmia detectors,” Computers in Cardiology, vol. 11, 1984.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[12] ANSI/AAMI EC57, “Testing and reporting performance results of cardiac rhythm and ST segment measurement algorithms,” AAMI, 2012.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[13] M. Kachuee, S. Fazeli and M. Sarrafzadeh, “ECG heartbeat classification: A deep transferable representation,” Proc. IEEE ICHI, pp. 443–444, 2018.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202020"/>
                </a:solidFill>
              </a:rPr>
              <a:t>[14] K. He, X. Zhang, S. Ren and J. Sun, “Deep residual learning for image recognition,” Proc. IEEE CVPR, pp. 770–778, 2016.</a:t>
            </a:r>
          </a:p>
        </p:txBody>
      </p:sp>
    </p:spTree>
    <p:extLst>
      <p:ext uri="{BB962C8B-B14F-4D97-AF65-F5344CB8AC3E}">
        <p14:creationId xmlns:p14="http://schemas.microsoft.com/office/powerpoint/2010/main" val="12689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3524</Words>
  <Application>Microsoft Office PowerPoint</Application>
  <PresentationFormat>On-screen Show (4:3)</PresentationFormat>
  <Paragraphs>408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Office Theme</vt:lpstr>
      <vt:lpstr>B. Tech. Project Mid-Semester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/>
  <cp:keywords/>
  <dc:description>generated using python-pptx</dc:description>
  <cp:lastModifiedBy>Sidhesh Tavare</cp:lastModifiedBy>
  <cp:revision>11</cp:revision>
  <dcterms:created xsi:type="dcterms:W3CDTF">2013-01-27T09:14:16Z</dcterms:created>
  <dcterms:modified xsi:type="dcterms:W3CDTF">2026-10-06T13:04:43Z</dcterms:modified>
  <cp:category/>
</cp:coreProperties>
</file>