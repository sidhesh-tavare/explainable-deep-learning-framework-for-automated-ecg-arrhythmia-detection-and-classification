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nate Jain" userId="976167ac889b25c4" providerId="LiveId" clId="{250E833E-F64D-4ED8-940D-5AB3540D8995}"/>
    <pc:docChg chg="modSld">
      <pc:chgData name="Mannate Jain" userId="976167ac889b25c4" providerId="LiveId" clId="{250E833E-F64D-4ED8-940D-5AB3540D8995}" dt="2026-10-05T15:00:52.989" v="10" actId="20577"/>
      <pc:docMkLst>
        <pc:docMk/>
      </pc:docMkLst>
      <pc:sldChg chg="modSp mod">
        <pc:chgData name="Mannate Jain" userId="976167ac889b25c4" providerId="LiveId" clId="{250E833E-F64D-4ED8-940D-5AB3540D8995}" dt="2026-10-05T15:00:52.989" v="10" actId="20577"/>
        <pc:sldMkLst>
          <pc:docMk/>
          <pc:sldMk cId="1268978073" sldId="269"/>
        </pc:sldMkLst>
        <pc:spChg chg="mod">
          <ac:chgData name="Mannate Jain" userId="976167ac889b25c4" providerId="LiveId" clId="{250E833E-F64D-4ED8-940D-5AB3540D8995}" dt="2026-10-05T15:00:52.989" v="10" actId="20577"/>
          <ac:spMkLst>
            <pc:docMk/>
            <pc:sldMk cId="1268978073" sldId="269"/>
            <ac:spMk id="4" creationId="{353E2B0F-1BE0-BEFD-61CD-D208C8E4A1B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C836D-B34C-4DBC-9463-904D094D28A5}" type="datetimeFigureOut">
              <a:rPr lang="en-US" smtClean="0"/>
              <a:t>10/6/2026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1D548-DD1F-4BC3-BDA6-C817C8D36BB2}" type="slidenum">
              <a:rPr lang="en-US" smtClean="0"/>
              <a:t>‹#›</a:t>
            </a:fld>
            <a:endParaRPr lang="en-US"/>
          </a:p>
        </p:txBody>
      </p:sp>
    </p:spTree>
    <p:extLst>
      <p:ext uri="{BB962C8B-B14F-4D97-AF65-F5344CB8AC3E}">
        <p14:creationId xmlns:p14="http://schemas.microsoft.com/office/powerpoint/2010/main" val="411540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panel members. </a:t>
            </a:r>
            <a:r>
              <a:rPr dirty="0"/>
              <a:t>We are Bhoomi Singhal (2314168) and Archita Roy (2314165), working under the supervision of Dr. Koushik Guha.</a:t>
            </a:r>
          </a:p>
          <a:p>
            <a:r>
              <a:rPr dirty="0"/>
              <a:t>Our project is "Design of an Energy-Efficient EEG Seizure Detection System using Approximate Computing".</a:t>
            </a:r>
          </a:p>
          <a:p>
            <a:r>
              <a:rPr dirty="0"/>
              <a:t>In one line: we detect epileptic seizures from EEG signals with a machine-learning classifier (SVM), and we plan to build its hardware with APPROXIMATE adders and multipliers so that it consumes much less power - making it suitable for wearable, battery-powered seizure monitors.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4048"/>
            <a:ext cx="8229600" cy="548640"/>
          </a:xfrm>
        </p:spPr>
        <p:txBody>
          <a:bodyPr wrap="square" lIns="0" tIns="0" rIns="0" bIns="0" anchor="ctr">
            <a:noAutofit/>
          </a:bodyPr>
          <a:lstStyle/>
          <a:p>
            <a:pPr marL="0" indent="0" algn="ctr">
              <a:buNone/>
            </a:pPr>
            <a:r>
              <a:rPr sz="2400" b="0" dirty="0">
                <a:latin typeface="Times New Roman"/>
              </a:rPr>
              <a:t>B. Tech. Project Mid-Semester Evaluation</a:t>
            </a:r>
          </a:p>
        </p:txBody>
      </p:sp>
      <p:sp>
        <p:nvSpPr>
          <p:cNvPr id="3" name="Subtitle 2"/>
          <p:cNvSpPr>
            <a:spLocks noGrp="1"/>
          </p:cNvSpPr>
          <p:nvPr>
            <p:ph type="subTitle" idx="1"/>
          </p:nvPr>
        </p:nvSpPr>
        <p:spPr>
          <a:xfrm>
            <a:off x="457200" y="1005840"/>
            <a:ext cx="8229600" cy="1234440"/>
          </a:xfrm>
        </p:spPr>
        <p:txBody>
          <a:bodyPr wrap="square" lIns="0" tIns="0" rIns="0" bIns="0" anchor="ctr">
            <a:noAutofit/>
          </a:bodyPr>
          <a:lstStyle/>
          <a:p>
            <a:pPr marL="0" indent="0" algn="ctr">
              <a:lnSpc>
                <a:spcPct val="95000"/>
              </a:lnSpc>
              <a:buNone/>
            </a:pPr>
            <a:r>
              <a:rPr lang="en-US" sz="2600" b="1" dirty="0">
                <a:solidFill>
                  <a:schemeClr val="tx1"/>
                </a:solidFill>
                <a:latin typeface="Times New Roman"/>
              </a:rPr>
              <a:t>Explainable Deep Learning Framework for Automated ECG Arrhythmia Detection and Classification</a:t>
            </a:r>
          </a:p>
        </p:txBody>
      </p:sp>
      <p:sp>
        <p:nvSpPr>
          <p:cNvPr id="4" name="Rectangle 3"/>
          <p:cNvSpPr/>
          <p:nvPr/>
        </p:nvSpPr>
        <p:spPr>
          <a:xfrm>
            <a:off x="0" y="0"/>
            <a:ext cx="9144000" cy="128016"/>
          </a:xfrm>
          <a:prstGeom prst="rect">
            <a:avLst/>
          </a:prstGeom>
          <a:solidFill>
            <a:srgbClr val="002050"/>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Rectangle 4"/>
          <p:cNvSpPr/>
          <p:nvPr/>
        </p:nvSpPr>
        <p:spPr>
          <a:xfrm>
            <a:off x="0" y="128016"/>
            <a:ext cx="9144000" cy="45720"/>
          </a:xfrm>
          <a:prstGeom prst="rect">
            <a:avLst/>
          </a:prstGeom>
          <a:solidFill>
            <a:srgbClr val="C55A11"/>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Rectangle 5"/>
          <p:cNvSpPr/>
          <p:nvPr/>
        </p:nvSpPr>
        <p:spPr>
          <a:xfrm>
            <a:off x="3657600" y="2395728"/>
            <a:ext cx="1828800" cy="45720"/>
          </a:xfrm>
          <a:prstGeom prst="rect">
            <a:avLst/>
          </a:prstGeom>
          <a:solidFill>
            <a:srgbClr val="C55A11"/>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6"/>
          <p:cNvSpPr txBox="1"/>
          <p:nvPr/>
        </p:nvSpPr>
        <p:spPr>
          <a:xfrm>
            <a:off x="822960" y="2606040"/>
            <a:ext cx="3657600" cy="118872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sz="1300" b="0" i="1" u="none" strike="noStrike" kern="1200" cap="none" spc="0" normalizeH="0" baseline="0" noProof="0" dirty="0">
                <a:ln>
                  <a:noFill/>
                </a:ln>
                <a:solidFill>
                  <a:prstClr val="black"/>
                </a:solidFill>
                <a:effectLst/>
                <a:uLnTx/>
                <a:uFillTx/>
                <a:latin typeface="Calibri"/>
                <a:ea typeface="+mn-ea"/>
                <a:cs typeface="+mn-cs"/>
              </a:rPr>
              <a:t>Presented by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700" b="1" i="0" u="none" strike="noStrike" kern="1200" cap="none" spc="0" normalizeH="0" baseline="0" noProof="0" dirty="0">
                <a:ln>
                  <a:noFill/>
                </a:ln>
                <a:solidFill>
                  <a:srgbClr val="1A1A1A"/>
                </a:solidFill>
                <a:effectLst/>
                <a:uLnTx/>
                <a:uFillTx/>
                <a:latin typeface="Calibri"/>
                <a:ea typeface="+mn-ea"/>
                <a:cs typeface="+mn-cs"/>
              </a:rPr>
              <a:t>Sidhesh Mahesh Tavare (2314037)</a:t>
            </a:r>
            <a:br>
              <a:rPr kumimoji="0" lang="en-IN" sz="1700" b="1" i="0" u="none" strike="noStrike" kern="1200" cap="none" spc="0" normalizeH="0" baseline="0" noProof="0" dirty="0">
                <a:ln>
                  <a:noFill/>
                </a:ln>
                <a:solidFill>
                  <a:srgbClr val="1A1A1A"/>
                </a:solidFill>
                <a:effectLst/>
                <a:uLnTx/>
                <a:uFillTx/>
                <a:latin typeface="Calibri"/>
                <a:ea typeface="+mn-ea"/>
                <a:cs typeface="+mn-cs"/>
              </a:rPr>
            </a:br>
            <a:r>
              <a:rPr kumimoji="0" lang="en-IN" sz="1700" b="1" i="0" u="none" strike="noStrike" kern="1200" cap="none" spc="0" normalizeH="0" baseline="0" noProof="0" dirty="0">
                <a:ln>
                  <a:noFill/>
                </a:ln>
                <a:solidFill>
                  <a:srgbClr val="1A1A1A"/>
                </a:solidFill>
                <a:effectLst/>
                <a:uLnTx/>
                <a:uFillTx/>
                <a:latin typeface="Calibri"/>
                <a:ea typeface="+mn-ea"/>
                <a:cs typeface="+mn-cs"/>
              </a:rPr>
              <a:t>Nikhil Kumar Singh (2314055)</a:t>
            </a:r>
            <a:endParaRPr kumimoji="0" sz="1700" b="1" i="0" u="none" strike="noStrike" kern="1200" cap="none" spc="0" normalizeH="0" baseline="0" noProof="0" dirty="0">
              <a:ln>
                <a:noFill/>
              </a:ln>
              <a:solidFill>
                <a:srgbClr val="1A1A1A"/>
              </a:solidFill>
              <a:effectLst/>
              <a:uLnTx/>
              <a:uFillTx/>
              <a:latin typeface="Calibri"/>
              <a:ea typeface="+mn-ea"/>
              <a:cs typeface="+mn-cs"/>
            </a:endParaRPr>
          </a:p>
        </p:txBody>
      </p:sp>
      <p:cxnSp>
        <p:nvCxnSpPr>
          <p:cNvPr id="8" name="Connector 7"/>
          <p:cNvCxnSpPr/>
          <p:nvPr/>
        </p:nvCxnSpPr>
        <p:spPr>
          <a:xfrm>
            <a:off x="4572000" y="2697480"/>
            <a:ext cx="0" cy="914400"/>
          </a:xfrm>
          <a:prstGeom prst="line">
            <a:avLst/>
          </a:prstGeom>
          <a:ln w="12700">
            <a:solidFill>
              <a:srgbClr val="BFC9D9"/>
            </a:solidFill>
          </a:ln>
        </p:spPr>
      </p:cxnSp>
      <p:sp>
        <p:nvSpPr>
          <p:cNvPr id="9" name="TextBox 8"/>
          <p:cNvSpPr txBox="1"/>
          <p:nvPr/>
        </p:nvSpPr>
        <p:spPr>
          <a:xfrm>
            <a:off x="4663440" y="2606040"/>
            <a:ext cx="3657600" cy="118872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sz="1300" b="0" i="1" u="none" strike="noStrike" kern="1200" cap="none" spc="0" normalizeH="0" baseline="0" noProof="0" dirty="0">
                <a:ln>
                  <a:noFill/>
                </a:ln>
                <a:solidFill>
                  <a:srgbClr val="7F7F7F"/>
                </a:solidFill>
                <a:effectLst/>
                <a:uLnTx/>
                <a:uFillTx/>
                <a:latin typeface="Calibri"/>
                <a:ea typeface="+mn-ea"/>
                <a:cs typeface="+mn-cs"/>
              </a:rPr>
              <a:t>Supervisor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1A1A1A"/>
                </a:solidFill>
                <a:effectLst/>
                <a:uLnTx/>
                <a:uFillTx/>
                <a:latin typeface="Calibri"/>
                <a:ea typeface="+mn-ea"/>
                <a:cs typeface="+mn-cs"/>
              </a:rPr>
              <a:t>Dr. </a:t>
            </a:r>
            <a:r>
              <a:rPr kumimoji="0" lang="en-US" sz="1700" b="1" i="0" u="none" strike="noStrike" kern="1200" cap="none" spc="0" normalizeH="0" baseline="0" noProof="0" dirty="0">
                <a:ln>
                  <a:noFill/>
                </a:ln>
                <a:solidFill>
                  <a:srgbClr val="1A1A1A"/>
                </a:solidFill>
                <a:effectLst/>
                <a:uLnTx/>
                <a:uFillTx/>
                <a:latin typeface="Calibri"/>
                <a:ea typeface="+mn-ea"/>
                <a:cs typeface="+mn-cs"/>
              </a:rPr>
              <a:t>Arnab Nandi</a:t>
            </a:r>
            <a:endParaRPr kumimoji="0" sz="1700" b="1" i="0" u="none" strike="noStrike" kern="1200" cap="none" spc="0" normalizeH="0" baseline="0" noProof="0" dirty="0">
              <a:ln>
                <a:noFill/>
              </a:ln>
              <a:solidFill>
                <a:srgbClr val="1A1A1A"/>
              </a:solidFill>
              <a:effectLst/>
              <a:uLnTx/>
              <a:uFillTx/>
              <a:latin typeface="Calibri"/>
              <a:ea typeface="+mn-ea"/>
              <a:cs typeface="+mn-cs"/>
            </a:endParaRPr>
          </a:p>
        </p:txBody>
      </p:sp>
      <p:pic>
        <p:nvPicPr>
          <p:cNvPr id="10" name="Picture 9" descr="NIT Silchar logo"/>
          <p:cNvPicPr>
            <a:picLocks noChangeAspect="1"/>
          </p:cNvPicPr>
          <p:nvPr/>
        </p:nvPicPr>
        <p:blipFill>
          <a:blip r:embed="rId3"/>
          <a:stretch>
            <a:fillRect/>
          </a:stretch>
        </p:blipFill>
        <p:spPr>
          <a:xfrm>
            <a:off x="4000500" y="3977639"/>
            <a:ext cx="1143000" cy="1143000"/>
          </a:xfrm>
          <a:prstGeom prst="rect">
            <a:avLst/>
          </a:prstGeom>
        </p:spPr>
      </p:pic>
      <p:sp>
        <p:nvSpPr>
          <p:cNvPr id="11" name="TextBox 10"/>
          <p:cNvSpPr txBox="1"/>
          <p:nvPr/>
        </p:nvSpPr>
        <p:spPr>
          <a:xfrm>
            <a:off x="457200" y="5303520"/>
            <a:ext cx="8229600" cy="36576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dirty="0">
                <a:ln>
                  <a:noFill/>
                </a:ln>
                <a:solidFill>
                  <a:srgbClr val="1A1A1A"/>
                </a:solidFill>
                <a:effectLst/>
                <a:uLnTx/>
                <a:uFillTx/>
                <a:latin typeface="Calibri"/>
                <a:ea typeface="+mn-ea"/>
                <a:cs typeface="+mn-cs"/>
              </a:rPr>
              <a:t>Department of Electronics and Communication Engineering</a:t>
            </a:r>
          </a:p>
        </p:txBody>
      </p:sp>
      <p:sp>
        <p:nvSpPr>
          <p:cNvPr id="12" name="TextBox 11"/>
          <p:cNvSpPr txBox="1"/>
          <p:nvPr/>
        </p:nvSpPr>
        <p:spPr>
          <a:xfrm>
            <a:off x="457200" y="5669280"/>
            <a:ext cx="8229600" cy="411480"/>
          </a:xfrm>
          <a:prstGeom prst="rect">
            <a:avLst/>
          </a:prstGeom>
          <a:noFill/>
        </p:spPr>
        <p:txBody>
          <a:bodyPr wrap="square" lIns="36576" tIns="18288" rIns="36576" bIns="18288"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a:ln>
                  <a:noFill/>
                </a:ln>
                <a:solidFill>
                  <a:srgbClr val="002050"/>
                </a:solidFill>
                <a:effectLst/>
                <a:uLnTx/>
                <a:uFillTx/>
                <a:latin typeface="Calibri"/>
                <a:ea typeface="+mn-ea"/>
                <a:cs typeface="+mn-cs"/>
              </a:rPr>
              <a:t>National Institute of Technology Silchar</a:t>
            </a:r>
          </a:p>
        </p:txBody>
      </p:sp>
      <p:sp>
        <p:nvSpPr>
          <p:cNvPr id="13" name="Rectangle 12"/>
          <p:cNvSpPr/>
          <p:nvPr/>
        </p:nvSpPr>
        <p:spPr>
          <a:xfrm>
            <a:off x="0" y="6647688"/>
            <a:ext cx="9144000" cy="45720"/>
          </a:xfrm>
          <a:prstGeom prst="rect">
            <a:avLst/>
          </a:prstGeom>
          <a:solidFill>
            <a:srgbClr val="C55A11"/>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Rectangle 13"/>
          <p:cNvSpPr/>
          <p:nvPr/>
        </p:nvSpPr>
        <p:spPr>
          <a:xfrm>
            <a:off x="0" y="6693408"/>
            <a:ext cx="9144000" cy="164592"/>
          </a:xfrm>
          <a:prstGeom prst="rect">
            <a:avLst/>
          </a:prstGeom>
          <a:solidFill>
            <a:srgbClr val="002050"/>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Introduction &amp; Motivation</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97280"/>
            <a:ext cx="8138160" cy="320040"/>
          </a:xfrm>
          <a:prstGeom prst="rect">
            <a:avLst/>
          </a:prstGeom>
          <a:noFill/>
        </p:spPr>
        <p:txBody>
          <a:bodyPr wrap="square" lIns="0" tIns="0" rIns="0" bIns="0">
            <a:spAutoFit/>
          </a:bodyPr>
          <a:lstStyle/>
          <a:p>
            <a:pPr algn="l"/>
            <a:r>
              <a:rPr sz="1500" b="1" i="0">
                <a:solidFill>
                  <a:srgbClr val="202020"/>
                </a:solidFill>
                <a:latin typeface="Calibri"/>
              </a:rPr>
              <a:t>Background</a:t>
            </a:r>
          </a:p>
        </p:txBody>
      </p:sp>
      <p:sp>
        <p:nvSpPr>
          <p:cNvPr id="16" name="TextBox 15"/>
          <p:cNvSpPr txBox="1"/>
          <p:nvPr/>
        </p:nvSpPr>
        <p:spPr>
          <a:xfrm>
            <a:off x="502920" y="1481328"/>
            <a:ext cx="8138160" cy="1463040"/>
          </a:xfrm>
          <a:prstGeom prst="rect">
            <a:avLst/>
          </a:prstGeom>
          <a:noFill/>
        </p:spPr>
        <p:txBody>
          <a:bodyPr wrap="square" lIns="0" tIns="0" rIns="0" bIns="0">
            <a:spAutoFit/>
          </a:bodyPr>
          <a:lstStyle/>
          <a:p>
            <a:pPr algn="l">
              <a:spcAft>
                <a:spcPts val="300"/>
              </a:spcAft>
            </a:pPr>
            <a:r>
              <a:rPr sz="1300" b="0" i="0" dirty="0">
                <a:solidFill>
                  <a:srgbClr val="202020"/>
                </a:solidFill>
                <a:latin typeface="Calibri"/>
              </a:rPr>
              <a:t>• The ECG is a widely used non-invasive tool for detecting cardiac arrhythmias; automating its interpretation is an active research area.</a:t>
            </a:r>
          </a:p>
          <a:p>
            <a:pPr algn="l">
              <a:spcAft>
                <a:spcPts val="300"/>
              </a:spcAft>
            </a:pPr>
            <a:r>
              <a:rPr sz="1300" b="0" i="0" dirty="0">
                <a:solidFill>
                  <a:srgbClr val="202020"/>
                </a:solidFill>
                <a:latin typeface="Calibri"/>
              </a:rPr>
              <a:t>• Deep learning dominates: CNNs are used in 58.7% of 368 studies [1] and 62% of 119 studies [2]; hybrid CNN-recurrent and Transformer models are increasingly common.</a:t>
            </a:r>
          </a:p>
        </p:txBody>
      </p:sp>
      <p:sp>
        <p:nvSpPr>
          <p:cNvPr id="17" name="TextBox 16"/>
          <p:cNvSpPr txBox="1"/>
          <p:nvPr/>
        </p:nvSpPr>
        <p:spPr>
          <a:xfrm>
            <a:off x="502920" y="2971800"/>
            <a:ext cx="8138160" cy="320040"/>
          </a:xfrm>
          <a:prstGeom prst="rect">
            <a:avLst/>
          </a:prstGeom>
          <a:noFill/>
        </p:spPr>
        <p:txBody>
          <a:bodyPr wrap="square" lIns="0" tIns="0" rIns="0" bIns="0">
            <a:spAutoFit/>
          </a:bodyPr>
          <a:lstStyle/>
          <a:p>
            <a:pPr algn="l"/>
            <a:r>
              <a:rPr sz="1500" b="1" i="0">
                <a:solidFill>
                  <a:srgbClr val="202020"/>
                </a:solidFill>
                <a:latin typeface="Calibri"/>
              </a:rPr>
              <a:t>Motivation</a:t>
            </a:r>
          </a:p>
        </p:txBody>
      </p:sp>
      <p:sp>
        <p:nvSpPr>
          <p:cNvPr id="18" name="Rectangle 17"/>
          <p:cNvSpPr/>
          <p:nvPr/>
        </p:nvSpPr>
        <p:spPr>
          <a:xfrm>
            <a:off x="502920" y="3429000"/>
            <a:ext cx="64008" cy="1371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474720"/>
            <a:ext cx="3794759" cy="320040"/>
          </a:xfrm>
          <a:prstGeom prst="rect">
            <a:avLst/>
          </a:prstGeom>
          <a:noFill/>
        </p:spPr>
        <p:txBody>
          <a:bodyPr wrap="square" lIns="0" tIns="0" rIns="0" bIns="0">
            <a:spAutoFit/>
          </a:bodyPr>
          <a:lstStyle/>
          <a:p>
            <a:pPr algn="l"/>
            <a:r>
              <a:rPr sz="1300" b="1" i="0">
                <a:solidFill>
                  <a:srgbClr val="1F3864"/>
                </a:solidFill>
                <a:latin typeface="Calibri"/>
              </a:rPr>
              <a:t>Accuracy that does not transfer</a:t>
            </a:r>
          </a:p>
        </p:txBody>
      </p:sp>
      <p:sp>
        <p:nvSpPr>
          <p:cNvPr id="20" name="TextBox 19"/>
          <p:cNvSpPr txBox="1"/>
          <p:nvPr/>
        </p:nvSpPr>
        <p:spPr>
          <a:xfrm>
            <a:off x="667512" y="3813048"/>
            <a:ext cx="3794759" cy="960120"/>
          </a:xfrm>
          <a:prstGeom prst="rect">
            <a:avLst/>
          </a:prstGeom>
          <a:noFill/>
        </p:spPr>
        <p:txBody>
          <a:bodyPr wrap="square" lIns="0" tIns="0" rIns="0" bIns="0">
            <a:spAutoFit/>
          </a:bodyPr>
          <a:lstStyle/>
          <a:p>
            <a:pPr algn="l">
              <a:spcAft>
                <a:spcPts val="300"/>
              </a:spcAft>
            </a:pPr>
            <a:r>
              <a:rPr sz="1250" b="0" i="0" dirty="0">
                <a:solidFill>
                  <a:srgbClr val="202020"/>
                </a:solidFill>
                <a:latin typeface="Calibri"/>
              </a:rPr>
              <a:t>Reported accuracies above 98% fall considerably on unseen patients, external databases or noisy signals [1], [2].</a:t>
            </a:r>
          </a:p>
        </p:txBody>
      </p:sp>
      <p:sp>
        <p:nvSpPr>
          <p:cNvPr id="21" name="Rectangle 20"/>
          <p:cNvSpPr/>
          <p:nvPr/>
        </p:nvSpPr>
        <p:spPr>
          <a:xfrm>
            <a:off x="4663440" y="3429000"/>
            <a:ext cx="64008" cy="13716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28031" y="3474720"/>
            <a:ext cx="3794759" cy="320040"/>
          </a:xfrm>
          <a:prstGeom prst="rect">
            <a:avLst/>
          </a:prstGeom>
          <a:noFill/>
        </p:spPr>
        <p:txBody>
          <a:bodyPr wrap="square" lIns="0" tIns="0" rIns="0" bIns="0">
            <a:spAutoFit/>
          </a:bodyPr>
          <a:lstStyle/>
          <a:p>
            <a:pPr algn="l"/>
            <a:r>
              <a:rPr sz="1300" b="1" i="0">
                <a:solidFill>
                  <a:srgbClr val="ED7D31"/>
                </a:solidFill>
                <a:latin typeface="Calibri"/>
              </a:rPr>
              <a:t>Explanations that are not checked</a:t>
            </a:r>
          </a:p>
        </p:txBody>
      </p:sp>
      <p:sp>
        <p:nvSpPr>
          <p:cNvPr id="23" name="TextBox 22"/>
          <p:cNvSpPr txBox="1"/>
          <p:nvPr/>
        </p:nvSpPr>
        <p:spPr>
          <a:xfrm>
            <a:off x="4828031" y="3813048"/>
            <a:ext cx="3794759" cy="96012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Explanations attached to such models are rarely validated against clinical ECG knowledge [3].</a:t>
            </a:r>
          </a:p>
        </p:txBody>
      </p:sp>
      <p:sp>
        <p:nvSpPr>
          <p:cNvPr id="24" name="TextBox 23"/>
          <p:cNvSpPr txBox="1"/>
          <p:nvPr/>
        </p:nvSpPr>
        <p:spPr>
          <a:xfrm>
            <a:off x="502920" y="5120640"/>
            <a:ext cx="8138160" cy="274320"/>
          </a:xfrm>
          <a:prstGeom prst="rect">
            <a:avLst/>
          </a:prstGeom>
          <a:noFill/>
        </p:spPr>
        <p:txBody>
          <a:bodyPr wrap="square" lIns="0" tIns="0" rIns="0" bIns="0">
            <a:spAutoFit/>
          </a:bodyPr>
          <a:lstStyle/>
          <a:p>
            <a:pPr algn="l"/>
            <a:r>
              <a:rPr sz="1200" b="0" i="1">
                <a:solidFill>
                  <a:srgbClr val="595959"/>
                </a:solidFill>
                <a:latin typeface="Calibri"/>
              </a:rPr>
              <a:t>Clinical use needs a classifier that works on new patients, explains its decisions, and stays reliable on real, noisy recordings.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Problem Statement</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1097280"/>
            <a:ext cx="64008" cy="9601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1143000"/>
            <a:ext cx="7955279" cy="914400"/>
          </a:xfrm>
          <a:prstGeom prst="rect">
            <a:avLst/>
          </a:prstGeom>
          <a:noFill/>
        </p:spPr>
        <p:txBody>
          <a:bodyPr wrap="square" lIns="0" tIns="0" rIns="0" bIns="0">
            <a:spAutoFit/>
          </a:bodyPr>
          <a:lstStyle/>
          <a:p>
            <a:pPr algn="l">
              <a:spcAft>
                <a:spcPts val="300"/>
              </a:spcAft>
            </a:pPr>
            <a:r>
              <a:rPr sz="1400" b="0" i="0">
                <a:solidFill>
                  <a:srgbClr val="202020"/>
                </a:solidFill>
                <a:latin typeface="Calibri"/>
              </a:rPr>
              <a:t>There is a need for an ECG arrhythmia classification framework whose performance is measured on unseen patients, whose explanations are checked for consistency and clinical plausibility, and whose predictions and explanations are evaluated for robustness under realistic noise.</a:t>
            </a:r>
          </a:p>
        </p:txBody>
      </p:sp>
      <p:sp>
        <p:nvSpPr>
          <p:cNvPr id="17" name="TextBox 16"/>
          <p:cNvSpPr txBox="1"/>
          <p:nvPr/>
        </p:nvSpPr>
        <p:spPr>
          <a:xfrm>
            <a:off x="502920" y="2377440"/>
            <a:ext cx="8138160" cy="320040"/>
          </a:xfrm>
          <a:prstGeom prst="rect">
            <a:avLst/>
          </a:prstGeom>
          <a:noFill/>
        </p:spPr>
        <p:txBody>
          <a:bodyPr wrap="square" lIns="0" tIns="0" rIns="0" bIns="0">
            <a:spAutoFit/>
          </a:bodyPr>
          <a:lstStyle/>
          <a:p>
            <a:pPr algn="l"/>
            <a:r>
              <a:rPr sz="1500" b="1" i="0">
                <a:solidFill>
                  <a:srgbClr val="202020"/>
                </a:solidFill>
                <a:latin typeface="Calibri"/>
              </a:rPr>
              <a:t>Existing limitations</a:t>
            </a:r>
          </a:p>
        </p:txBody>
      </p:sp>
      <p:sp>
        <p:nvSpPr>
          <p:cNvPr id="18" name="Rectangle 17"/>
          <p:cNvSpPr/>
          <p:nvPr/>
        </p:nvSpPr>
        <p:spPr>
          <a:xfrm>
            <a:off x="502920" y="2834640"/>
            <a:ext cx="64008" cy="1508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2880360"/>
            <a:ext cx="2423160" cy="320040"/>
          </a:xfrm>
          <a:prstGeom prst="rect">
            <a:avLst/>
          </a:prstGeom>
          <a:noFill/>
        </p:spPr>
        <p:txBody>
          <a:bodyPr wrap="square" lIns="0" tIns="0" rIns="0" bIns="0">
            <a:spAutoFit/>
          </a:bodyPr>
          <a:lstStyle/>
          <a:p>
            <a:pPr algn="l"/>
            <a:r>
              <a:rPr sz="1300" b="1" i="0">
                <a:solidFill>
                  <a:srgbClr val="1F3864"/>
                </a:solidFill>
                <a:latin typeface="Calibri"/>
              </a:rPr>
              <a:t>Evaluation protocol</a:t>
            </a:r>
          </a:p>
        </p:txBody>
      </p:sp>
      <p:sp>
        <p:nvSpPr>
          <p:cNvPr id="20" name="TextBox 19"/>
          <p:cNvSpPr txBox="1"/>
          <p:nvPr/>
        </p:nvSpPr>
        <p:spPr>
          <a:xfrm>
            <a:off x="667512" y="3218688"/>
            <a:ext cx="2423160" cy="1097280"/>
          </a:xfrm>
          <a:prstGeom prst="rect">
            <a:avLst/>
          </a:prstGeom>
          <a:noFill/>
        </p:spPr>
        <p:txBody>
          <a:bodyPr wrap="square" lIns="0" tIns="0" rIns="0" bIns="0">
            <a:spAutoFit/>
          </a:bodyPr>
          <a:lstStyle/>
          <a:p>
            <a:pPr algn="l">
              <a:spcAft>
                <a:spcPts val="300"/>
              </a:spcAft>
            </a:pPr>
            <a:r>
              <a:rPr sz="1200" b="0" i="0" dirty="0">
                <a:solidFill>
                  <a:srgbClr val="202020"/>
                </a:solidFill>
                <a:latin typeface="Calibri"/>
              </a:rPr>
              <a:t>F1 fell from 95.52% (intra-patient) to 83.89% (inter-patient) in studies reporting both [1].</a:t>
            </a:r>
          </a:p>
        </p:txBody>
      </p:sp>
      <p:sp>
        <p:nvSpPr>
          <p:cNvPr id="21" name="Rectangle 20"/>
          <p:cNvSpPr/>
          <p:nvPr/>
        </p:nvSpPr>
        <p:spPr>
          <a:xfrm>
            <a:off x="3291840" y="2834640"/>
            <a:ext cx="64008" cy="15087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56432" y="2880360"/>
            <a:ext cx="2423160" cy="320040"/>
          </a:xfrm>
          <a:prstGeom prst="rect">
            <a:avLst/>
          </a:prstGeom>
          <a:noFill/>
        </p:spPr>
        <p:txBody>
          <a:bodyPr wrap="square" lIns="0" tIns="0" rIns="0" bIns="0">
            <a:spAutoFit/>
          </a:bodyPr>
          <a:lstStyle/>
          <a:p>
            <a:pPr algn="l"/>
            <a:r>
              <a:rPr sz="1300" b="1" i="0">
                <a:solidFill>
                  <a:srgbClr val="ED7D31"/>
                </a:solidFill>
                <a:latin typeface="Calibri"/>
              </a:rPr>
              <a:t>Black-box models</a:t>
            </a:r>
          </a:p>
        </p:txBody>
      </p:sp>
      <p:sp>
        <p:nvSpPr>
          <p:cNvPr id="23" name="TextBox 22"/>
          <p:cNvSpPr txBox="1"/>
          <p:nvPr/>
        </p:nvSpPr>
        <p:spPr>
          <a:xfrm>
            <a:off x="3456432" y="3218688"/>
            <a:ext cx="2423160" cy="1097280"/>
          </a:xfrm>
          <a:prstGeom prst="rect">
            <a:avLst/>
          </a:prstGeom>
          <a:noFill/>
        </p:spPr>
        <p:txBody>
          <a:bodyPr wrap="square" lIns="0" tIns="0" rIns="0" bIns="0">
            <a:spAutoFit/>
          </a:bodyPr>
          <a:lstStyle/>
          <a:p>
            <a:pPr algn="l">
              <a:spcAft>
                <a:spcPts val="300"/>
              </a:spcAft>
            </a:pPr>
            <a:r>
              <a:rPr sz="1200" b="0" i="0" dirty="0">
                <a:solidFill>
                  <a:srgbClr val="202020"/>
                </a:solidFill>
                <a:latin typeface="Calibri"/>
              </a:rPr>
              <a:t>Fewer than 10% of studies validated explanation maps against clinically meaningful ECG structures [2].</a:t>
            </a:r>
          </a:p>
        </p:txBody>
      </p:sp>
      <p:sp>
        <p:nvSpPr>
          <p:cNvPr id="24" name="Rectangle 23"/>
          <p:cNvSpPr/>
          <p:nvPr/>
        </p:nvSpPr>
        <p:spPr>
          <a:xfrm>
            <a:off x="6080760" y="2834640"/>
            <a:ext cx="64008" cy="150876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2880360"/>
            <a:ext cx="2423160" cy="320040"/>
          </a:xfrm>
          <a:prstGeom prst="rect">
            <a:avLst/>
          </a:prstGeom>
          <a:noFill/>
        </p:spPr>
        <p:txBody>
          <a:bodyPr wrap="square" lIns="0" tIns="0" rIns="0" bIns="0">
            <a:spAutoFit/>
          </a:bodyPr>
          <a:lstStyle/>
          <a:p>
            <a:pPr algn="l"/>
            <a:r>
              <a:rPr sz="1300" b="1" i="0">
                <a:solidFill>
                  <a:srgbClr val="548235"/>
                </a:solidFill>
                <a:latin typeface="Calibri"/>
              </a:rPr>
              <a:t>Narrow robustness tests</a:t>
            </a:r>
          </a:p>
        </p:txBody>
      </p:sp>
      <p:sp>
        <p:nvSpPr>
          <p:cNvPr id="26" name="TextBox 25"/>
          <p:cNvSpPr txBox="1"/>
          <p:nvPr/>
        </p:nvSpPr>
        <p:spPr>
          <a:xfrm>
            <a:off x="6245352" y="3218688"/>
            <a:ext cx="2423160" cy="1097280"/>
          </a:xfrm>
          <a:prstGeom prst="rect">
            <a:avLst/>
          </a:prstGeom>
          <a:noFill/>
        </p:spPr>
        <p:txBody>
          <a:bodyPr wrap="square" lIns="0" tIns="0" rIns="0" bIns="0">
            <a:spAutoFit/>
          </a:bodyPr>
          <a:lstStyle/>
          <a:p>
            <a:pPr algn="l">
              <a:spcAft>
                <a:spcPts val="300"/>
              </a:spcAft>
            </a:pPr>
            <a:r>
              <a:rPr sz="1200" b="0" i="0" dirty="0">
                <a:solidFill>
                  <a:srgbClr val="202020"/>
                </a:solidFill>
                <a:latin typeface="Calibri"/>
              </a:rPr>
              <a:t>Noise robustness is often tested with additive white Gaussian noise only [4].</a:t>
            </a:r>
          </a:p>
        </p:txBody>
      </p:sp>
      <p:sp>
        <p:nvSpPr>
          <p:cNvPr id="27" name="TextBox 26"/>
          <p:cNvSpPr txBox="1"/>
          <p:nvPr/>
        </p:nvSpPr>
        <p:spPr>
          <a:xfrm>
            <a:off x="502920" y="4663440"/>
            <a:ext cx="8138160" cy="914400"/>
          </a:xfrm>
          <a:prstGeom prst="rect">
            <a:avLst/>
          </a:prstGeom>
          <a:noFill/>
        </p:spPr>
        <p:txBody>
          <a:bodyPr wrap="square" lIns="0" tIns="0" rIns="0" bIns="0">
            <a:spAutoFit/>
          </a:bodyPr>
          <a:lstStyle/>
          <a:p>
            <a:pPr algn="l">
              <a:spcAft>
                <a:spcPts val="300"/>
              </a:spcAft>
            </a:pPr>
            <a:r>
              <a:rPr sz="1250" b="1" i="0" dirty="0">
                <a:solidFill>
                  <a:srgbClr val="202020"/>
                </a:solidFill>
                <a:latin typeface="Calibri"/>
              </a:rPr>
              <a:t>Why it matters: </a:t>
            </a:r>
            <a:r>
              <a:rPr sz="1250" b="0" i="0" dirty="0">
                <a:solidFill>
                  <a:srgbClr val="202020"/>
                </a:solidFill>
                <a:latin typeface="Calibri"/>
              </a:rPr>
              <a:t>a model that is only tested on familiar patients and clean signals, with unchecked explanations, cannot be trusted on new, real recordings.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Objectives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188720"/>
            <a:ext cx="640080" cy="457200"/>
          </a:xfrm>
          <a:prstGeom prst="rect">
            <a:avLst/>
          </a:prstGeom>
          <a:noFill/>
        </p:spPr>
        <p:txBody>
          <a:bodyPr wrap="square" lIns="0" tIns="0" rIns="0" bIns="0">
            <a:spAutoFit/>
          </a:bodyPr>
          <a:lstStyle/>
          <a:p>
            <a:pPr algn="l"/>
            <a:r>
              <a:rPr sz="2600" b="1" i="0">
                <a:solidFill>
                  <a:srgbClr val="ED7D31"/>
                </a:solidFill>
                <a:latin typeface="Calibri"/>
              </a:rPr>
              <a:t>01</a:t>
            </a:r>
          </a:p>
        </p:txBody>
      </p:sp>
      <p:sp>
        <p:nvSpPr>
          <p:cNvPr id="16" name="TextBox 15"/>
          <p:cNvSpPr txBox="1"/>
          <p:nvPr/>
        </p:nvSpPr>
        <p:spPr>
          <a:xfrm>
            <a:off x="1234440" y="1188720"/>
            <a:ext cx="7406640" cy="320040"/>
          </a:xfrm>
          <a:prstGeom prst="rect">
            <a:avLst/>
          </a:prstGeom>
          <a:noFill/>
        </p:spPr>
        <p:txBody>
          <a:bodyPr wrap="square" lIns="0" tIns="0" rIns="0" bIns="0">
            <a:spAutoFit/>
          </a:bodyPr>
          <a:lstStyle/>
          <a:p>
            <a:pPr algn="l"/>
            <a:r>
              <a:rPr sz="1500" b="1" i="0">
                <a:solidFill>
                  <a:srgbClr val="1F3864"/>
                </a:solidFill>
                <a:latin typeface="Calibri"/>
              </a:rPr>
              <a:t>Objective 1: Patient-independent baseline</a:t>
            </a:r>
          </a:p>
        </p:txBody>
      </p:sp>
      <p:sp>
        <p:nvSpPr>
          <p:cNvPr id="17" name="TextBox 16"/>
          <p:cNvSpPr txBox="1"/>
          <p:nvPr/>
        </p:nvSpPr>
        <p:spPr>
          <a:xfrm>
            <a:off x="1234440" y="1600200"/>
            <a:ext cx="7406640" cy="1005840"/>
          </a:xfrm>
          <a:prstGeom prst="rect">
            <a:avLst/>
          </a:prstGeom>
          <a:noFill/>
        </p:spPr>
        <p:txBody>
          <a:bodyPr wrap="square" lIns="0" tIns="0" rIns="0" bIns="0">
            <a:spAutoFit/>
          </a:bodyPr>
          <a:lstStyle/>
          <a:p>
            <a:pPr algn="l">
              <a:spcAft>
                <a:spcPts val="300"/>
              </a:spcAft>
            </a:pPr>
            <a:r>
              <a:rPr sz="1300" b="0" i="0">
                <a:solidFill>
                  <a:srgbClr val="202020"/>
                </a:solidFill>
                <a:latin typeface="Calibri"/>
              </a:rPr>
              <a:t>Develop a hybrid deep learning arrhythmia classifier evaluated under a strict inter-patient protocol (MIT-BIH DS1/DS2) with external testing on a second database; report per-class and macro F1 alongside accuracy.</a:t>
            </a:r>
          </a:p>
        </p:txBody>
      </p:sp>
      <p:sp>
        <p:nvSpPr>
          <p:cNvPr id="18" name="TextBox 17"/>
          <p:cNvSpPr txBox="1"/>
          <p:nvPr/>
        </p:nvSpPr>
        <p:spPr>
          <a:xfrm>
            <a:off x="502920" y="2834640"/>
            <a:ext cx="640080" cy="457200"/>
          </a:xfrm>
          <a:prstGeom prst="rect">
            <a:avLst/>
          </a:prstGeom>
          <a:noFill/>
        </p:spPr>
        <p:txBody>
          <a:bodyPr wrap="square" lIns="0" tIns="0" rIns="0" bIns="0">
            <a:spAutoFit/>
          </a:bodyPr>
          <a:lstStyle/>
          <a:p>
            <a:pPr algn="l"/>
            <a:r>
              <a:rPr sz="2600" b="1" i="0">
                <a:solidFill>
                  <a:srgbClr val="ED7D31"/>
                </a:solidFill>
                <a:latin typeface="Calibri"/>
              </a:rPr>
              <a:t>02</a:t>
            </a:r>
          </a:p>
        </p:txBody>
      </p:sp>
      <p:sp>
        <p:nvSpPr>
          <p:cNvPr id="19" name="TextBox 18"/>
          <p:cNvSpPr txBox="1"/>
          <p:nvPr/>
        </p:nvSpPr>
        <p:spPr>
          <a:xfrm>
            <a:off x="1234440" y="2834640"/>
            <a:ext cx="7406640" cy="320040"/>
          </a:xfrm>
          <a:prstGeom prst="rect">
            <a:avLst/>
          </a:prstGeom>
          <a:noFill/>
        </p:spPr>
        <p:txBody>
          <a:bodyPr wrap="square" lIns="0" tIns="0" rIns="0" bIns="0">
            <a:spAutoFit/>
          </a:bodyPr>
          <a:lstStyle/>
          <a:p>
            <a:pPr algn="l"/>
            <a:r>
              <a:rPr sz="1500" b="1" i="0">
                <a:solidFill>
                  <a:srgbClr val="1F3864"/>
                </a:solidFill>
                <a:latin typeface="Calibri"/>
              </a:rPr>
              <a:t>Objective 2: Validated explanations</a:t>
            </a:r>
          </a:p>
        </p:txBody>
      </p:sp>
      <p:sp>
        <p:nvSpPr>
          <p:cNvPr id="20" name="TextBox 19"/>
          <p:cNvSpPr txBox="1"/>
          <p:nvPr/>
        </p:nvSpPr>
        <p:spPr>
          <a:xfrm>
            <a:off x="1234440" y="3246120"/>
            <a:ext cx="7406640" cy="1005840"/>
          </a:xfrm>
          <a:prstGeom prst="rect">
            <a:avLst/>
          </a:prstGeom>
          <a:noFill/>
        </p:spPr>
        <p:txBody>
          <a:bodyPr wrap="square" lIns="0" tIns="0" rIns="0" bIns="0">
            <a:spAutoFit/>
          </a:bodyPr>
          <a:lstStyle/>
          <a:p>
            <a:pPr algn="l">
              <a:spcAft>
                <a:spcPts val="300"/>
              </a:spcAft>
            </a:pPr>
            <a:r>
              <a:rPr sz="1300" b="0" i="0">
                <a:solidFill>
                  <a:srgbClr val="202020"/>
                </a:solidFill>
                <a:latin typeface="Calibri"/>
              </a:rPr>
              <a:t>Apply post-hoc XAI methods (SHAP and Grad-CAM) and measure the within-class consistency of explanations and their agreement with ECG features (P wave, QRS complex, RR interval).</a:t>
            </a:r>
          </a:p>
        </p:txBody>
      </p:sp>
      <p:sp>
        <p:nvSpPr>
          <p:cNvPr id="21" name="TextBox 20"/>
          <p:cNvSpPr txBox="1"/>
          <p:nvPr/>
        </p:nvSpPr>
        <p:spPr>
          <a:xfrm>
            <a:off x="502920" y="4480560"/>
            <a:ext cx="640080" cy="457200"/>
          </a:xfrm>
          <a:prstGeom prst="rect">
            <a:avLst/>
          </a:prstGeom>
          <a:noFill/>
        </p:spPr>
        <p:txBody>
          <a:bodyPr wrap="square" lIns="0" tIns="0" rIns="0" bIns="0">
            <a:spAutoFit/>
          </a:bodyPr>
          <a:lstStyle/>
          <a:p>
            <a:pPr algn="l"/>
            <a:r>
              <a:rPr sz="2600" b="1" i="0">
                <a:solidFill>
                  <a:srgbClr val="ED7D31"/>
                </a:solidFill>
                <a:latin typeface="Calibri"/>
              </a:rPr>
              <a:t>03</a:t>
            </a:r>
          </a:p>
        </p:txBody>
      </p:sp>
      <p:sp>
        <p:nvSpPr>
          <p:cNvPr id="22" name="TextBox 21"/>
          <p:cNvSpPr txBox="1"/>
          <p:nvPr/>
        </p:nvSpPr>
        <p:spPr>
          <a:xfrm>
            <a:off x="1234440" y="4480560"/>
            <a:ext cx="7406640" cy="320040"/>
          </a:xfrm>
          <a:prstGeom prst="rect">
            <a:avLst/>
          </a:prstGeom>
          <a:noFill/>
        </p:spPr>
        <p:txBody>
          <a:bodyPr wrap="square" lIns="0" tIns="0" rIns="0" bIns="0">
            <a:spAutoFit/>
          </a:bodyPr>
          <a:lstStyle/>
          <a:p>
            <a:pPr algn="l"/>
            <a:r>
              <a:rPr sz="1500" b="1" i="0">
                <a:solidFill>
                  <a:srgbClr val="1F3864"/>
                </a:solidFill>
                <a:latin typeface="Calibri"/>
              </a:rPr>
              <a:t>Objective 3: Robustness of predictions and explanations</a:t>
            </a:r>
          </a:p>
        </p:txBody>
      </p:sp>
      <p:sp>
        <p:nvSpPr>
          <p:cNvPr id="23" name="TextBox 22"/>
          <p:cNvSpPr txBox="1"/>
          <p:nvPr/>
        </p:nvSpPr>
        <p:spPr>
          <a:xfrm>
            <a:off x="1234440" y="4892040"/>
            <a:ext cx="7406640" cy="1005840"/>
          </a:xfrm>
          <a:prstGeom prst="rect">
            <a:avLst/>
          </a:prstGeom>
          <a:noFill/>
        </p:spPr>
        <p:txBody>
          <a:bodyPr wrap="square" lIns="0" tIns="0" rIns="0" bIns="0">
            <a:spAutoFit/>
          </a:bodyPr>
          <a:lstStyle/>
          <a:p>
            <a:pPr algn="l">
              <a:spcAft>
                <a:spcPts val="300"/>
              </a:spcAft>
            </a:pPr>
            <a:r>
              <a:rPr sz="1300" b="0" i="0">
                <a:solidFill>
                  <a:srgbClr val="202020"/>
                </a:solidFill>
                <a:latin typeface="Calibri"/>
              </a:rPr>
              <a:t>Assess how classification performance and explanation stability degrade under realistic NSTDB noise at graded SNRs, using uncertainty estimates to flag unreliable predictions.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Literature Review</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24128"/>
            <a:ext cx="8138160" cy="274320"/>
          </a:xfrm>
          <a:prstGeom prst="rect">
            <a:avLst/>
          </a:prstGeom>
          <a:noFill/>
        </p:spPr>
        <p:txBody>
          <a:bodyPr wrap="square" lIns="0" tIns="0" rIns="0" bIns="0">
            <a:spAutoFit/>
          </a:bodyPr>
          <a:lstStyle/>
          <a:p>
            <a:pPr algn="l"/>
            <a:r>
              <a:rPr sz="1200" b="0" i="1">
                <a:solidFill>
                  <a:srgbClr val="595959"/>
                </a:solidFill>
                <a:latin typeface="Calibri"/>
              </a:rPr>
              <a:t>36 papers surveyed (5 reviews, 31 original studies). Most relevant studies:</a:t>
            </a:r>
          </a:p>
        </p:txBody>
      </p:sp>
      <p:graphicFrame>
        <p:nvGraphicFramePr>
          <p:cNvPr id="16" name="Table 15"/>
          <p:cNvGraphicFramePr>
            <a:graphicFrameLocks noGrp="1"/>
          </p:cNvGraphicFramePr>
          <p:nvPr/>
        </p:nvGraphicFramePr>
        <p:xfrm>
          <a:off x="502920" y="1417320"/>
          <a:ext cx="8138160" cy="228600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tblGrid>
              <a:tr h="457200">
                <a:tc>
                  <a:txBody>
                    <a:bodyPr/>
                    <a:lstStyle/>
                    <a:p>
                      <a:pPr algn="l"/>
                      <a:r>
                        <a:rPr sz="1100" b="1">
                          <a:solidFill>
                            <a:srgbClr val="FFFFFF"/>
                          </a:solidFill>
                          <a:latin typeface="Calibri"/>
                        </a:rPr>
                        <a:t>Ref.</a:t>
                      </a:r>
                    </a:p>
                  </a:txBody>
                  <a:tcPr marL="54864" marR="54864" marT="27432" marB="27432">
                    <a:solidFill>
                      <a:srgbClr val="1F3864"/>
                    </a:solidFill>
                  </a:tcPr>
                </a:tc>
                <a:tc>
                  <a:txBody>
                    <a:bodyPr/>
                    <a:lstStyle/>
                    <a:p>
                      <a:pPr algn="l"/>
                      <a:r>
                        <a:rPr sz="1100" b="1">
                          <a:solidFill>
                            <a:srgbClr val="FFFFFF"/>
                          </a:solidFill>
                          <a:latin typeface="Calibri"/>
                        </a:rPr>
                        <a:t>Dataset(s)</a:t>
                      </a:r>
                    </a:p>
                  </a:txBody>
                  <a:tcPr marL="54864" marR="54864" marT="27432" marB="27432">
                    <a:solidFill>
                      <a:srgbClr val="1F3864"/>
                    </a:solidFill>
                  </a:tcPr>
                </a:tc>
                <a:tc>
                  <a:txBody>
                    <a:bodyPr/>
                    <a:lstStyle/>
                    <a:p>
                      <a:pPr algn="l"/>
                      <a:r>
                        <a:rPr sz="1100" b="1">
                          <a:solidFill>
                            <a:srgbClr val="FFFFFF"/>
                          </a:solidFill>
                          <a:latin typeface="Calibri"/>
                        </a:rPr>
                        <a:t>Model</a:t>
                      </a:r>
                    </a:p>
                  </a:txBody>
                  <a:tcPr marL="54864" marR="54864" marT="27432" marB="27432">
                    <a:solidFill>
                      <a:srgbClr val="1F3864"/>
                    </a:solidFill>
                  </a:tcPr>
                </a:tc>
                <a:tc>
                  <a:txBody>
                    <a:bodyPr/>
                    <a:lstStyle/>
                    <a:p>
                      <a:pPr algn="ctr"/>
                      <a:r>
                        <a:rPr sz="1100" b="1">
                          <a:solidFill>
                            <a:srgbClr val="FFFFFF"/>
                          </a:solidFill>
                          <a:latin typeface="Calibri"/>
                        </a:rPr>
                        <a:t>XAI</a:t>
                      </a:r>
                    </a:p>
                  </a:txBody>
                  <a:tcPr marL="54864" marR="54864" marT="27432" marB="27432">
                    <a:solidFill>
                      <a:srgbClr val="1F3864"/>
                    </a:solidFill>
                  </a:tcPr>
                </a:tc>
                <a:tc>
                  <a:txBody>
                    <a:bodyPr/>
                    <a:lstStyle/>
                    <a:p>
                      <a:pPr algn="ctr"/>
                      <a:r>
                        <a:rPr sz="1100" b="1">
                          <a:solidFill>
                            <a:srgbClr val="FFFFFF"/>
                          </a:solidFill>
                          <a:latin typeface="Calibri"/>
                        </a:rPr>
                        <a:t>Split</a:t>
                      </a:r>
                    </a:p>
                  </a:txBody>
                  <a:tcPr marL="54864" marR="54864" marT="27432" marB="27432">
                    <a:solidFill>
                      <a:srgbClr val="1F3864"/>
                    </a:solidFill>
                  </a:tcPr>
                </a:tc>
                <a:tc>
                  <a:txBody>
                    <a:bodyPr/>
                    <a:lstStyle/>
                    <a:p>
                      <a:pPr algn="l"/>
                      <a:r>
                        <a:rPr sz="1100" b="1">
                          <a:solidFill>
                            <a:srgbClr val="FFFFFF"/>
                          </a:solidFill>
                          <a:latin typeface="Calibri"/>
                        </a:rPr>
                        <a:t>Key result</a:t>
                      </a:r>
                    </a:p>
                  </a:txBody>
                  <a:tcPr marL="54864" marR="54864" marT="27432" marB="27432">
                    <a:solidFill>
                      <a:srgbClr val="1F3864"/>
                    </a:solidFill>
                  </a:tcPr>
                </a:tc>
                <a:extLst>
                  <a:ext uri="{0D108BD9-81ED-4DB2-BD59-A6C34878D82A}">
                    <a16:rowId xmlns:a16="http://schemas.microsoft.com/office/drawing/2014/main" val="10000"/>
                  </a:ext>
                </a:extLst>
              </a:tr>
              <a:tr h="457200">
                <a:tc>
                  <a:txBody>
                    <a:bodyPr/>
                    <a:lstStyle/>
                    <a:p>
                      <a:pPr algn="l"/>
                      <a:r>
                        <a:rPr sz="1100" b="1">
                          <a:solidFill>
                            <a:srgbClr val="202020"/>
                          </a:solidFill>
                          <a:latin typeface="Calibri"/>
                        </a:rPr>
                        <a:t>[5]</a:t>
                      </a:r>
                    </a:p>
                  </a:txBody>
                  <a:tcPr marL="54864" marR="54864" marT="27432" marB="27432">
                    <a:solidFill>
                      <a:srgbClr val="F2F2F2"/>
                    </a:solidFill>
                  </a:tcPr>
                </a:tc>
                <a:tc>
                  <a:txBody>
                    <a:bodyPr/>
                    <a:lstStyle/>
                    <a:p>
                      <a:pPr algn="l"/>
                      <a:r>
                        <a:rPr sz="1100" b="0">
                          <a:solidFill>
                            <a:srgbClr val="202020"/>
                          </a:solidFill>
                          <a:latin typeface="Calibri"/>
                        </a:rPr>
                        <a:t>MIT-BIH + LTAF</a:t>
                      </a:r>
                    </a:p>
                  </a:txBody>
                  <a:tcPr marL="54864" marR="54864" marT="27432" marB="27432">
                    <a:solidFill>
                      <a:srgbClr val="F2F2F2"/>
                    </a:solidFill>
                  </a:tcPr>
                </a:tc>
                <a:tc>
                  <a:txBody>
                    <a:bodyPr/>
                    <a:lstStyle/>
                    <a:p>
                      <a:pPr algn="l"/>
                      <a:r>
                        <a:rPr sz="1100" b="0">
                          <a:solidFill>
                            <a:srgbClr val="202020"/>
                          </a:solidFill>
                          <a:latin typeface="Calibri"/>
                        </a:rPr>
                        <a:t>Lightweight CNN-LSTM</a:t>
                      </a:r>
                    </a:p>
                  </a:txBody>
                  <a:tcPr marL="54864" marR="54864" marT="27432" marB="27432">
                    <a:solidFill>
                      <a:srgbClr val="F2F2F2"/>
                    </a:solidFill>
                  </a:tcPr>
                </a:tc>
                <a:tc>
                  <a:txBody>
                    <a:bodyPr/>
                    <a:lstStyle/>
                    <a:p>
                      <a:pPr algn="ctr"/>
                      <a:r>
                        <a:rPr sz="1100" b="0">
                          <a:solidFill>
                            <a:srgbClr val="202020"/>
                          </a:solidFill>
                          <a:latin typeface="Calibri"/>
                        </a:rPr>
                        <a:t>SHAP</a:t>
                      </a:r>
                    </a:p>
                  </a:txBody>
                  <a:tcPr marL="54864" marR="54864" marT="27432" marB="27432">
                    <a:solidFill>
                      <a:srgbClr val="F2F2F2"/>
                    </a:solidFill>
                  </a:tcPr>
                </a:tc>
                <a:tc>
                  <a:txBody>
                    <a:bodyPr/>
                    <a:lstStyle/>
                    <a:p>
                      <a:pPr algn="ctr"/>
                      <a:r>
                        <a:rPr sz="1100" b="0">
                          <a:solidFill>
                            <a:srgbClr val="202020"/>
                          </a:solidFill>
                          <a:latin typeface="Calibri"/>
                        </a:rPr>
                        <a:t>Not stated (85/15)</a:t>
                      </a:r>
                    </a:p>
                  </a:txBody>
                  <a:tcPr marL="54864" marR="54864" marT="27432" marB="27432">
                    <a:solidFill>
                      <a:srgbClr val="F2F2F2"/>
                    </a:solidFill>
                  </a:tcPr>
                </a:tc>
                <a:tc>
                  <a:txBody>
                    <a:bodyPr/>
                    <a:lstStyle/>
                    <a:p>
                      <a:pPr algn="l"/>
                      <a:r>
                        <a:rPr sz="1100" b="0">
                          <a:solidFill>
                            <a:srgbClr val="202020"/>
                          </a:solidFill>
                          <a:latin typeface="Calibri"/>
                        </a:rPr>
                        <a:t>Acc 98.24%, Se 86.1%; 0.16 MB</a:t>
                      </a:r>
                    </a:p>
                  </a:txBody>
                  <a:tcPr marL="54864" marR="54864" marT="27432" marB="27432">
                    <a:solidFill>
                      <a:srgbClr val="F2F2F2"/>
                    </a:solidFill>
                  </a:tcPr>
                </a:tc>
                <a:extLst>
                  <a:ext uri="{0D108BD9-81ED-4DB2-BD59-A6C34878D82A}">
                    <a16:rowId xmlns:a16="http://schemas.microsoft.com/office/drawing/2014/main" val="10001"/>
                  </a:ext>
                </a:extLst>
              </a:tr>
              <a:tr h="457200">
                <a:tc>
                  <a:txBody>
                    <a:bodyPr/>
                    <a:lstStyle/>
                    <a:p>
                      <a:pPr algn="l"/>
                      <a:r>
                        <a:rPr sz="1100" b="1">
                          <a:solidFill>
                            <a:srgbClr val="202020"/>
                          </a:solidFill>
                          <a:latin typeface="Calibri"/>
                        </a:rPr>
                        <a:t>[3]</a:t>
                      </a:r>
                    </a:p>
                  </a:txBody>
                  <a:tcPr marL="54864" marR="54864" marT="27432" marB="27432">
                    <a:solidFill>
                      <a:srgbClr val="FFFFFF"/>
                    </a:solidFill>
                  </a:tcPr>
                </a:tc>
                <a:tc>
                  <a:txBody>
                    <a:bodyPr/>
                    <a:lstStyle/>
                    <a:p>
                      <a:pPr algn="l"/>
                      <a:r>
                        <a:rPr sz="1100" b="0">
                          <a:solidFill>
                            <a:srgbClr val="202020"/>
                          </a:solidFill>
                          <a:latin typeface="Calibri"/>
                        </a:rPr>
                        <a:t>MIT-BIH + 12-lead</a:t>
                      </a:r>
                    </a:p>
                  </a:txBody>
                  <a:tcPr marL="54864" marR="54864" marT="27432" marB="27432">
                    <a:solidFill>
                      <a:srgbClr val="FFFFFF"/>
                    </a:solidFill>
                  </a:tcPr>
                </a:tc>
                <a:tc>
                  <a:txBody>
                    <a:bodyPr/>
                    <a:lstStyle/>
                    <a:p>
                      <a:pPr algn="l"/>
                      <a:r>
                        <a:rPr sz="1100" b="0">
                          <a:solidFill>
                            <a:srgbClr val="202020"/>
                          </a:solidFill>
                          <a:latin typeface="Calibri"/>
                        </a:rPr>
                        <a:t>1D CNN</a:t>
                      </a:r>
                    </a:p>
                  </a:txBody>
                  <a:tcPr marL="54864" marR="54864" marT="27432" marB="27432">
                    <a:solidFill>
                      <a:srgbClr val="FFFFFF"/>
                    </a:solidFill>
                  </a:tcPr>
                </a:tc>
                <a:tc>
                  <a:txBody>
                    <a:bodyPr/>
                    <a:lstStyle/>
                    <a:p>
                      <a:pPr algn="ctr"/>
                      <a:r>
                        <a:rPr sz="1100" b="0">
                          <a:solidFill>
                            <a:srgbClr val="202020"/>
                          </a:solidFill>
                          <a:latin typeface="Calibri"/>
                        </a:rPr>
                        <a:t>4 SHAP variants</a:t>
                      </a:r>
                    </a:p>
                  </a:txBody>
                  <a:tcPr marL="54864" marR="54864" marT="27432" marB="27432">
                    <a:solidFill>
                      <a:srgbClr val="FFFFFF"/>
                    </a:solidFill>
                  </a:tcPr>
                </a:tc>
                <a:tc>
                  <a:txBody>
                    <a:bodyPr/>
                    <a:lstStyle/>
                    <a:p>
                      <a:pPr algn="ctr"/>
                      <a:r>
                        <a:rPr sz="1100" b="0">
                          <a:solidFill>
                            <a:srgbClr val="202020"/>
                          </a:solidFill>
                          <a:latin typeface="Calibri"/>
                        </a:rPr>
                        <a:t>Not stated (80/20)</a:t>
                      </a:r>
                    </a:p>
                  </a:txBody>
                  <a:tcPr marL="54864" marR="54864" marT="27432" marB="27432">
                    <a:solidFill>
                      <a:srgbClr val="FFFFFF"/>
                    </a:solidFill>
                  </a:tcPr>
                </a:tc>
                <a:tc>
                  <a:txBody>
                    <a:bodyPr/>
                    <a:lstStyle/>
                    <a:p>
                      <a:pPr algn="l"/>
                      <a:r>
                        <a:rPr sz="1100" b="0">
                          <a:solidFill>
                            <a:srgbClr val="202020"/>
                          </a:solidFill>
                          <a:latin typeface="Calibri"/>
                        </a:rPr>
                        <a:t>Val acc 98.30%; 73.45% on combined data</a:t>
                      </a:r>
                    </a:p>
                  </a:txBody>
                  <a:tcPr marL="54864" marR="54864" marT="27432" marB="27432">
                    <a:solidFill>
                      <a:srgbClr val="FFFFFF"/>
                    </a:solidFill>
                  </a:tcPr>
                </a:tc>
                <a:extLst>
                  <a:ext uri="{0D108BD9-81ED-4DB2-BD59-A6C34878D82A}">
                    <a16:rowId xmlns:a16="http://schemas.microsoft.com/office/drawing/2014/main" val="10002"/>
                  </a:ext>
                </a:extLst>
              </a:tr>
              <a:tr h="457200">
                <a:tc>
                  <a:txBody>
                    <a:bodyPr/>
                    <a:lstStyle/>
                    <a:p>
                      <a:pPr algn="l"/>
                      <a:r>
                        <a:rPr sz="1100" b="1">
                          <a:solidFill>
                            <a:srgbClr val="202020"/>
                          </a:solidFill>
                          <a:latin typeface="Calibri"/>
                        </a:rPr>
                        <a:t>[4]</a:t>
                      </a:r>
                    </a:p>
                  </a:txBody>
                  <a:tcPr marL="54864" marR="54864" marT="27432" marB="27432">
                    <a:solidFill>
                      <a:srgbClr val="F2F2F2"/>
                    </a:solidFill>
                  </a:tcPr>
                </a:tc>
                <a:tc>
                  <a:txBody>
                    <a:bodyPr/>
                    <a:lstStyle/>
                    <a:p>
                      <a:pPr algn="l"/>
                      <a:r>
                        <a:rPr sz="1100" b="0">
                          <a:solidFill>
                            <a:srgbClr val="202020"/>
                          </a:solidFill>
                          <a:latin typeface="Calibri"/>
                        </a:rPr>
                        <a:t>MIT-BIH; INCART, SVDB, PTB</a:t>
                      </a:r>
                    </a:p>
                  </a:txBody>
                  <a:tcPr marL="54864" marR="54864" marT="27432" marB="27432">
                    <a:solidFill>
                      <a:srgbClr val="F2F2F2"/>
                    </a:solidFill>
                  </a:tcPr>
                </a:tc>
                <a:tc>
                  <a:txBody>
                    <a:bodyPr/>
                    <a:lstStyle/>
                    <a:p>
                      <a:pPr algn="l"/>
                      <a:r>
                        <a:rPr sz="1100" b="0">
                          <a:solidFill>
                            <a:srgbClr val="202020"/>
                          </a:solidFill>
                          <a:latin typeface="Calibri"/>
                        </a:rPr>
                        <a:t>CNN-BiLSTM + CapsNet fusion</a:t>
                      </a:r>
                    </a:p>
                  </a:txBody>
                  <a:tcPr marL="54864" marR="54864" marT="27432" marB="27432">
                    <a:solidFill>
                      <a:srgbClr val="F2F2F2"/>
                    </a:solidFill>
                  </a:tcPr>
                </a:tc>
                <a:tc>
                  <a:txBody>
                    <a:bodyPr/>
                    <a:lstStyle/>
                    <a:p>
                      <a:pPr algn="ctr"/>
                      <a:r>
                        <a:rPr sz="1100" b="0">
                          <a:solidFill>
                            <a:srgbClr val="202020"/>
                          </a:solidFill>
                          <a:latin typeface="Calibri"/>
                        </a:rPr>
                        <a:t>Branch weights</a:t>
                      </a:r>
                    </a:p>
                  </a:txBody>
                  <a:tcPr marL="54864" marR="54864" marT="27432" marB="27432">
                    <a:solidFill>
                      <a:srgbClr val="F2F2F2"/>
                    </a:solidFill>
                  </a:tcPr>
                </a:tc>
                <a:tc>
                  <a:txBody>
                    <a:bodyPr/>
                    <a:lstStyle/>
                    <a:p>
                      <a:pPr algn="ctr"/>
                      <a:r>
                        <a:rPr sz="1100" b="0">
                          <a:solidFill>
                            <a:srgbClr val="202020"/>
                          </a:solidFill>
                          <a:latin typeface="Calibri"/>
                        </a:rPr>
                        <a:t>Inter-patient</a:t>
                      </a:r>
                    </a:p>
                  </a:txBody>
                  <a:tcPr marL="54864" marR="54864" marT="27432" marB="27432">
                    <a:solidFill>
                      <a:srgbClr val="F2F2F2"/>
                    </a:solidFill>
                  </a:tcPr>
                </a:tc>
                <a:tc>
                  <a:txBody>
                    <a:bodyPr/>
                    <a:lstStyle/>
                    <a:p>
                      <a:pPr algn="l"/>
                      <a:r>
                        <a:rPr sz="1100" b="0">
                          <a:solidFill>
                            <a:srgbClr val="202020"/>
                          </a:solidFill>
                          <a:latin typeface="Calibri"/>
                        </a:rPr>
                        <a:t>Acc 99.55%; F1 32.46% at 5 dB AWGN</a:t>
                      </a:r>
                    </a:p>
                  </a:txBody>
                  <a:tcPr marL="54864" marR="54864" marT="27432" marB="27432">
                    <a:solidFill>
                      <a:srgbClr val="F2F2F2"/>
                    </a:solidFill>
                  </a:tcPr>
                </a:tc>
                <a:extLst>
                  <a:ext uri="{0D108BD9-81ED-4DB2-BD59-A6C34878D82A}">
                    <a16:rowId xmlns:a16="http://schemas.microsoft.com/office/drawing/2014/main" val="10003"/>
                  </a:ext>
                </a:extLst>
              </a:tr>
              <a:tr h="457200">
                <a:tc>
                  <a:txBody>
                    <a:bodyPr/>
                    <a:lstStyle/>
                    <a:p>
                      <a:pPr algn="l"/>
                      <a:r>
                        <a:rPr sz="1100" b="1">
                          <a:solidFill>
                            <a:srgbClr val="202020"/>
                          </a:solidFill>
                          <a:latin typeface="Calibri"/>
                        </a:rPr>
                        <a:t>[6]</a:t>
                      </a:r>
                    </a:p>
                  </a:txBody>
                  <a:tcPr marL="54864" marR="54864" marT="27432" marB="27432">
                    <a:solidFill>
                      <a:srgbClr val="FFFFFF"/>
                    </a:solidFill>
                  </a:tcPr>
                </a:tc>
                <a:tc>
                  <a:txBody>
                    <a:bodyPr/>
                    <a:lstStyle/>
                    <a:p>
                      <a:pPr algn="l"/>
                      <a:r>
                        <a:rPr sz="1100" b="0">
                          <a:solidFill>
                            <a:srgbClr val="202020"/>
                          </a:solidFill>
                          <a:latin typeface="Calibri"/>
                        </a:rPr>
                        <a:t>MIT-BIH</a:t>
                      </a:r>
                    </a:p>
                  </a:txBody>
                  <a:tcPr marL="54864" marR="54864" marT="27432" marB="27432">
                    <a:solidFill>
                      <a:srgbClr val="FFFFFF"/>
                    </a:solidFill>
                  </a:tcPr>
                </a:tc>
                <a:tc>
                  <a:txBody>
                    <a:bodyPr/>
                    <a:lstStyle/>
                    <a:p>
                      <a:pPr algn="l"/>
                      <a:r>
                        <a:rPr sz="1100" b="0">
                          <a:solidFill>
                            <a:srgbClr val="202020"/>
                          </a:solidFill>
                          <a:latin typeface="Calibri"/>
                        </a:rPr>
                        <a:t>CNN-BiLSTM + cGAN</a:t>
                      </a:r>
                    </a:p>
                  </a:txBody>
                  <a:tcPr marL="54864" marR="54864" marT="27432" marB="27432">
                    <a:solidFill>
                      <a:srgbClr val="FFFFFF"/>
                    </a:solidFill>
                  </a:tcPr>
                </a:tc>
                <a:tc>
                  <a:txBody>
                    <a:bodyPr/>
                    <a:lstStyle/>
                    <a:p>
                      <a:pPr algn="ctr"/>
                      <a:r>
                        <a:rPr sz="1100" b="0">
                          <a:solidFill>
                            <a:srgbClr val="202020"/>
                          </a:solidFill>
                          <a:latin typeface="Calibri"/>
                        </a:rPr>
                        <a:t>Not stated</a:t>
                      </a:r>
                    </a:p>
                  </a:txBody>
                  <a:tcPr marL="54864" marR="54864" marT="27432" marB="27432">
                    <a:solidFill>
                      <a:srgbClr val="FFFFFF"/>
                    </a:solidFill>
                  </a:tcPr>
                </a:tc>
                <a:tc>
                  <a:txBody>
                    <a:bodyPr/>
                    <a:lstStyle/>
                    <a:p>
                      <a:pPr algn="ctr"/>
                      <a:r>
                        <a:rPr sz="1100" b="0">
                          <a:solidFill>
                            <a:srgbClr val="202020"/>
                          </a:solidFill>
                          <a:latin typeface="Calibri"/>
                        </a:rPr>
                        <a:t>Both</a:t>
                      </a:r>
                    </a:p>
                  </a:txBody>
                  <a:tcPr marL="54864" marR="54864" marT="27432" marB="27432">
                    <a:solidFill>
                      <a:srgbClr val="FFFFFF"/>
                    </a:solidFill>
                  </a:tcPr>
                </a:tc>
                <a:tc>
                  <a:txBody>
                    <a:bodyPr/>
                    <a:lstStyle/>
                    <a:p>
                      <a:pPr algn="l"/>
                      <a:r>
                        <a:rPr sz="1100" b="0">
                          <a:solidFill>
                            <a:srgbClr val="202020"/>
                          </a:solidFill>
                          <a:latin typeface="Calibri"/>
                        </a:rPr>
                        <a:t>99.00% beat-wise vs 91.69% patient-wise</a:t>
                      </a:r>
                    </a:p>
                  </a:txBody>
                  <a:tcPr marL="54864" marR="54864" marT="27432" marB="27432">
                    <a:solidFill>
                      <a:srgbClr val="FFFFFF"/>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502920" y="3886200"/>
            <a:ext cx="8138160" cy="320040"/>
          </a:xfrm>
          <a:prstGeom prst="rect">
            <a:avLst/>
          </a:prstGeom>
          <a:noFill/>
        </p:spPr>
        <p:txBody>
          <a:bodyPr wrap="square" lIns="0" tIns="0" rIns="0" bIns="0">
            <a:spAutoFit/>
          </a:bodyPr>
          <a:lstStyle/>
          <a:p>
            <a:pPr algn="l"/>
            <a:r>
              <a:rPr sz="1400" b="1" i="0">
                <a:solidFill>
                  <a:srgbClr val="202020"/>
                </a:solidFill>
                <a:latin typeface="Calibri"/>
              </a:rPr>
              <a:t>Key findings</a:t>
            </a:r>
          </a:p>
        </p:txBody>
      </p:sp>
      <p:sp>
        <p:nvSpPr>
          <p:cNvPr id="18" name="TextBox 17"/>
          <p:cNvSpPr txBox="1"/>
          <p:nvPr/>
        </p:nvSpPr>
        <p:spPr>
          <a:xfrm>
            <a:off x="502920" y="4251960"/>
            <a:ext cx="8138160" cy="210312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 Architectures: CNNs dominate; hybrids add a recurrent or attention module (CNN-LSTM [5], CNN-BiLSTM [6]); Transformers gain 0.845% over 1D-CNNs at higher cost [2].</a:t>
            </a:r>
          </a:p>
          <a:p>
            <a:pPr algn="l">
              <a:spcAft>
                <a:spcPts val="300"/>
              </a:spcAft>
            </a:pPr>
            <a:r>
              <a:rPr sz="1200" b="0" i="0">
                <a:solidFill>
                  <a:srgbClr val="202020"/>
                </a:solidFill>
                <a:latin typeface="Calibri"/>
              </a:rPr>
              <a:t>• XAI: SHAP is the most used method, then Grad-CAM; APB/PVC explanations were inconsistent within a class [3].</a:t>
            </a:r>
          </a:p>
          <a:p>
            <a:pPr algn="l">
              <a:spcAft>
                <a:spcPts val="300"/>
              </a:spcAft>
            </a:pPr>
            <a:r>
              <a:rPr sz="1200" b="0" i="0">
                <a:solidFill>
                  <a:srgbClr val="202020"/>
                </a:solidFill>
                <a:latin typeface="Calibri"/>
              </a:rPr>
              <a:t>• Evaluation: MIT-BIH dominates (61% of studies [1]); external validation in only 18.5% of studies, with a mean accuracy drop of 8.7%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Research Gap</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1280160"/>
            <a:ext cx="64008" cy="1920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1325880"/>
            <a:ext cx="3794759" cy="320040"/>
          </a:xfrm>
          <a:prstGeom prst="rect">
            <a:avLst/>
          </a:prstGeom>
          <a:noFill/>
        </p:spPr>
        <p:txBody>
          <a:bodyPr wrap="square" lIns="0" tIns="0" rIns="0" bIns="0">
            <a:spAutoFit/>
          </a:bodyPr>
          <a:lstStyle/>
          <a:p>
            <a:pPr algn="l"/>
            <a:r>
              <a:rPr sz="1300" b="1" i="0">
                <a:solidFill>
                  <a:srgbClr val="1F3864"/>
                </a:solidFill>
                <a:latin typeface="Calibri"/>
              </a:rPr>
              <a:t>Gap 1 – Explanations rarely validated</a:t>
            </a:r>
          </a:p>
        </p:txBody>
      </p:sp>
      <p:sp>
        <p:nvSpPr>
          <p:cNvPr id="17" name="TextBox 16"/>
          <p:cNvSpPr txBox="1"/>
          <p:nvPr/>
        </p:nvSpPr>
        <p:spPr>
          <a:xfrm>
            <a:off x="667512" y="1664207"/>
            <a:ext cx="3794759" cy="150876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&lt; 10% of studies validate maps against ECG structures [2]; explanations inconsistent within a class [3].</a:t>
            </a:r>
          </a:p>
          <a:p>
            <a:pPr algn="l">
              <a:spcAft>
                <a:spcPts val="300"/>
              </a:spcAft>
            </a:pPr>
            <a:r>
              <a:rPr sz="1200" b="1" i="0">
                <a:solidFill>
                  <a:srgbClr val="202020"/>
                </a:solidFill>
                <a:latin typeface="Calibri"/>
              </a:rPr>
              <a:t>→ Addressed by </a:t>
            </a:r>
            <a:r>
              <a:rPr sz="1200" b="0" i="0">
                <a:solidFill>
                  <a:srgbClr val="202020"/>
                </a:solidFill>
                <a:latin typeface="Calibri"/>
              </a:rPr>
              <a:t>Objective 2: region-share and deletion checks</a:t>
            </a:r>
          </a:p>
        </p:txBody>
      </p:sp>
      <p:sp>
        <p:nvSpPr>
          <p:cNvPr id="18" name="Rectangle 17"/>
          <p:cNvSpPr/>
          <p:nvPr/>
        </p:nvSpPr>
        <p:spPr>
          <a:xfrm>
            <a:off x="4663440" y="1280160"/>
            <a:ext cx="64008" cy="192024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28031" y="1325880"/>
            <a:ext cx="3794759" cy="320040"/>
          </a:xfrm>
          <a:prstGeom prst="rect">
            <a:avLst/>
          </a:prstGeom>
          <a:noFill/>
        </p:spPr>
        <p:txBody>
          <a:bodyPr wrap="square" lIns="0" tIns="0" rIns="0" bIns="0">
            <a:spAutoFit/>
          </a:bodyPr>
          <a:lstStyle/>
          <a:p>
            <a:pPr algn="l"/>
            <a:r>
              <a:rPr sz="1300" b="1" i="0">
                <a:solidFill>
                  <a:srgbClr val="ED7D31"/>
                </a:solidFill>
                <a:latin typeface="Calibri"/>
              </a:rPr>
              <a:t>Gap 2 – XAI seldom patient-independent</a:t>
            </a:r>
          </a:p>
        </p:txBody>
      </p:sp>
      <p:sp>
        <p:nvSpPr>
          <p:cNvPr id="20" name="TextBox 19"/>
          <p:cNvSpPr txBox="1"/>
          <p:nvPr/>
        </p:nvSpPr>
        <p:spPr>
          <a:xfrm>
            <a:off x="4828031" y="1664207"/>
            <a:ext cx="3794759" cy="150876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XAI studies often do not describe patient separation, though inter-patient evaluation lowers performance [1], [6].</a:t>
            </a:r>
          </a:p>
          <a:p>
            <a:pPr algn="l">
              <a:spcAft>
                <a:spcPts val="300"/>
              </a:spcAft>
            </a:pPr>
            <a:r>
              <a:rPr sz="1200" b="1" i="0">
                <a:solidFill>
                  <a:srgbClr val="202020"/>
                </a:solidFill>
                <a:latin typeface="Calibri"/>
              </a:rPr>
              <a:t>→ Addressed by </a:t>
            </a:r>
            <a:r>
              <a:rPr sz="1200" b="0" i="0">
                <a:solidFill>
                  <a:srgbClr val="202020"/>
                </a:solidFill>
                <a:latin typeface="Calibri"/>
              </a:rPr>
              <a:t>Objectives 1 + 2: XAI on a DS1/DS2 model</a:t>
            </a:r>
          </a:p>
        </p:txBody>
      </p:sp>
      <p:sp>
        <p:nvSpPr>
          <p:cNvPr id="21" name="Rectangle 20"/>
          <p:cNvSpPr/>
          <p:nvPr/>
        </p:nvSpPr>
        <p:spPr>
          <a:xfrm>
            <a:off x="502920" y="3611880"/>
            <a:ext cx="64008" cy="19202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 y="3657600"/>
            <a:ext cx="3794759" cy="320040"/>
          </a:xfrm>
          <a:prstGeom prst="rect">
            <a:avLst/>
          </a:prstGeom>
          <a:noFill/>
        </p:spPr>
        <p:txBody>
          <a:bodyPr wrap="square" lIns="0" tIns="0" rIns="0" bIns="0">
            <a:spAutoFit/>
          </a:bodyPr>
          <a:lstStyle/>
          <a:p>
            <a:pPr algn="l"/>
            <a:r>
              <a:rPr sz="1300" b="1" i="0">
                <a:solidFill>
                  <a:srgbClr val="548235"/>
                </a:solidFill>
                <a:latin typeface="Calibri"/>
              </a:rPr>
              <a:t>Gap 3 – Noise tests narrow, not linked to XAI</a:t>
            </a:r>
          </a:p>
        </p:txBody>
      </p:sp>
      <p:sp>
        <p:nvSpPr>
          <p:cNvPr id="23" name="TextBox 22"/>
          <p:cNvSpPr txBox="1"/>
          <p:nvPr/>
        </p:nvSpPr>
        <p:spPr>
          <a:xfrm>
            <a:off x="667512" y="3995928"/>
            <a:ext cx="3794759" cy="150876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Noise tests limited to AWGN [4] or absent; no surveyed paper tests whether explanations stay stable under noise.</a:t>
            </a:r>
          </a:p>
          <a:p>
            <a:pPr algn="l">
              <a:spcAft>
                <a:spcPts val="300"/>
              </a:spcAft>
            </a:pPr>
            <a:r>
              <a:rPr sz="1200" b="1" i="0">
                <a:solidFill>
                  <a:srgbClr val="202020"/>
                </a:solidFill>
                <a:latin typeface="Calibri"/>
              </a:rPr>
              <a:t>→ Addressed by </a:t>
            </a:r>
            <a:r>
              <a:rPr sz="1200" b="0" i="0">
                <a:solidFill>
                  <a:srgbClr val="202020"/>
                </a:solidFill>
                <a:latin typeface="Calibri"/>
              </a:rPr>
              <a:t>Objective 3: NSTDB noise + heatmap stability</a:t>
            </a:r>
          </a:p>
        </p:txBody>
      </p:sp>
      <p:sp>
        <p:nvSpPr>
          <p:cNvPr id="24" name="Rectangle 23"/>
          <p:cNvSpPr/>
          <p:nvPr/>
        </p:nvSpPr>
        <p:spPr>
          <a:xfrm>
            <a:off x="4663440" y="3611880"/>
            <a:ext cx="64008" cy="1920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28031" y="3657600"/>
            <a:ext cx="3794759" cy="320040"/>
          </a:xfrm>
          <a:prstGeom prst="rect">
            <a:avLst/>
          </a:prstGeom>
          <a:noFill/>
        </p:spPr>
        <p:txBody>
          <a:bodyPr wrap="square" lIns="0" tIns="0" rIns="0" bIns="0">
            <a:spAutoFit/>
          </a:bodyPr>
          <a:lstStyle/>
          <a:p>
            <a:pPr algn="l"/>
            <a:r>
              <a:rPr sz="1300" b="1" i="0">
                <a:solidFill>
                  <a:srgbClr val="2E75B6"/>
                </a:solidFill>
                <a:latin typeface="Calibri"/>
              </a:rPr>
              <a:t>Gap 4 – Weak minority classes</a:t>
            </a:r>
          </a:p>
        </p:txBody>
      </p:sp>
      <p:sp>
        <p:nvSpPr>
          <p:cNvPr id="26" name="TextBox 25"/>
          <p:cNvSpPr txBox="1"/>
          <p:nvPr/>
        </p:nvSpPr>
        <p:spPr>
          <a:xfrm>
            <a:off x="4828031" y="3995928"/>
            <a:ext cx="3794759" cy="1508760"/>
          </a:xfrm>
          <a:prstGeom prst="rect">
            <a:avLst/>
          </a:prstGeom>
          <a:noFill/>
        </p:spPr>
        <p:txBody>
          <a:bodyPr wrap="square" lIns="0" tIns="0" rIns="0" bIns="0">
            <a:spAutoFit/>
          </a:bodyPr>
          <a:lstStyle/>
          <a:p>
            <a:pPr algn="l">
              <a:spcAft>
                <a:spcPts val="300"/>
              </a:spcAft>
            </a:pPr>
            <a:r>
              <a:rPr sz="1200" b="0" i="0">
                <a:solidFill>
                  <a:srgbClr val="202020"/>
                </a:solidFill>
                <a:latin typeface="Calibri"/>
              </a:rPr>
              <a:t>Patient-wise Fusion and S recall only 0.021 and 0.209 [6]; little external validation [2].</a:t>
            </a:r>
          </a:p>
          <a:p>
            <a:pPr algn="l">
              <a:spcAft>
                <a:spcPts val="300"/>
              </a:spcAft>
            </a:pPr>
            <a:r>
              <a:rPr sz="1200" b="1" i="0">
                <a:solidFill>
                  <a:srgbClr val="202020"/>
                </a:solidFill>
                <a:latin typeface="Calibri"/>
              </a:rPr>
              <a:t>→ Addressed by </a:t>
            </a:r>
            <a:r>
              <a:rPr sz="1200" b="0" i="0">
                <a:solidFill>
                  <a:srgbClr val="202020"/>
                </a:solidFill>
                <a:latin typeface="Calibri"/>
              </a:rPr>
              <a:t>Objective 1: per-class / macro F1, external test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Dataset</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24128"/>
            <a:ext cx="3977639" cy="320040"/>
          </a:xfrm>
          <a:prstGeom prst="rect">
            <a:avLst/>
          </a:prstGeom>
          <a:noFill/>
        </p:spPr>
        <p:txBody>
          <a:bodyPr wrap="square" lIns="0" tIns="0" rIns="0" bIns="0">
            <a:spAutoFit/>
          </a:bodyPr>
          <a:lstStyle/>
          <a:p>
            <a:pPr algn="l"/>
            <a:r>
              <a:rPr sz="1400" b="1" i="0">
                <a:solidFill>
                  <a:srgbClr val="202020"/>
                </a:solidFill>
                <a:latin typeface="Calibri"/>
              </a:rPr>
              <a:t>Framework datasets</a:t>
            </a:r>
          </a:p>
        </p:txBody>
      </p:sp>
      <p:sp>
        <p:nvSpPr>
          <p:cNvPr id="16" name="TextBox 15"/>
          <p:cNvSpPr txBox="1"/>
          <p:nvPr/>
        </p:nvSpPr>
        <p:spPr>
          <a:xfrm>
            <a:off x="502920" y="1371600"/>
            <a:ext cx="3977639" cy="146304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MIT-BIH Arrhythmia Database: AAMI classes, inter-patient DS1/DS2 split.</a:t>
            </a:r>
          </a:p>
          <a:p>
            <a:pPr algn="l">
              <a:spcAft>
                <a:spcPts val="300"/>
              </a:spcAft>
            </a:pPr>
            <a:r>
              <a:rPr sz="1150" b="0" i="0">
                <a:solidFill>
                  <a:srgbClr val="202020"/>
                </a:solidFill>
                <a:latin typeface="Calibri"/>
              </a:rPr>
              <a:t>• External test: INCART (preferred; stretch goal).</a:t>
            </a:r>
          </a:p>
          <a:p>
            <a:pPr algn="l">
              <a:spcAft>
                <a:spcPts val="300"/>
              </a:spcAft>
            </a:pPr>
            <a:r>
              <a:rPr sz="1150" b="0" i="0">
                <a:solidFill>
                  <a:srgbClr val="202020"/>
                </a:solidFill>
                <a:latin typeface="Calibri"/>
              </a:rPr>
              <a:t>• MIT-BIH NSTDB: baseline wander, muscle artefact, electrode motion noise.</a:t>
            </a:r>
          </a:p>
        </p:txBody>
      </p:sp>
      <p:sp>
        <p:nvSpPr>
          <p:cNvPr id="17" name="TextBox 16"/>
          <p:cNvSpPr txBox="1"/>
          <p:nvPr/>
        </p:nvSpPr>
        <p:spPr>
          <a:xfrm>
            <a:off x="4663440" y="1024128"/>
            <a:ext cx="3977639" cy="320040"/>
          </a:xfrm>
          <a:prstGeom prst="rect">
            <a:avLst/>
          </a:prstGeom>
          <a:noFill/>
        </p:spPr>
        <p:txBody>
          <a:bodyPr wrap="square" lIns="0" tIns="0" rIns="0" bIns="0">
            <a:spAutoFit/>
          </a:bodyPr>
          <a:lstStyle/>
          <a:p>
            <a:pPr algn="l"/>
            <a:r>
              <a:rPr sz="1400" b="1" i="0">
                <a:solidFill>
                  <a:srgbClr val="202020"/>
                </a:solidFill>
                <a:latin typeface="Calibri"/>
              </a:rPr>
              <a:t>Used so far (preliminary)</a:t>
            </a:r>
          </a:p>
        </p:txBody>
      </p:sp>
      <p:sp>
        <p:nvSpPr>
          <p:cNvPr id="18" name="TextBox 17"/>
          <p:cNvSpPr txBox="1"/>
          <p:nvPr/>
        </p:nvSpPr>
        <p:spPr>
          <a:xfrm>
            <a:off x="4663440" y="1371600"/>
            <a:ext cx="3977639" cy="146304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Pre-segmented MIT-BIH heartbeat dataset [7].</a:t>
            </a:r>
          </a:p>
          <a:p>
            <a:pPr algn="l">
              <a:spcAft>
                <a:spcPts val="300"/>
              </a:spcAft>
            </a:pPr>
            <a:r>
              <a:rPr sz="1150" b="0" i="0">
                <a:solidFill>
                  <a:srgbClr val="202020"/>
                </a:solidFill>
                <a:latin typeface="Calibri"/>
              </a:rPr>
              <a:t>• 187-sample beats (1.5 s at 125 Hz), scaled to [0, 1], zero-padded.</a:t>
            </a:r>
          </a:p>
          <a:p>
            <a:pPr algn="l">
              <a:spcAft>
                <a:spcPts val="300"/>
              </a:spcAft>
            </a:pPr>
            <a:r>
              <a:rPr sz="1150" b="0" i="0">
                <a:solidFill>
                  <a:srgbClr val="202020"/>
                </a:solidFill>
                <a:latin typeface="Calibri"/>
              </a:rPr>
              <a:t>• 5 AAMI classes: N, S, V, F, Q.</a:t>
            </a:r>
          </a:p>
        </p:txBody>
      </p:sp>
      <p:graphicFrame>
        <p:nvGraphicFramePr>
          <p:cNvPr id="19" name="Table 18"/>
          <p:cNvGraphicFramePr>
            <a:graphicFrameLocks noGrp="1"/>
          </p:cNvGraphicFramePr>
          <p:nvPr/>
        </p:nvGraphicFramePr>
        <p:xfrm>
          <a:off x="502920" y="2834640"/>
          <a:ext cx="7680960" cy="82296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274320">
                <a:tc>
                  <a:txBody>
                    <a:bodyPr/>
                    <a:lstStyle/>
                    <a:p>
                      <a:pPr algn="l"/>
                      <a:r>
                        <a:rPr sz="1050" b="1">
                          <a:solidFill>
                            <a:srgbClr val="FFFFFF"/>
                          </a:solidFill>
                          <a:latin typeface="Calibri"/>
                        </a:rPr>
                        <a:t>File</a:t>
                      </a:r>
                    </a:p>
                  </a:txBody>
                  <a:tcPr marL="54864" marR="54864" marT="27432" marB="27432">
                    <a:solidFill>
                      <a:srgbClr val="1F3864"/>
                    </a:solidFill>
                  </a:tcPr>
                </a:tc>
                <a:tc>
                  <a:txBody>
                    <a:bodyPr/>
                    <a:lstStyle/>
                    <a:p>
                      <a:pPr algn="ctr"/>
                      <a:r>
                        <a:rPr sz="1050" b="1">
                          <a:solidFill>
                            <a:srgbClr val="FFFFFF"/>
                          </a:solidFill>
                          <a:latin typeface="Calibri"/>
                        </a:rPr>
                        <a:t>N</a:t>
                      </a:r>
                    </a:p>
                  </a:txBody>
                  <a:tcPr marL="54864" marR="54864" marT="27432" marB="27432">
                    <a:solidFill>
                      <a:srgbClr val="1F3864"/>
                    </a:solidFill>
                  </a:tcPr>
                </a:tc>
                <a:tc>
                  <a:txBody>
                    <a:bodyPr/>
                    <a:lstStyle/>
                    <a:p>
                      <a:pPr algn="ctr"/>
                      <a:r>
                        <a:rPr sz="1050" b="1">
                          <a:solidFill>
                            <a:srgbClr val="FFFFFF"/>
                          </a:solidFill>
                          <a:latin typeface="Calibri"/>
                        </a:rPr>
                        <a:t>S</a:t>
                      </a:r>
                    </a:p>
                  </a:txBody>
                  <a:tcPr marL="54864" marR="54864" marT="27432" marB="27432">
                    <a:solidFill>
                      <a:srgbClr val="1F3864"/>
                    </a:solidFill>
                  </a:tcPr>
                </a:tc>
                <a:tc>
                  <a:txBody>
                    <a:bodyPr/>
                    <a:lstStyle/>
                    <a:p>
                      <a:pPr algn="ctr"/>
                      <a:r>
                        <a:rPr sz="1050" b="1">
                          <a:solidFill>
                            <a:srgbClr val="FFFFFF"/>
                          </a:solidFill>
                          <a:latin typeface="Calibri"/>
                        </a:rPr>
                        <a:t>V</a:t>
                      </a:r>
                    </a:p>
                  </a:txBody>
                  <a:tcPr marL="54864" marR="54864" marT="27432" marB="27432">
                    <a:solidFill>
                      <a:srgbClr val="1F3864"/>
                    </a:solidFill>
                  </a:tcPr>
                </a:tc>
                <a:tc>
                  <a:txBody>
                    <a:bodyPr/>
                    <a:lstStyle/>
                    <a:p>
                      <a:pPr algn="ctr"/>
                      <a:r>
                        <a:rPr sz="1050" b="1">
                          <a:solidFill>
                            <a:srgbClr val="FFFFFF"/>
                          </a:solidFill>
                          <a:latin typeface="Calibri"/>
                        </a:rPr>
                        <a:t>F</a:t>
                      </a:r>
                    </a:p>
                  </a:txBody>
                  <a:tcPr marL="54864" marR="54864" marT="27432" marB="27432">
                    <a:solidFill>
                      <a:srgbClr val="1F3864"/>
                    </a:solidFill>
                  </a:tcPr>
                </a:tc>
                <a:tc>
                  <a:txBody>
                    <a:bodyPr/>
                    <a:lstStyle/>
                    <a:p>
                      <a:pPr algn="ctr"/>
                      <a:r>
                        <a:rPr sz="1050" b="1">
                          <a:solidFill>
                            <a:srgbClr val="FFFFFF"/>
                          </a:solidFill>
                          <a:latin typeface="Calibri"/>
                        </a:rPr>
                        <a:t>Q</a:t>
                      </a:r>
                    </a:p>
                  </a:txBody>
                  <a:tcPr marL="54864" marR="54864" marT="27432" marB="27432">
                    <a:solidFill>
                      <a:srgbClr val="1F3864"/>
                    </a:solidFill>
                  </a:tcPr>
                </a:tc>
                <a:tc>
                  <a:txBody>
                    <a:bodyPr/>
                    <a:lstStyle/>
                    <a:p>
                      <a:pPr algn="ctr"/>
                      <a:r>
                        <a:rPr sz="1050" b="1">
                          <a:solidFill>
                            <a:srgbClr val="FFFFFF"/>
                          </a:solidFill>
                          <a:latin typeface="Calibri"/>
                        </a:rPr>
                        <a:t>Total</a:t>
                      </a:r>
                    </a:p>
                  </a:txBody>
                  <a:tcPr marL="54864" marR="54864" marT="27432" marB="27432">
                    <a:solidFill>
                      <a:srgbClr val="1F3864"/>
                    </a:solidFill>
                  </a:tcPr>
                </a:tc>
                <a:extLst>
                  <a:ext uri="{0D108BD9-81ED-4DB2-BD59-A6C34878D82A}">
                    <a16:rowId xmlns:a16="http://schemas.microsoft.com/office/drawing/2014/main" val="10000"/>
                  </a:ext>
                </a:extLst>
              </a:tr>
              <a:tr h="274320">
                <a:tc>
                  <a:txBody>
                    <a:bodyPr/>
                    <a:lstStyle/>
                    <a:p>
                      <a:pPr algn="l"/>
                      <a:r>
                        <a:rPr sz="1050" b="1">
                          <a:solidFill>
                            <a:srgbClr val="202020"/>
                          </a:solidFill>
                          <a:latin typeface="Calibri"/>
                        </a:rPr>
                        <a:t>Train file</a:t>
                      </a:r>
                    </a:p>
                  </a:txBody>
                  <a:tcPr marL="54864" marR="54864" marT="27432" marB="27432">
                    <a:solidFill>
                      <a:srgbClr val="F2F2F2"/>
                    </a:solidFill>
                  </a:tcPr>
                </a:tc>
                <a:tc>
                  <a:txBody>
                    <a:bodyPr/>
                    <a:lstStyle/>
                    <a:p>
                      <a:pPr algn="ctr"/>
                      <a:r>
                        <a:rPr sz="1050" b="0">
                          <a:solidFill>
                            <a:srgbClr val="202020"/>
                          </a:solidFill>
                          <a:latin typeface="Calibri"/>
                        </a:rPr>
                        <a:t>72,471 (82.77%)</a:t>
                      </a:r>
                    </a:p>
                  </a:txBody>
                  <a:tcPr marL="54864" marR="54864" marT="27432" marB="27432">
                    <a:solidFill>
                      <a:srgbClr val="F2F2F2"/>
                    </a:solidFill>
                  </a:tcPr>
                </a:tc>
                <a:tc>
                  <a:txBody>
                    <a:bodyPr/>
                    <a:lstStyle/>
                    <a:p>
                      <a:pPr algn="ctr"/>
                      <a:r>
                        <a:rPr sz="1050" b="0">
                          <a:solidFill>
                            <a:srgbClr val="202020"/>
                          </a:solidFill>
                          <a:latin typeface="Calibri"/>
                        </a:rPr>
                        <a:t>2,223 (2.54%)</a:t>
                      </a:r>
                    </a:p>
                  </a:txBody>
                  <a:tcPr marL="54864" marR="54864" marT="27432" marB="27432">
                    <a:solidFill>
                      <a:srgbClr val="F2F2F2"/>
                    </a:solidFill>
                  </a:tcPr>
                </a:tc>
                <a:tc>
                  <a:txBody>
                    <a:bodyPr/>
                    <a:lstStyle/>
                    <a:p>
                      <a:pPr algn="ctr"/>
                      <a:r>
                        <a:rPr sz="1050" b="0">
                          <a:solidFill>
                            <a:srgbClr val="202020"/>
                          </a:solidFill>
                          <a:latin typeface="Calibri"/>
                        </a:rPr>
                        <a:t>5,788 (6.61%)</a:t>
                      </a:r>
                    </a:p>
                  </a:txBody>
                  <a:tcPr marL="54864" marR="54864" marT="27432" marB="27432">
                    <a:solidFill>
                      <a:srgbClr val="F2F2F2"/>
                    </a:solidFill>
                  </a:tcPr>
                </a:tc>
                <a:tc>
                  <a:txBody>
                    <a:bodyPr/>
                    <a:lstStyle/>
                    <a:p>
                      <a:pPr algn="ctr"/>
                      <a:r>
                        <a:rPr sz="1050" b="0">
                          <a:solidFill>
                            <a:srgbClr val="202020"/>
                          </a:solidFill>
                          <a:latin typeface="Calibri"/>
                        </a:rPr>
                        <a:t>641 (0.73%)</a:t>
                      </a:r>
                    </a:p>
                  </a:txBody>
                  <a:tcPr marL="54864" marR="54864" marT="27432" marB="27432">
                    <a:solidFill>
                      <a:srgbClr val="F2F2F2"/>
                    </a:solidFill>
                  </a:tcPr>
                </a:tc>
                <a:tc>
                  <a:txBody>
                    <a:bodyPr/>
                    <a:lstStyle/>
                    <a:p>
                      <a:pPr algn="ctr"/>
                      <a:r>
                        <a:rPr sz="1050" b="0">
                          <a:solidFill>
                            <a:srgbClr val="202020"/>
                          </a:solidFill>
                          <a:latin typeface="Calibri"/>
                        </a:rPr>
                        <a:t>6,431 (7.35%)</a:t>
                      </a:r>
                    </a:p>
                  </a:txBody>
                  <a:tcPr marL="54864" marR="54864" marT="27432" marB="27432">
                    <a:solidFill>
                      <a:srgbClr val="F2F2F2"/>
                    </a:solidFill>
                  </a:tcPr>
                </a:tc>
                <a:tc>
                  <a:txBody>
                    <a:bodyPr/>
                    <a:lstStyle/>
                    <a:p>
                      <a:pPr algn="ctr"/>
                      <a:r>
                        <a:rPr sz="1050" b="0">
                          <a:solidFill>
                            <a:srgbClr val="202020"/>
                          </a:solidFill>
                          <a:latin typeface="Calibri"/>
                        </a:rPr>
                        <a:t>87,554</a:t>
                      </a:r>
                    </a:p>
                  </a:txBody>
                  <a:tcPr marL="54864" marR="54864" marT="27432" marB="27432">
                    <a:solidFill>
                      <a:srgbClr val="F2F2F2"/>
                    </a:solidFill>
                  </a:tcPr>
                </a:tc>
                <a:extLst>
                  <a:ext uri="{0D108BD9-81ED-4DB2-BD59-A6C34878D82A}">
                    <a16:rowId xmlns:a16="http://schemas.microsoft.com/office/drawing/2014/main" val="10001"/>
                  </a:ext>
                </a:extLst>
              </a:tr>
              <a:tr h="274320">
                <a:tc>
                  <a:txBody>
                    <a:bodyPr/>
                    <a:lstStyle/>
                    <a:p>
                      <a:pPr algn="l"/>
                      <a:r>
                        <a:rPr sz="1050" b="1">
                          <a:solidFill>
                            <a:srgbClr val="202020"/>
                          </a:solidFill>
                          <a:latin typeface="Calibri"/>
                        </a:rPr>
                        <a:t>Test file</a:t>
                      </a:r>
                    </a:p>
                  </a:txBody>
                  <a:tcPr marL="54864" marR="54864" marT="27432" marB="27432">
                    <a:solidFill>
                      <a:srgbClr val="FFFFFF"/>
                    </a:solidFill>
                  </a:tcPr>
                </a:tc>
                <a:tc>
                  <a:txBody>
                    <a:bodyPr/>
                    <a:lstStyle/>
                    <a:p>
                      <a:pPr algn="ctr"/>
                      <a:r>
                        <a:rPr sz="1050" b="0">
                          <a:solidFill>
                            <a:srgbClr val="202020"/>
                          </a:solidFill>
                          <a:latin typeface="Calibri"/>
                        </a:rPr>
                        <a:t>18,118 (82.76%)</a:t>
                      </a:r>
                    </a:p>
                  </a:txBody>
                  <a:tcPr marL="54864" marR="54864" marT="27432" marB="27432">
                    <a:solidFill>
                      <a:srgbClr val="FFFFFF"/>
                    </a:solidFill>
                  </a:tcPr>
                </a:tc>
                <a:tc>
                  <a:txBody>
                    <a:bodyPr/>
                    <a:lstStyle/>
                    <a:p>
                      <a:pPr algn="ctr"/>
                      <a:r>
                        <a:rPr sz="1050" b="0">
                          <a:solidFill>
                            <a:srgbClr val="202020"/>
                          </a:solidFill>
                          <a:latin typeface="Calibri"/>
                        </a:rPr>
                        <a:t>556 (2.54%)</a:t>
                      </a:r>
                    </a:p>
                  </a:txBody>
                  <a:tcPr marL="54864" marR="54864" marT="27432" marB="27432">
                    <a:solidFill>
                      <a:srgbClr val="FFFFFF"/>
                    </a:solidFill>
                  </a:tcPr>
                </a:tc>
                <a:tc>
                  <a:txBody>
                    <a:bodyPr/>
                    <a:lstStyle/>
                    <a:p>
                      <a:pPr algn="ctr"/>
                      <a:r>
                        <a:rPr sz="1050" b="0">
                          <a:solidFill>
                            <a:srgbClr val="202020"/>
                          </a:solidFill>
                          <a:latin typeface="Calibri"/>
                        </a:rPr>
                        <a:t>1,448 (6.61%)</a:t>
                      </a:r>
                    </a:p>
                  </a:txBody>
                  <a:tcPr marL="54864" marR="54864" marT="27432" marB="27432">
                    <a:solidFill>
                      <a:srgbClr val="FFFFFF"/>
                    </a:solidFill>
                  </a:tcPr>
                </a:tc>
                <a:tc>
                  <a:txBody>
                    <a:bodyPr/>
                    <a:lstStyle/>
                    <a:p>
                      <a:pPr algn="ctr"/>
                      <a:r>
                        <a:rPr sz="1050" b="0">
                          <a:solidFill>
                            <a:srgbClr val="202020"/>
                          </a:solidFill>
                          <a:latin typeface="Calibri"/>
                        </a:rPr>
                        <a:t>162 (0.74%)</a:t>
                      </a:r>
                    </a:p>
                  </a:txBody>
                  <a:tcPr marL="54864" marR="54864" marT="27432" marB="27432">
                    <a:solidFill>
                      <a:srgbClr val="FFFFFF"/>
                    </a:solidFill>
                  </a:tcPr>
                </a:tc>
                <a:tc>
                  <a:txBody>
                    <a:bodyPr/>
                    <a:lstStyle/>
                    <a:p>
                      <a:pPr algn="ctr"/>
                      <a:r>
                        <a:rPr sz="1050" b="0">
                          <a:solidFill>
                            <a:srgbClr val="202020"/>
                          </a:solidFill>
                          <a:latin typeface="Calibri"/>
                        </a:rPr>
                        <a:t>1,608 (7.35%)</a:t>
                      </a:r>
                    </a:p>
                  </a:txBody>
                  <a:tcPr marL="54864" marR="54864" marT="27432" marB="27432">
                    <a:solidFill>
                      <a:srgbClr val="FFFFFF"/>
                    </a:solidFill>
                  </a:tcPr>
                </a:tc>
                <a:tc>
                  <a:txBody>
                    <a:bodyPr/>
                    <a:lstStyle/>
                    <a:p>
                      <a:pPr algn="ctr"/>
                      <a:r>
                        <a:rPr sz="1050" b="0" dirty="0">
                          <a:solidFill>
                            <a:srgbClr val="202020"/>
                          </a:solidFill>
                          <a:latin typeface="Calibri"/>
                        </a:rPr>
                        <a:t>21,892</a:t>
                      </a:r>
                    </a:p>
                  </a:txBody>
                  <a:tcPr marL="54864" marR="54864" marT="27432" marB="27432">
                    <a:solidFill>
                      <a:srgbClr val="FFFFFF"/>
                    </a:solidFill>
                  </a:tcPr>
                </a:tc>
                <a:extLst>
                  <a:ext uri="{0D108BD9-81ED-4DB2-BD59-A6C34878D82A}">
                    <a16:rowId xmlns:a16="http://schemas.microsoft.com/office/drawing/2014/main" val="10002"/>
                  </a:ext>
                </a:extLst>
              </a:tr>
            </a:tbl>
          </a:graphicData>
        </a:graphic>
      </p:graphicFrame>
      <p:sp>
        <p:nvSpPr>
          <p:cNvPr id="20" name="TextBox 19"/>
          <p:cNvSpPr txBox="1"/>
          <p:nvPr/>
        </p:nvSpPr>
        <p:spPr>
          <a:xfrm>
            <a:off x="502920" y="3703320"/>
            <a:ext cx="8138160" cy="274320"/>
          </a:xfrm>
          <a:prstGeom prst="rect">
            <a:avLst/>
          </a:prstGeom>
          <a:noFill/>
        </p:spPr>
        <p:txBody>
          <a:bodyPr wrap="square" lIns="0" tIns="0" rIns="0" bIns="0">
            <a:spAutoFit/>
          </a:bodyPr>
          <a:lstStyle/>
          <a:p>
            <a:pPr algn="l"/>
            <a:r>
              <a:rPr sz="1050" b="0" i="1">
                <a:solidFill>
                  <a:srgbClr val="595959"/>
                </a:solidFill>
                <a:latin typeface="Calibri"/>
              </a:rPr>
              <a:t>Split: train file 80/20 (stratified, seed 42) → 70,043 train / 17,511 validation; test file (21,892) used only for final evaluation. Split is by beat → intra-patient.</a:t>
            </a:r>
          </a:p>
        </p:txBody>
      </p:sp>
      <p:pic>
        <p:nvPicPr>
          <p:cNvPr id="21" name="Picture 20" descr="image.png"/>
          <p:cNvPicPr>
            <a:picLocks noChangeAspect="1"/>
          </p:cNvPicPr>
          <p:nvPr/>
        </p:nvPicPr>
        <p:blipFill>
          <a:blip r:embed="rId2"/>
          <a:stretch>
            <a:fillRect/>
          </a:stretch>
        </p:blipFill>
        <p:spPr>
          <a:xfrm>
            <a:off x="502920" y="4251960"/>
            <a:ext cx="8138160" cy="1319579"/>
          </a:xfrm>
          <a:prstGeom prst="rect">
            <a:avLst/>
          </a:prstGeom>
        </p:spPr>
      </p:pic>
      <p:sp>
        <p:nvSpPr>
          <p:cNvPr id="22" name="TextBox 21"/>
          <p:cNvSpPr txBox="1"/>
          <p:nvPr/>
        </p:nvSpPr>
        <p:spPr>
          <a:xfrm>
            <a:off x="502920" y="5623560"/>
            <a:ext cx="8138160" cy="274320"/>
          </a:xfrm>
          <a:prstGeom prst="rect">
            <a:avLst/>
          </a:prstGeom>
          <a:noFill/>
        </p:spPr>
        <p:txBody>
          <a:bodyPr wrap="square" lIns="0" tIns="0" rIns="0" bIns="0">
            <a:spAutoFit/>
          </a:bodyPr>
          <a:lstStyle/>
          <a:p>
            <a:pPr algn="ctr"/>
            <a:r>
              <a:rPr sz="1000" b="0" i="1" dirty="0">
                <a:solidFill>
                  <a:srgbClr val="595959"/>
                </a:solidFill>
                <a:latin typeface="Calibri"/>
              </a:rPr>
              <a:t>One example beat per class: starts at the R peak, second peak ≈ next R peak, then zero padding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Proposed Methodology</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2"/>
          <a:stretch>
            <a:fillRect/>
          </a:stretch>
        </p:blipFill>
        <p:spPr>
          <a:xfrm>
            <a:off x="1600200" y="960120"/>
            <a:ext cx="5943600" cy="3717723"/>
          </a:xfrm>
          <a:prstGeom prst="rect">
            <a:avLst/>
          </a:prstGeom>
        </p:spPr>
      </p:pic>
      <p:sp>
        <p:nvSpPr>
          <p:cNvPr id="16" name="TextBox 15"/>
          <p:cNvSpPr txBox="1"/>
          <p:nvPr/>
        </p:nvSpPr>
        <p:spPr>
          <a:xfrm>
            <a:off x="502920" y="4709160"/>
            <a:ext cx="8138160" cy="274320"/>
          </a:xfrm>
          <a:prstGeom prst="rect">
            <a:avLst/>
          </a:prstGeom>
          <a:noFill/>
        </p:spPr>
        <p:txBody>
          <a:bodyPr wrap="square" lIns="0" tIns="0" rIns="0" bIns="0">
            <a:spAutoFit/>
          </a:bodyPr>
          <a:lstStyle/>
          <a:p>
            <a:pPr algn="ctr"/>
            <a:r>
              <a:rPr sz="1000" b="0" i="1">
                <a:solidFill>
                  <a:srgbClr val="595959"/>
                </a:solidFill>
                <a:latin typeface="Calibri"/>
              </a:rPr>
              <a:t>Block diagram of the proposed framework</a:t>
            </a:r>
          </a:p>
        </p:txBody>
      </p:sp>
      <p:sp>
        <p:nvSpPr>
          <p:cNvPr id="17" name="TextBox 16"/>
          <p:cNvSpPr txBox="1"/>
          <p:nvPr/>
        </p:nvSpPr>
        <p:spPr>
          <a:xfrm>
            <a:off x="502920" y="5029200"/>
            <a:ext cx="3977639" cy="1280160"/>
          </a:xfrm>
          <a:prstGeom prst="rect">
            <a:avLst/>
          </a:prstGeom>
          <a:noFill/>
        </p:spPr>
        <p:txBody>
          <a:bodyPr wrap="square" lIns="0" tIns="0" rIns="0" bIns="0">
            <a:spAutoFit/>
          </a:bodyPr>
          <a:lstStyle/>
          <a:p>
            <a:pPr algn="l">
              <a:spcAft>
                <a:spcPts val="300"/>
              </a:spcAft>
            </a:pPr>
            <a:r>
              <a:rPr sz="1150" b="1" i="0">
                <a:solidFill>
                  <a:srgbClr val="202020"/>
                </a:solidFill>
                <a:latin typeface="Calibri"/>
              </a:rPr>
              <a:t>Pre-processing: </a:t>
            </a:r>
            <a:r>
              <a:rPr sz="1150" b="0" i="0">
                <a:solidFill>
                  <a:srgbClr val="202020"/>
                </a:solidFill>
                <a:latin typeface="Calibri"/>
              </a:rPr>
              <a:t>filtering, R-peak-centred beats, normalisation, RR features.</a:t>
            </a:r>
          </a:p>
          <a:p>
            <a:pPr algn="l">
              <a:spcAft>
                <a:spcPts val="300"/>
              </a:spcAft>
            </a:pPr>
            <a:r>
              <a:rPr sz="1150" b="1" i="0">
                <a:solidFill>
                  <a:srgbClr val="202020"/>
                </a:solidFill>
                <a:latin typeface="Calibri"/>
              </a:rPr>
              <a:t>Split: </a:t>
            </a:r>
            <a:r>
              <a:rPr sz="1150" b="0" i="0">
                <a:solidFill>
                  <a:srgbClr val="202020"/>
                </a:solidFill>
                <a:latin typeface="Calibri"/>
              </a:rPr>
              <a:t>intra-patient 80/20 + inter-patient DS1/DS2.</a:t>
            </a:r>
          </a:p>
        </p:txBody>
      </p:sp>
      <p:sp>
        <p:nvSpPr>
          <p:cNvPr id="18" name="TextBox 17"/>
          <p:cNvSpPr txBox="1"/>
          <p:nvPr/>
        </p:nvSpPr>
        <p:spPr>
          <a:xfrm>
            <a:off x="4663440" y="5029200"/>
            <a:ext cx="3977639" cy="1280160"/>
          </a:xfrm>
          <a:prstGeom prst="rect">
            <a:avLst/>
          </a:prstGeom>
          <a:noFill/>
        </p:spPr>
        <p:txBody>
          <a:bodyPr wrap="square" lIns="0" tIns="0" rIns="0" bIns="0">
            <a:spAutoFit/>
          </a:bodyPr>
          <a:lstStyle/>
          <a:p>
            <a:pPr algn="l">
              <a:spcAft>
                <a:spcPts val="300"/>
              </a:spcAft>
            </a:pPr>
            <a:r>
              <a:rPr sz="1150" b="1" i="0">
                <a:solidFill>
                  <a:srgbClr val="202020"/>
                </a:solidFill>
                <a:latin typeface="Calibri"/>
              </a:rPr>
              <a:t>Explain: </a:t>
            </a:r>
            <a:r>
              <a:rPr sz="1150" b="0" i="0">
                <a:solidFill>
                  <a:srgbClr val="202020"/>
                </a:solidFill>
                <a:latin typeface="Calibri"/>
              </a:rPr>
              <a:t>Grad-CAM [8] + Gradient SHAP [9].</a:t>
            </a:r>
          </a:p>
          <a:p>
            <a:pPr algn="l">
              <a:spcAft>
                <a:spcPts val="300"/>
              </a:spcAft>
            </a:pPr>
            <a:r>
              <a:rPr sz="1150" b="1" i="0">
                <a:solidFill>
                  <a:srgbClr val="202020"/>
                </a:solidFill>
                <a:latin typeface="Calibri"/>
              </a:rPr>
              <a:t>Robustness: </a:t>
            </a:r>
            <a:r>
              <a:rPr sz="1150" b="0" i="0">
                <a:solidFill>
                  <a:srgbClr val="202020"/>
                </a:solidFill>
                <a:latin typeface="Calibri"/>
              </a:rPr>
              <a:t>NSTDB 'ma' noise at 18 / 6 / 0 dB SNR; macro F1 vs SNR.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Model &amp; Algorithms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05840"/>
            <a:ext cx="8138160" cy="320040"/>
          </a:xfrm>
          <a:prstGeom prst="rect">
            <a:avLst/>
          </a:prstGeom>
          <a:noFill/>
        </p:spPr>
        <p:txBody>
          <a:bodyPr wrap="square" lIns="0" tIns="0" rIns="0" bIns="0">
            <a:spAutoFit/>
          </a:bodyPr>
          <a:lstStyle/>
          <a:p>
            <a:pPr algn="l"/>
            <a:r>
              <a:rPr sz="1300" b="1" i="0">
                <a:solidFill>
                  <a:srgbClr val="202020"/>
                </a:solidFill>
                <a:latin typeface="Calibri"/>
              </a:rPr>
              <a:t>Baseline 1D CNN (implemented): input 187 × 1 beat → softmax over 5 classes</a:t>
            </a:r>
          </a:p>
        </p:txBody>
      </p:sp>
      <p:graphicFrame>
        <p:nvGraphicFramePr>
          <p:cNvPr id="16" name="Table 15"/>
          <p:cNvGraphicFramePr>
            <a:graphicFrameLocks noGrp="1"/>
          </p:cNvGraphicFramePr>
          <p:nvPr/>
        </p:nvGraphicFramePr>
        <p:xfrm>
          <a:off x="502920" y="1371600"/>
          <a:ext cx="8138160" cy="1563624"/>
        </p:xfrm>
        <a:graphic>
          <a:graphicData uri="http://schemas.openxmlformats.org/drawingml/2006/table">
            <a:tbl>
              <a:tblPr firstRow="1" bandRow="1">
                <a:tableStyleId>{5C22544A-7EE6-4342-B048-85BDC9FD1C3A}</a:tableStyleId>
              </a:tblPr>
              <a:tblGrid>
                <a:gridCol w="51206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246888">
                <a:tc>
                  <a:txBody>
                    <a:bodyPr/>
                    <a:lstStyle/>
                    <a:p>
                      <a:pPr algn="l"/>
                      <a:r>
                        <a:rPr sz="1100" b="1">
                          <a:solidFill>
                            <a:srgbClr val="FFFFFF"/>
                          </a:solidFill>
                          <a:latin typeface="Calibri"/>
                        </a:rPr>
                        <a:t>Layer</a:t>
                      </a:r>
                    </a:p>
                  </a:txBody>
                  <a:tcPr marL="54864" marR="54864" marT="27432" marB="27432">
                    <a:solidFill>
                      <a:srgbClr val="1F3864"/>
                    </a:solidFill>
                  </a:tcPr>
                </a:tc>
                <a:tc>
                  <a:txBody>
                    <a:bodyPr/>
                    <a:lstStyle/>
                    <a:p>
                      <a:pPr algn="ctr"/>
                      <a:r>
                        <a:rPr sz="1100" b="1">
                          <a:solidFill>
                            <a:srgbClr val="FFFFFF"/>
                          </a:solidFill>
                          <a:latin typeface="Calibri"/>
                        </a:rPr>
                        <a:t>Output shape</a:t>
                      </a:r>
                    </a:p>
                  </a:txBody>
                  <a:tcPr marL="54864" marR="54864" marT="27432" marB="27432">
                    <a:solidFill>
                      <a:srgbClr val="1F3864"/>
                    </a:solidFill>
                  </a:tcPr>
                </a:tc>
                <a:tc>
                  <a:txBody>
                    <a:bodyPr/>
                    <a:lstStyle/>
                    <a:p>
                      <a:pPr algn="ctr"/>
                      <a:r>
                        <a:rPr sz="1100" b="1">
                          <a:solidFill>
                            <a:srgbClr val="FFFFFF"/>
                          </a:solidFill>
                          <a:latin typeface="Calibri"/>
                        </a:rPr>
                        <a:t>Parameters</a:t>
                      </a:r>
                    </a:p>
                  </a:txBody>
                  <a:tcPr marL="54864" marR="54864" marT="27432" marB="27432">
                    <a:solidFill>
                      <a:srgbClr val="1F3864"/>
                    </a:solidFill>
                  </a:tcPr>
                </a:tc>
                <a:extLst>
                  <a:ext uri="{0D108BD9-81ED-4DB2-BD59-A6C34878D82A}">
                    <a16:rowId xmlns:a16="http://schemas.microsoft.com/office/drawing/2014/main" val="10000"/>
                  </a:ext>
                </a:extLst>
              </a:tr>
              <a:tr h="246888">
                <a:tc>
                  <a:txBody>
                    <a:bodyPr/>
                    <a:lstStyle/>
                    <a:p>
                      <a:pPr algn="l"/>
                      <a:r>
                        <a:rPr sz="1100" b="1">
                          <a:solidFill>
                            <a:srgbClr val="202020"/>
                          </a:solidFill>
                          <a:latin typeface="Calibri"/>
                        </a:rPr>
                        <a:t>Conv1D 32, k = 7 → BN → ReLU → MaxPool 2</a:t>
                      </a:r>
                    </a:p>
                  </a:txBody>
                  <a:tcPr marL="54864" marR="54864" marT="27432" marB="27432">
                    <a:solidFill>
                      <a:srgbClr val="F2F2F2"/>
                    </a:solidFill>
                  </a:tcPr>
                </a:tc>
                <a:tc>
                  <a:txBody>
                    <a:bodyPr/>
                    <a:lstStyle/>
                    <a:p>
                      <a:pPr algn="ctr"/>
                      <a:r>
                        <a:rPr sz="1100" b="0">
                          <a:solidFill>
                            <a:srgbClr val="202020"/>
                          </a:solidFill>
                          <a:latin typeface="Calibri"/>
                        </a:rPr>
                        <a:t>(93, 32)</a:t>
                      </a:r>
                    </a:p>
                  </a:txBody>
                  <a:tcPr marL="54864" marR="54864" marT="27432" marB="27432">
                    <a:solidFill>
                      <a:srgbClr val="F2F2F2"/>
                    </a:solidFill>
                  </a:tcPr>
                </a:tc>
                <a:tc>
                  <a:txBody>
                    <a:bodyPr/>
                    <a:lstStyle/>
                    <a:p>
                      <a:pPr algn="ctr"/>
                      <a:r>
                        <a:rPr sz="1100" b="0">
                          <a:solidFill>
                            <a:srgbClr val="202020"/>
                          </a:solidFill>
                          <a:latin typeface="Calibri"/>
                        </a:rPr>
                        <a:t>256 + 128</a:t>
                      </a:r>
                    </a:p>
                  </a:txBody>
                  <a:tcPr marL="54864" marR="54864" marT="27432" marB="27432">
                    <a:solidFill>
                      <a:srgbClr val="F2F2F2"/>
                    </a:solidFill>
                  </a:tcPr>
                </a:tc>
                <a:extLst>
                  <a:ext uri="{0D108BD9-81ED-4DB2-BD59-A6C34878D82A}">
                    <a16:rowId xmlns:a16="http://schemas.microsoft.com/office/drawing/2014/main" val="10001"/>
                  </a:ext>
                </a:extLst>
              </a:tr>
              <a:tr h="246888">
                <a:tc>
                  <a:txBody>
                    <a:bodyPr/>
                    <a:lstStyle/>
                    <a:p>
                      <a:pPr algn="l"/>
                      <a:r>
                        <a:rPr sz="1100" b="1">
                          <a:solidFill>
                            <a:srgbClr val="202020"/>
                          </a:solidFill>
                          <a:latin typeface="Calibri"/>
                        </a:rPr>
                        <a:t>Conv1D 64, k = 5 → BN → ReLU → MaxPool 2</a:t>
                      </a:r>
                    </a:p>
                  </a:txBody>
                  <a:tcPr marL="54864" marR="54864" marT="27432" marB="27432">
                    <a:solidFill>
                      <a:srgbClr val="FFFFFF"/>
                    </a:solidFill>
                  </a:tcPr>
                </a:tc>
                <a:tc>
                  <a:txBody>
                    <a:bodyPr/>
                    <a:lstStyle/>
                    <a:p>
                      <a:pPr algn="ctr"/>
                      <a:r>
                        <a:rPr sz="1100" b="0">
                          <a:solidFill>
                            <a:srgbClr val="202020"/>
                          </a:solidFill>
                          <a:latin typeface="Calibri"/>
                        </a:rPr>
                        <a:t>(46, 64)</a:t>
                      </a:r>
                    </a:p>
                  </a:txBody>
                  <a:tcPr marL="54864" marR="54864" marT="27432" marB="27432">
                    <a:solidFill>
                      <a:srgbClr val="FFFFFF"/>
                    </a:solidFill>
                  </a:tcPr>
                </a:tc>
                <a:tc>
                  <a:txBody>
                    <a:bodyPr/>
                    <a:lstStyle/>
                    <a:p>
                      <a:pPr algn="ctr"/>
                      <a:r>
                        <a:rPr sz="1100" b="0">
                          <a:solidFill>
                            <a:srgbClr val="202020"/>
                          </a:solidFill>
                          <a:latin typeface="Calibri"/>
                        </a:rPr>
                        <a:t>10,304 + 256</a:t>
                      </a:r>
                    </a:p>
                  </a:txBody>
                  <a:tcPr marL="54864" marR="54864" marT="27432" marB="27432">
                    <a:solidFill>
                      <a:srgbClr val="FFFFFF"/>
                    </a:solidFill>
                  </a:tcPr>
                </a:tc>
                <a:extLst>
                  <a:ext uri="{0D108BD9-81ED-4DB2-BD59-A6C34878D82A}">
                    <a16:rowId xmlns:a16="http://schemas.microsoft.com/office/drawing/2014/main" val="10002"/>
                  </a:ext>
                </a:extLst>
              </a:tr>
              <a:tr h="246888">
                <a:tc>
                  <a:txBody>
                    <a:bodyPr/>
                    <a:lstStyle/>
                    <a:p>
                      <a:pPr algn="l"/>
                      <a:r>
                        <a:rPr sz="1100" b="1">
                          <a:solidFill>
                            <a:srgbClr val="202020"/>
                          </a:solidFill>
                          <a:latin typeface="Calibri"/>
                        </a:rPr>
                        <a:t>Conv1D 128, k = 3 → BN → ReLU (Grad-CAM layer) → MaxPool 2</a:t>
                      </a:r>
                    </a:p>
                  </a:txBody>
                  <a:tcPr marL="54864" marR="54864" marT="27432" marB="27432">
                    <a:solidFill>
                      <a:srgbClr val="F2F2F2"/>
                    </a:solidFill>
                  </a:tcPr>
                </a:tc>
                <a:tc>
                  <a:txBody>
                    <a:bodyPr/>
                    <a:lstStyle/>
                    <a:p>
                      <a:pPr algn="ctr"/>
                      <a:r>
                        <a:rPr sz="1100" b="0">
                          <a:solidFill>
                            <a:srgbClr val="202020"/>
                          </a:solidFill>
                          <a:latin typeface="Calibri"/>
                        </a:rPr>
                        <a:t>(23, 128)</a:t>
                      </a:r>
                    </a:p>
                  </a:txBody>
                  <a:tcPr marL="54864" marR="54864" marT="27432" marB="27432">
                    <a:solidFill>
                      <a:srgbClr val="F2F2F2"/>
                    </a:solidFill>
                  </a:tcPr>
                </a:tc>
                <a:tc>
                  <a:txBody>
                    <a:bodyPr/>
                    <a:lstStyle/>
                    <a:p>
                      <a:pPr algn="ctr"/>
                      <a:r>
                        <a:rPr sz="1100" b="0">
                          <a:solidFill>
                            <a:srgbClr val="202020"/>
                          </a:solidFill>
                          <a:latin typeface="Calibri"/>
                        </a:rPr>
                        <a:t>24,704 + 512</a:t>
                      </a:r>
                    </a:p>
                  </a:txBody>
                  <a:tcPr marL="54864" marR="54864" marT="27432" marB="27432">
                    <a:solidFill>
                      <a:srgbClr val="F2F2F2"/>
                    </a:solidFill>
                  </a:tcPr>
                </a:tc>
                <a:extLst>
                  <a:ext uri="{0D108BD9-81ED-4DB2-BD59-A6C34878D82A}">
                    <a16:rowId xmlns:a16="http://schemas.microsoft.com/office/drawing/2014/main" val="10003"/>
                  </a:ext>
                </a:extLst>
              </a:tr>
              <a:tr h="246888">
                <a:tc>
                  <a:txBody>
                    <a:bodyPr/>
                    <a:lstStyle/>
                    <a:p>
                      <a:pPr algn="l"/>
                      <a:r>
                        <a:rPr sz="1100" b="1">
                          <a:solidFill>
                            <a:srgbClr val="202020"/>
                          </a:solidFill>
                          <a:latin typeface="Calibri"/>
                        </a:rPr>
                        <a:t>Global average pooling → Dense 64, ReLU → Dropout 0.3 → Dense 5, softmax</a:t>
                      </a:r>
                    </a:p>
                  </a:txBody>
                  <a:tcPr marL="54864" marR="54864" marT="27432" marB="27432">
                    <a:solidFill>
                      <a:srgbClr val="FFFFFF"/>
                    </a:solidFill>
                  </a:tcPr>
                </a:tc>
                <a:tc>
                  <a:txBody>
                    <a:bodyPr/>
                    <a:lstStyle/>
                    <a:p>
                      <a:pPr algn="ctr"/>
                      <a:r>
                        <a:rPr sz="1100" b="0">
                          <a:solidFill>
                            <a:srgbClr val="202020"/>
                          </a:solidFill>
                          <a:latin typeface="Calibri"/>
                        </a:rPr>
                        <a:t>(5)</a:t>
                      </a:r>
                    </a:p>
                  </a:txBody>
                  <a:tcPr marL="54864" marR="54864" marT="27432" marB="27432">
                    <a:solidFill>
                      <a:srgbClr val="FFFFFF"/>
                    </a:solidFill>
                  </a:tcPr>
                </a:tc>
                <a:tc>
                  <a:txBody>
                    <a:bodyPr/>
                    <a:lstStyle/>
                    <a:p>
                      <a:pPr algn="ctr"/>
                      <a:r>
                        <a:rPr sz="1100" b="0">
                          <a:solidFill>
                            <a:srgbClr val="202020"/>
                          </a:solidFill>
                          <a:latin typeface="Calibri"/>
                        </a:rPr>
                        <a:t>8,256 + 325</a:t>
                      </a:r>
                    </a:p>
                  </a:txBody>
                  <a:tcPr marL="54864" marR="54864" marT="27432" marB="27432">
                    <a:solidFill>
                      <a:srgbClr val="FFFFFF"/>
                    </a:solidFill>
                  </a:tcPr>
                </a:tc>
                <a:extLst>
                  <a:ext uri="{0D108BD9-81ED-4DB2-BD59-A6C34878D82A}">
                    <a16:rowId xmlns:a16="http://schemas.microsoft.com/office/drawing/2014/main" val="10004"/>
                  </a:ext>
                </a:extLst>
              </a:tr>
              <a:tr h="246888">
                <a:tc>
                  <a:txBody>
                    <a:bodyPr/>
                    <a:lstStyle/>
                    <a:p>
                      <a:pPr algn="l"/>
                      <a:r>
                        <a:rPr sz="1100" b="1">
                          <a:solidFill>
                            <a:srgbClr val="202020"/>
                          </a:solidFill>
                          <a:latin typeface="Calibri"/>
                        </a:rPr>
                        <a:t>Total</a:t>
                      </a:r>
                    </a:p>
                  </a:txBody>
                  <a:tcPr marL="54864" marR="54864" marT="27432" marB="27432">
                    <a:solidFill>
                      <a:srgbClr val="FCE4D6"/>
                    </a:solidFill>
                  </a:tcPr>
                </a:tc>
                <a:tc>
                  <a:txBody>
                    <a:bodyPr/>
                    <a:lstStyle/>
                    <a:p>
                      <a:pPr algn="ctr"/>
                      <a:endParaRPr/>
                    </a:p>
                  </a:txBody>
                  <a:tcPr marL="54864" marR="54864" marT="27432" marB="27432">
                    <a:solidFill>
                      <a:srgbClr val="FCE4D6"/>
                    </a:solidFill>
                  </a:tcPr>
                </a:tc>
                <a:tc>
                  <a:txBody>
                    <a:bodyPr/>
                    <a:lstStyle/>
                    <a:p>
                      <a:pPr algn="ctr"/>
                      <a:r>
                        <a:rPr sz="1100" b="1">
                          <a:solidFill>
                            <a:srgbClr val="202020"/>
                          </a:solidFill>
                          <a:latin typeface="Calibri"/>
                        </a:rPr>
                        <a:t>44,741</a:t>
                      </a:r>
                    </a:p>
                  </a:txBody>
                  <a:tcPr marL="54864" marR="54864" marT="27432" marB="27432">
                    <a:solidFill>
                      <a:srgbClr val="FCE4D6"/>
                    </a:solidFill>
                  </a:tcPr>
                </a:tc>
                <a:extLst>
                  <a:ext uri="{0D108BD9-81ED-4DB2-BD59-A6C34878D82A}">
                    <a16:rowId xmlns:a16="http://schemas.microsoft.com/office/drawing/2014/main" val="10005"/>
                  </a:ext>
                </a:extLst>
              </a:tr>
            </a:tbl>
          </a:graphicData>
        </a:graphic>
      </p:graphicFrame>
      <p:sp>
        <p:nvSpPr>
          <p:cNvPr id="17" name="Rectangle 16"/>
          <p:cNvSpPr/>
          <p:nvPr/>
        </p:nvSpPr>
        <p:spPr>
          <a:xfrm>
            <a:off x="502920" y="3108960"/>
            <a:ext cx="64008" cy="18288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3154679"/>
            <a:ext cx="2423160" cy="320040"/>
          </a:xfrm>
          <a:prstGeom prst="rect">
            <a:avLst/>
          </a:prstGeom>
          <a:noFill/>
        </p:spPr>
        <p:txBody>
          <a:bodyPr wrap="square" lIns="0" tIns="0" rIns="0" bIns="0">
            <a:spAutoFit/>
          </a:bodyPr>
          <a:lstStyle/>
          <a:p>
            <a:pPr algn="l"/>
            <a:r>
              <a:rPr sz="1300" b="1" i="0">
                <a:solidFill>
                  <a:srgbClr val="1F3864"/>
                </a:solidFill>
                <a:latin typeface="Calibri"/>
              </a:rPr>
              <a:t>Residual CNN (V2 final)</a:t>
            </a:r>
          </a:p>
        </p:txBody>
      </p:sp>
      <p:sp>
        <p:nvSpPr>
          <p:cNvPr id="19" name="TextBox 18"/>
          <p:cNvSpPr txBox="1"/>
          <p:nvPr/>
        </p:nvSpPr>
        <p:spPr>
          <a:xfrm>
            <a:off x="667512" y="3493008"/>
            <a:ext cx="2423160" cy="141732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Conv 32 (k 7) stem + 3 residual blocks (32, 64, 128); each: two Conv1D (k 5) + BN with a shortcut (1×1 conv when channels change). 185,477 parameters.</a:t>
            </a:r>
          </a:p>
        </p:txBody>
      </p:sp>
      <p:sp>
        <p:nvSpPr>
          <p:cNvPr id="20" name="Rectangle 19"/>
          <p:cNvSpPr/>
          <p:nvPr/>
        </p:nvSpPr>
        <p:spPr>
          <a:xfrm>
            <a:off x="3291840" y="3108960"/>
            <a:ext cx="64008" cy="1828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56432" y="3154679"/>
            <a:ext cx="2423160" cy="320040"/>
          </a:xfrm>
          <a:prstGeom prst="rect">
            <a:avLst/>
          </a:prstGeom>
          <a:noFill/>
        </p:spPr>
        <p:txBody>
          <a:bodyPr wrap="square" lIns="0" tIns="0" rIns="0" bIns="0">
            <a:spAutoFit/>
          </a:bodyPr>
          <a:lstStyle/>
          <a:p>
            <a:pPr algn="l"/>
            <a:r>
              <a:rPr sz="1300" b="1" i="0">
                <a:solidFill>
                  <a:srgbClr val="ED7D31"/>
                </a:solidFill>
                <a:latin typeface="Calibri"/>
              </a:rPr>
              <a:t>Proposed: CNN-LSTM + RR</a:t>
            </a:r>
          </a:p>
        </p:txBody>
      </p:sp>
      <p:sp>
        <p:nvSpPr>
          <p:cNvPr id="22" name="TextBox 21"/>
          <p:cNvSpPr txBox="1"/>
          <p:nvPr/>
        </p:nvSpPr>
        <p:spPr>
          <a:xfrm>
            <a:off x="3456432" y="3493008"/>
            <a:ext cx="2423160" cy="141732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Same conv front end → LSTM (64); last hidden state + previous / next RR (÷ record mean RR) → Dense 64 → softmax over N, S, V, F.</a:t>
            </a:r>
          </a:p>
        </p:txBody>
      </p:sp>
      <p:sp>
        <p:nvSpPr>
          <p:cNvPr id="23" name="Rectangle 22"/>
          <p:cNvSpPr/>
          <p:nvPr/>
        </p:nvSpPr>
        <p:spPr>
          <a:xfrm>
            <a:off x="6080760" y="3108960"/>
            <a:ext cx="64008" cy="182880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2" y="3154679"/>
            <a:ext cx="2423160" cy="320040"/>
          </a:xfrm>
          <a:prstGeom prst="rect">
            <a:avLst/>
          </a:prstGeom>
          <a:noFill/>
        </p:spPr>
        <p:txBody>
          <a:bodyPr wrap="square" lIns="0" tIns="0" rIns="0" bIns="0">
            <a:spAutoFit/>
          </a:bodyPr>
          <a:lstStyle/>
          <a:p>
            <a:pPr algn="l"/>
            <a:r>
              <a:rPr sz="1300" b="1" i="0">
                <a:solidFill>
                  <a:srgbClr val="548235"/>
                </a:solidFill>
                <a:latin typeface="Calibri"/>
              </a:rPr>
              <a:t>Explainability</a:t>
            </a:r>
          </a:p>
        </p:txBody>
      </p:sp>
      <p:sp>
        <p:nvSpPr>
          <p:cNvPr id="25" name="TextBox 24"/>
          <p:cNvSpPr txBox="1"/>
          <p:nvPr/>
        </p:nvSpPr>
        <p:spPr>
          <a:xfrm>
            <a:off x="6245352" y="3493008"/>
            <a:ext cx="2423160" cy="141732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Grad-CAM [8] on the last conv activation (46 steps → 187 samples). Gradient SHAP [9] planned. Measures: region share, deletion test, stability.</a:t>
            </a:r>
          </a:p>
        </p:txBody>
      </p:sp>
      <p:sp>
        <p:nvSpPr>
          <p:cNvPr id="26" name="TextBox 25"/>
          <p:cNvSpPr txBox="1"/>
          <p:nvPr/>
        </p:nvSpPr>
        <p:spPr>
          <a:xfrm>
            <a:off x="502920" y="5257800"/>
            <a:ext cx="8138160" cy="548640"/>
          </a:xfrm>
          <a:prstGeom prst="rect">
            <a:avLst/>
          </a:prstGeom>
          <a:noFill/>
        </p:spPr>
        <p:txBody>
          <a:bodyPr wrap="square" lIns="0" tIns="0" rIns="0" bIns="0">
            <a:spAutoFit/>
          </a:bodyPr>
          <a:lstStyle/>
          <a:p>
            <a:pPr algn="l">
              <a:spcAft>
                <a:spcPts val="300"/>
              </a:spcAft>
            </a:pPr>
            <a:r>
              <a:rPr sz="1150" b="1" i="0">
                <a:solidFill>
                  <a:srgbClr val="202020"/>
                </a:solidFill>
                <a:latin typeface="Calibri"/>
              </a:rPr>
              <a:t>Key design choices: </a:t>
            </a:r>
            <a:r>
              <a:rPr sz="1150" b="0" i="0">
                <a:solidFill>
                  <a:srgbClr val="202020"/>
                </a:solidFill>
                <a:latin typeface="Calibri"/>
              </a:rPr>
              <a:t>square-root class weights (F:N 10.6:1 instead of 113:1); best epoch chosen on validation macro F1; per-class probability thresholds tuned on validation.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Experimental Setup</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502920" y="1005840"/>
          <a:ext cx="7818120" cy="148132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777240">
                  <a:extLst>
                    <a:ext uri="{9D8B030D-6E8A-4147-A177-3AD203B41FA5}">
                      <a16:colId xmlns:a16="http://schemas.microsoft.com/office/drawing/2014/main" val="20007"/>
                    </a:ext>
                  </a:extLst>
                </a:gridCol>
              </a:tblGrid>
              <a:tr h="246888">
                <a:tc>
                  <a:txBody>
                    <a:bodyPr/>
                    <a:lstStyle/>
                    <a:p>
                      <a:pPr algn="l"/>
                      <a:r>
                        <a:rPr sz="1050" b="1">
                          <a:solidFill>
                            <a:srgbClr val="FFFFFF"/>
                          </a:solidFill>
                          <a:latin typeface="Calibri"/>
                        </a:rPr>
                        <a:t>ID</a:t>
                      </a:r>
                    </a:p>
                  </a:txBody>
                  <a:tcPr marL="54864" marR="54864" marT="27432" marB="27432">
                    <a:solidFill>
                      <a:srgbClr val="1F3864"/>
                    </a:solidFill>
                  </a:tcPr>
                </a:tc>
                <a:tc>
                  <a:txBody>
                    <a:bodyPr/>
                    <a:lstStyle/>
                    <a:p>
                      <a:pPr algn="l"/>
                      <a:r>
                        <a:rPr sz="1050" b="1">
                          <a:solidFill>
                            <a:srgbClr val="FFFFFF"/>
                          </a:solidFill>
                          <a:latin typeface="Calibri"/>
                        </a:rPr>
                        <a:t>Change added (cumulative)</a:t>
                      </a:r>
                    </a:p>
                  </a:txBody>
                  <a:tcPr marL="54864" marR="54864" marT="27432" marB="27432">
                    <a:solidFill>
                      <a:srgbClr val="1F3864"/>
                    </a:solidFill>
                  </a:tcPr>
                </a:tc>
                <a:tc>
                  <a:txBody>
                    <a:bodyPr/>
                    <a:lstStyle/>
                    <a:p>
                      <a:pPr algn="ctr"/>
                      <a:r>
                        <a:rPr sz="1050" b="1">
                          <a:solidFill>
                            <a:srgbClr val="FFFFFF"/>
                          </a:solidFill>
                          <a:latin typeface="Calibri"/>
                        </a:rPr>
                        <a:t>Network</a:t>
                      </a:r>
                    </a:p>
                  </a:txBody>
                  <a:tcPr marL="54864" marR="54864" marT="27432" marB="27432">
                    <a:solidFill>
                      <a:srgbClr val="1F3864"/>
                    </a:solidFill>
                  </a:tcPr>
                </a:tc>
                <a:tc>
                  <a:txBody>
                    <a:bodyPr/>
                    <a:lstStyle/>
                    <a:p>
                      <a:pPr algn="ctr"/>
                      <a:r>
                        <a:rPr sz="1050" b="1">
                          <a:solidFill>
                            <a:srgbClr val="FFFFFF"/>
                          </a:solidFill>
                          <a:latin typeface="Calibri"/>
                        </a:rPr>
                        <a:t>LR</a:t>
                      </a:r>
                    </a:p>
                  </a:txBody>
                  <a:tcPr marL="54864" marR="54864" marT="27432" marB="27432">
                    <a:solidFill>
                      <a:srgbClr val="1F3864"/>
                    </a:solidFill>
                  </a:tcPr>
                </a:tc>
                <a:tc>
                  <a:txBody>
                    <a:bodyPr/>
                    <a:lstStyle/>
                    <a:p>
                      <a:pPr algn="ctr"/>
                      <a:r>
                        <a:rPr sz="1050" b="1">
                          <a:solidFill>
                            <a:srgbClr val="FFFFFF"/>
                          </a:solidFill>
                          <a:latin typeface="Calibri"/>
                        </a:rPr>
                        <a:t>Clip norm</a:t>
                      </a:r>
                    </a:p>
                  </a:txBody>
                  <a:tcPr marL="54864" marR="54864" marT="27432" marB="27432">
                    <a:solidFill>
                      <a:srgbClr val="1F3864"/>
                    </a:solidFill>
                  </a:tcPr>
                </a:tc>
                <a:tc>
                  <a:txBody>
                    <a:bodyPr/>
                    <a:lstStyle/>
                    <a:p>
                      <a:pPr algn="ctr"/>
                      <a:r>
                        <a:rPr sz="1050" b="1">
                          <a:solidFill>
                            <a:srgbClr val="FFFFFF"/>
                          </a:solidFill>
                          <a:latin typeface="Calibri"/>
                        </a:rPr>
                        <a:t>BN mom.</a:t>
                      </a:r>
                    </a:p>
                  </a:txBody>
                  <a:tcPr marL="54864" marR="54864" marT="27432" marB="27432">
                    <a:solidFill>
                      <a:srgbClr val="1F3864"/>
                    </a:solidFill>
                  </a:tcPr>
                </a:tc>
                <a:tc>
                  <a:txBody>
                    <a:bodyPr/>
                    <a:lstStyle/>
                    <a:p>
                      <a:pPr algn="ctr"/>
                      <a:r>
                        <a:rPr sz="1050" b="1">
                          <a:solidFill>
                            <a:srgbClr val="FFFFFF"/>
                          </a:solidFill>
                          <a:latin typeface="Calibri"/>
                        </a:rPr>
                        <a:t>Class weights</a:t>
                      </a:r>
                    </a:p>
                  </a:txBody>
                  <a:tcPr marL="54864" marR="54864" marT="27432" marB="27432">
                    <a:solidFill>
                      <a:srgbClr val="1F3864"/>
                    </a:solidFill>
                  </a:tcPr>
                </a:tc>
                <a:tc>
                  <a:txBody>
                    <a:bodyPr/>
                    <a:lstStyle/>
                    <a:p>
                      <a:pPr algn="ctr"/>
                      <a:r>
                        <a:rPr sz="1050" b="1">
                          <a:solidFill>
                            <a:srgbClr val="FFFFFF"/>
                          </a:solidFill>
                          <a:latin typeface="Calibri"/>
                        </a:rPr>
                        <a:t>Augment.</a:t>
                      </a:r>
                    </a:p>
                  </a:txBody>
                  <a:tcPr marL="54864" marR="54864" marT="27432" marB="27432">
                    <a:solidFill>
                      <a:srgbClr val="1F3864"/>
                    </a:solidFill>
                  </a:tcPr>
                </a:tc>
                <a:extLst>
                  <a:ext uri="{0D108BD9-81ED-4DB2-BD59-A6C34878D82A}">
                    <a16:rowId xmlns:a16="http://schemas.microsoft.com/office/drawing/2014/main" val="10000"/>
                  </a:ext>
                </a:extLst>
              </a:tr>
              <a:tr h="246888">
                <a:tc>
                  <a:txBody>
                    <a:bodyPr/>
                    <a:lstStyle/>
                    <a:p>
                      <a:pPr algn="l"/>
                      <a:r>
                        <a:rPr sz="1050" b="1">
                          <a:solidFill>
                            <a:srgbClr val="202020"/>
                          </a:solidFill>
                          <a:latin typeface="Calibri"/>
                        </a:rPr>
                        <a:t>E1</a:t>
                      </a:r>
                    </a:p>
                  </a:txBody>
                  <a:tcPr marL="54864" marR="54864" marT="27432" marB="27432">
                    <a:solidFill>
                      <a:srgbClr val="F2F2F2"/>
                    </a:solidFill>
                  </a:tcPr>
                </a:tc>
                <a:tc>
                  <a:txBody>
                    <a:bodyPr/>
                    <a:lstStyle/>
                    <a:p>
                      <a:pPr algn="l"/>
                      <a:r>
                        <a:rPr sz="1050" b="0">
                          <a:solidFill>
                            <a:srgbClr val="202020"/>
                          </a:solidFill>
                          <a:latin typeface="Calibri"/>
                        </a:rPr>
                        <a:t>Epoch chosen on val. macro F1</a:t>
                      </a:r>
                    </a:p>
                  </a:txBody>
                  <a:tcPr marL="54864" marR="54864" marT="27432" marB="27432">
                    <a:solidFill>
                      <a:srgbClr val="F2F2F2"/>
                    </a:solidFill>
                  </a:tcPr>
                </a:tc>
                <a:tc>
                  <a:txBody>
                    <a:bodyPr/>
                    <a:lstStyle/>
                    <a:p>
                      <a:pPr algn="ctr"/>
                      <a:r>
                        <a:rPr sz="1050" b="0">
                          <a:solidFill>
                            <a:srgbClr val="202020"/>
                          </a:solidFill>
                          <a:latin typeface="Calibri"/>
                        </a:rPr>
                        <a:t>CNN</a:t>
                      </a:r>
                    </a:p>
                  </a:txBody>
                  <a:tcPr marL="54864" marR="54864" marT="27432" marB="27432">
                    <a:solidFill>
                      <a:srgbClr val="F2F2F2"/>
                    </a:solidFill>
                  </a:tcPr>
                </a:tc>
                <a:tc>
                  <a:txBody>
                    <a:bodyPr/>
                    <a:lstStyle/>
                    <a:p>
                      <a:pPr algn="ctr"/>
                      <a:r>
                        <a:rPr sz="1050" b="0">
                          <a:solidFill>
                            <a:srgbClr val="202020"/>
                          </a:solidFill>
                          <a:latin typeface="Calibri"/>
                        </a:rPr>
                        <a:t>1×10⁻³</a:t>
                      </a:r>
                    </a:p>
                  </a:txBody>
                  <a:tcPr marL="54864" marR="54864" marT="27432" marB="27432">
                    <a:solidFill>
                      <a:srgbClr val="F2F2F2"/>
                    </a:solidFill>
                  </a:tcPr>
                </a:tc>
                <a:tc>
                  <a:txBody>
                    <a:bodyPr/>
                    <a:lstStyle/>
                    <a:p>
                      <a:pPr algn="ctr"/>
                      <a:r>
                        <a:rPr sz="1050" b="0">
                          <a:solidFill>
                            <a:srgbClr val="202020"/>
                          </a:solidFill>
                          <a:latin typeface="Calibri"/>
                        </a:rPr>
                        <a:t>–</a:t>
                      </a:r>
                    </a:p>
                  </a:txBody>
                  <a:tcPr marL="54864" marR="54864" marT="27432" marB="27432">
                    <a:solidFill>
                      <a:srgbClr val="F2F2F2"/>
                    </a:solidFill>
                  </a:tcPr>
                </a:tc>
                <a:tc>
                  <a:txBody>
                    <a:bodyPr/>
                    <a:lstStyle/>
                    <a:p>
                      <a:pPr algn="ctr"/>
                      <a:r>
                        <a:rPr sz="1050" b="0">
                          <a:solidFill>
                            <a:srgbClr val="202020"/>
                          </a:solidFill>
                          <a:latin typeface="Calibri"/>
                        </a:rPr>
                        <a:t>0.99</a:t>
                      </a:r>
                    </a:p>
                  </a:txBody>
                  <a:tcPr marL="54864" marR="54864" marT="27432" marB="27432">
                    <a:solidFill>
                      <a:srgbClr val="F2F2F2"/>
                    </a:solidFill>
                  </a:tcPr>
                </a:tc>
                <a:tc>
                  <a:txBody>
                    <a:bodyPr/>
                    <a:lstStyle/>
                    <a:p>
                      <a:pPr algn="ctr"/>
                      <a:r>
                        <a:rPr sz="1050" b="0">
                          <a:solidFill>
                            <a:srgbClr val="202020"/>
                          </a:solidFill>
                          <a:latin typeface="Calibri"/>
                        </a:rPr>
                        <a:t>Balanced</a:t>
                      </a:r>
                    </a:p>
                  </a:txBody>
                  <a:tcPr marL="54864" marR="54864" marT="27432" marB="27432">
                    <a:solidFill>
                      <a:srgbClr val="F2F2F2"/>
                    </a:solidFill>
                  </a:tcPr>
                </a:tc>
                <a:tc>
                  <a:txBody>
                    <a:bodyPr/>
                    <a:lstStyle/>
                    <a:p>
                      <a:pPr algn="ctr"/>
                      <a:r>
                        <a:rPr sz="1050" b="0">
                          <a:solidFill>
                            <a:srgbClr val="202020"/>
                          </a:solidFill>
                          <a:latin typeface="Calibri"/>
                        </a:rPr>
                        <a:t>No</a:t>
                      </a:r>
                    </a:p>
                  </a:txBody>
                  <a:tcPr marL="54864" marR="54864" marT="27432" marB="27432">
                    <a:solidFill>
                      <a:srgbClr val="F2F2F2"/>
                    </a:solidFill>
                  </a:tcPr>
                </a:tc>
                <a:extLst>
                  <a:ext uri="{0D108BD9-81ED-4DB2-BD59-A6C34878D82A}">
                    <a16:rowId xmlns:a16="http://schemas.microsoft.com/office/drawing/2014/main" val="10001"/>
                  </a:ext>
                </a:extLst>
              </a:tr>
              <a:tr h="246888">
                <a:tc>
                  <a:txBody>
                    <a:bodyPr/>
                    <a:lstStyle/>
                    <a:p>
                      <a:pPr algn="l"/>
                      <a:r>
                        <a:rPr sz="1050" b="1">
                          <a:solidFill>
                            <a:srgbClr val="202020"/>
                          </a:solidFill>
                          <a:latin typeface="Calibri"/>
                        </a:rPr>
                        <a:t>E2</a:t>
                      </a:r>
                    </a:p>
                  </a:txBody>
                  <a:tcPr marL="54864" marR="54864" marT="27432" marB="27432">
                    <a:solidFill>
                      <a:srgbClr val="FFFFFF"/>
                    </a:solidFill>
                  </a:tcPr>
                </a:tc>
                <a:tc>
                  <a:txBody>
                    <a:bodyPr/>
                    <a:lstStyle/>
                    <a:p>
                      <a:pPr algn="l"/>
                      <a:r>
                        <a:rPr sz="1050" b="0">
                          <a:solidFill>
                            <a:srgbClr val="202020"/>
                          </a:solidFill>
                          <a:latin typeface="Calibri"/>
                        </a:rPr>
                        <a:t>+ lower LR, clipping, BN 0.9</a:t>
                      </a:r>
                    </a:p>
                  </a:txBody>
                  <a:tcPr marL="54864" marR="54864" marT="27432" marB="27432">
                    <a:solidFill>
                      <a:srgbClr val="FFFFFF"/>
                    </a:solidFill>
                  </a:tcPr>
                </a:tc>
                <a:tc>
                  <a:txBody>
                    <a:bodyPr/>
                    <a:lstStyle/>
                    <a:p>
                      <a:pPr algn="ctr"/>
                      <a:r>
                        <a:rPr sz="1050" b="0">
                          <a:solidFill>
                            <a:srgbClr val="202020"/>
                          </a:solidFill>
                          <a:latin typeface="Calibri"/>
                        </a:rPr>
                        <a:t>CNN</a:t>
                      </a:r>
                    </a:p>
                  </a:txBody>
                  <a:tcPr marL="54864" marR="54864" marT="27432" marB="27432">
                    <a:solidFill>
                      <a:srgbClr val="FFFFFF"/>
                    </a:solidFill>
                  </a:tcPr>
                </a:tc>
                <a:tc>
                  <a:txBody>
                    <a:bodyPr/>
                    <a:lstStyle/>
                    <a:p>
                      <a:pPr algn="ctr"/>
                      <a:r>
                        <a:rPr sz="1050" b="0">
                          <a:solidFill>
                            <a:srgbClr val="202020"/>
                          </a:solidFill>
                          <a:latin typeface="Calibri"/>
                        </a:rPr>
                        <a:t>5×10⁻⁴</a:t>
                      </a:r>
                    </a:p>
                  </a:txBody>
                  <a:tcPr marL="54864" marR="54864" marT="27432" marB="27432">
                    <a:solidFill>
                      <a:srgbClr val="FFFFFF"/>
                    </a:solidFill>
                  </a:tcPr>
                </a:tc>
                <a:tc>
                  <a:txBody>
                    <a:bodyPr/>
                    <a:lstStyle/>
                    <a:p>
                      <a:pPr algn="ctr"/>
                      <a:r>
                        <a:rPr sz="1050" b="0">
                          <a:solidFill>
                            <a:srgbClr val="202020"/>
                          </a:solidFill>
                          <a:latin typeface="Calibri"/>
                        </a:rPr>
                        <a:t>1.0</a:t>
                      </a:r>
                    </a:p>
                  </a:txBody>
                  <a:tcPr marL="54864" marR="54864" marT="27432" marB="27432">
                    <a:solidFill>
                      <a:srgbClr val="FFFFFF"/>
                    </a:solidFill>
                  </a:tcPr>
                </a:tc>
                <a:tc>
                  <a:txBody>
                    <a:bodyPr/>
                    <a:lstStyle/>
                    <a:p>
                      <a:pPr algn="ctr"/>
                      <a:r>
                        <a:rPr sz="1050" b="0">
                          <a:solidFill>
                            <a:srgbClr val="202020"/>
                          </a:solidFill>
                          <a:latin typeface="Calibri"/>
                        </a:rPr>
                        <a:t>0.9</a:t>
                      </a:r>
                    </a:p>
                  </a:txBody>
                  <a:tcPr marL="54864" marR="54864" marT="27432" marB="27432">
                    <a:solidFill>
                      <a:srgbClr val="FFFFFF"/>
                    </a:solidFill>
                  </a:tcPr>
                </a:tc>
                <a:tc>
                  <a:txBody>
                    <a:bodyPr/>
                    <a:lstStyle/>
                    <a:p>
                      <a:pPr algn="ctr"/>
                      <a:r>
                        <a:rPr sz="1050" b="0">
                          <a:solidFill>
                            <a:srgbClr val="202020"/>
                          </a:solidFill>
                          <a:latin typeface="Calibri"/>
                        </a:rPr>
                        <a:t>Balanced</a:t>
                      </a:r>
                    </a:p>
                  </a:txBody>
                  <a:tcPr marL="54864" marR="54864" marT="27432" marB="27432">
                    <a:solidFill>
                      <a:srgbClr val="FFFFFF"/>
                    </a:solidFill>
                  </a:tcPr>
                </a:tc>
                <a:tc>
                  <a:txBody>
                    <a:bodyPr/>
                    <a:lstStyle/>
                    <a:p>
                      <a:pPr algn="ctr"/>
                      <a:r>
                        <a:rPr sz="1050" b="0">
                          <a:solidFill>
                            <a:srgbClr val="202020"/>
                          </a:solidFill>
                          <a:latin typeface="Calibri"/>
                        </a:rPr>
                        <a:t>No</a:t>
                      </a:r>
                    </a:p>
                  </a:txBody>
                  <a:tcPr marL="54864" marR="54864" marT="27432" marB="27432">
                    <a:solidFill>
                      <a:srgbClr val="FFFFFF"/>
                    </a:solidFill>
                  </a:tcPr>
                </a:tc>
                <a:extLst>
                  <a:ext uri="{0D108BD9-81ED-4DB2-BD59-A6C34878D82A}">
                    <a16:rowId xmlns:a16="http://schemas.microsoft.com/office/drawing/2014/main" val="10002"/>
                  </a:ext>
                </a:extLst>
              </a:tr>
              <a:tr h="246888">
                <a:tc>
                  <a:txBody>
                    <a:bodyPr/>
                    <a:lstStyle/>
                    <a:p>
                      <a:pPr algn="l"/>
                      <a:r>
                        <a:rPr sz="1050" b="1">
                          <a:solidFill>
                            <a:srgbClr val="202020"/>
                          </a:solidFill>
                          <a:latin typeface="Calibri"/>
                        </a:rPr>
                        <a:t>E3</a:t>
                      </a:r>
                    </a:p>
                  </a:txBody>
                  <a:tcPr marL="54864" marR="54864" marT="27432" marB="27432">
                    <a:solidFill>
                      <a:srgbClr val="F2F2F2"/>
                    </a:solidFill>
                  </a:tcPr>
                </a:tc>
                <a:tc>
                  <a:txBody>
                    <a:bodyPr/>
                    <a:lstStyle/>
                    <a:p>
                      <a:pPr algn="l"/>
                      <a:r>
                        <a:rPr sz="1050" b="0">
                          <a:solidFill>
                            <a:srgbClr val="202020"/>
                          </a:solidFill>
                          <a:latin typeface="Calibri"/>
                        </a:rPr>
                        <a:t>+ square-root class weights</a:t>
                      </a:r>
                    </a:p>
                  </a:txBody>
                  <a:tcPr marL="54864" marR="54864" marT="27432" marB="27432">
                    <a:solidFill>
                      <a:srgbClr val="F2F2F2"/>
                    </a:solidFill>
                  </a:tcPr>
                </a:tc>
                <a:tc>
                  <a:txBody>
                    <a:bodyPr/>
                    <a:lstStyle/>
                    <a:p>
                      <a:pPr algn="ctr"/>
                      <a:r>
                        <a:rPr sz="1050" b="0">
                          <a:solidFill>
                            <a:srgbClr val="202020"/>
                          </a:solidFill>
                          <a:latin typeface="Calibri"/>
                        </a:rPr>
                        <a:t>CNN</a:t>
                      </a:r>
                    </a:p>
                  </a:txBody>
                  <a:tcPr marL="54864" marR="54864" marT="27432" marB="27432">
                    <a:solidFill>
                      <a:srgbClr val="F2F2F2"/>
                    </a:solidFill>
                  </a:tcPr>
                </a:tc>
                <a:tc>
                  <a:txBody>
                    <a:bodyPr/>
                    <a:lstStyle/>
                    <a:p>
                      <a:pPr algn="ctr"/>
                      <a:r>
                        <a:rPr sz="1050" b="0">
                          <a:solidFill>
                            <a:srgbClr val="202020"/>
                          </a:solidFill>
                          <a:latin typeface="Calibri"/>
                        </a:rPr>
                        <a:t>5×10⁻⁴</a:t>
                      </a:r>
                    </a:p>
                  </a:txBody>
                  <a:tcPr marL="54864" marR="54864" marT="27432" marB="27432">
                    <a:solidFill>
                      <a:srgbClr val="F2F2F2"/>
                    </a:solidFill>
                  </a:tcPr>
                </a:tc>
                <a:tc>
                  <a:txBody>
                    <a:bodyPr/>
                    <a:lstStyle/>
                    <a:p>
                      <a:pPr algn="ctr"/>
                      <a:r>
                        <a:rPr sz="1050" b="0">
                          <a:solidFill>
                            <a:srgbClr val="202020"/>
                          </a:solidFill>
                          <a:latin typeface="Calibri"/>
                        </a:rPr>
                        <a:t>1.0</a:t>
                      </a:r>
                    </a:p>
                  </a:txBody>
                  <a:tcPr marL="54864" marR="54864" marT="27432" marB="27432">
                    <a:solidFill>
                      <a:srgbClr val="F2F2F2"/>
                    </a:solidFill>
                  </a:tcPr>
                </a:tc>
                <a:tc>
                  <a:txBody>
                    <a:bodyPr/>
                    <a:lstStyle/>
                    <a:p>
                      <a:pPr algn="ctr"/>
                      <a:r>
                        <a:rPr sz="1050" b="0">
                          <a:solidFill>
                            <a:srgbClr val="202020"/>
                          </a:solidFill>
                          <a:latin typeface="Calibri"/>
                        </a:rPr>
                        <a:t>0.9</a:t>
                      </a:r>
                    </a:p>
                  </a:txBody>
                  <a:tcPr marL="54864" marR="54864" marT="27432" marB="27432">
                    <a:solidFill>
                      <a:srgbClr val="F2F2F2"/>
                    </a:solidFill>
                  </a:tcPr>
                </a:tc>
                <a:tc>
                  <a:txBody>
                    <a:bodyPr/>
                    <a:lstStyle/>
                    <a:p>
                      <a:pPr algn="ctr"/>
                      <a:r>
                        <a:rPr sz="1050" b="0">
                          <a:solidFill>
                            <a:srgbClr val="202020"/>
                          </a:solidFill>
                          <a:latin typeface="Calibri"/>
                        </a:rPr>
                        <a:t>Square-root</a:t>
                      </a:r>
                    </a:p>
                  </a:txBody>
                  <a:tcPr marL="54864" marR="54864" marT="27432" marB="27432">
                    <a:solidFill>
                      <a:srgbClr val="F2F2F2"/>
                    </a:solidFill>
                  </a:tcPr>
                </a:tc>
                <a:tc>
                  <a:txBody>
                    <a:bodyPr/>
                    <a:lstStyle/>
                    <a:p>
                      <a:pPr algn="ctr"/>
                      <a:r>
                        <a:rPr sz="1050" b="0">
                          <a:solidFill>
                            <a:srgbClr val="202020"/>
                          </a:solidFill>
                          <a:latin typeface="Calibri"/>
                        </a:rPr>
                        <a:t>No</a:t>
                      </a:r>
                    </a:p>
                  </a:txBody>
                  <a:tcPr marL="54864" marR="54864" marT="27432" marB="27432">
                    <a:solidFill>
                      <a:srgbClr val="F2F2F2"/>
                    </a:solidFill>
                  </a:tcPr>
                </a:tc>
                <a:extLst>
                  <a:ext uri="{0D108BD9-81ED-4DB2-BD59-A6C34878D82A}">
                    <a16:rowId xmlns:a16="http://schemas.microsoft.com/office/drawing/2014/main" val="10003"/>
                  </a:ext>
                </a:extLst>
              </a:tr>
              <a:tr h="246888">
                <a:tc>
                  <a:txBody>
                    <a:bodyPr/>
                    <a:lstStyle/>
                    <a:p>
                      <a:pPr algn="l"/>
                      <a:r>
                        <a:rPr sz="1050" b="1">
                          <a:solidFill>
                            <a:srgbClr val="202020"/>
                          </a:solidFill>
                          <a:latin typeface="Calibri"/>
                        </a:rPr>
                        <a:t>E4</a:t>
                      </a:r>
                    </a:p>
                  </a:txBody>
                  <a:tcPr marL="54864" marR="54864" marT="27432" marB="27432">
                    <a:solidFill>
                      <a:srgbClr val="FFFFFF"/>
                    </a:solidFill>
                  </a:tcPr>
                </a:tc>
                <a:tc>
                  <a:txBody>
                    <a:bodyPr/>
                    <a:lstStyle/>
                    <a:p>
                      <a:pPr algn="l"/>
                      <a:r>
                        <a:rPr sz="1050" b="0">
                          <a:solidFill>
                            <a:srgbClr val="202020"/>
                          </a:solidFill>
                          <a:latin typeface="Calibri"/>
                        </a:rPr>
                        <a:t>+ light augmentation</a:t>
                      </a:r>
                    </a:p>
                  </a:txBody>
                  <a:tcPr marL="54864" marR="54864" marT="27432" marB="27432">
                    <a:solidFill>
                      <a:srgbClr val="FFFFFF"/>
                    </a:solidFill>
                  </a:tcPr>
                </a:tc>
                <a:tc>
                  <a:txBody>
                    <a:bodyPr/>
                    <a:lstStyle/>
                    <a:p>
                      <a:pPr algn="ctr"/>
                      <a:r>
                        <a:rPr sz="1050" b="0">
                          <a:solidFill>
                            <a:srgbClr val="202020"/>
                          </a:solidFill>
                          <a:latin typeface="Calibri"/>
                        </a:rPr>
                        <a:t>CNN</a:t>
                      </a:r>
                    </a:p>
                  </a:txBody>
                  <a:tcPr marL="54864" marR="54864" marT="27432" marB="27432">
                    <a:solidFill>
                      <a:srgbClr val="FFFFFF"/>
                    </a:solidFill>
                  </a:tcPr>
                </a:tc>
                <a:tc>
                  <a:txBody>
                    <a:bodyPr/>
                    <a:lstStyle/>
                    <a:p>
                      <a:pPr algn="ctr"/>
                      <a:r>
                        <a:rPr sz="1050" b="0">
                          <a:solidFill>
                            <a:srgbClr val="202020"/>
                          </a:solidFill>
                          <a:latin typeface="Calibri"/>
                        </a:rPr>
                        <a:t>5×10⁻⁴</a:t>
                      </a:r>
                    </a:p>
                  </a:txBody>
                  <a:tcPr marL="54864" marR="54864" marT="27432" marB="27432">
                    <a:solidFill>
                      <a:srgbClr val="FFFFFF"/>
                    </a:solidFill>
                  </a:tcPr>
                </a:tc>
                <a:tc>
                  <a:txBody>
                    <a:bodyPr/>
                    <a:lstStyle/>
                    <a:p>
                      <a:pPr algn="ctr"/>
                      <a:r>
                        <a:rPr sz="1050" b="0">
                          <a:solidFill>
                            <a:srgbClr val="202020"/>
                          </a:solidFill>
                          <a:latin typeface="Calibri"/>
                        </a:rPr>
                        <a:t>1.0</a:t>
                      </a:r>
                    </a:p>
                  </a:txBody>
                  <a:tcPr marL="54864" marR="54864" marT="27432" marB="27432">
                    <a:solidFill>
                      <a:srgbClr val="FFFFFF"/>
                    </a:solidFill>
                  </a:tcPr>
                </a:tc>
                <a:tc>
                  <a:txBody>
                    <a:bodyPr/>
                    <a:lstStyle/>
                    <a:p>
                      <a:pPr algn="ctr"/>
                      <a:r>
                        <a:rPr sz="1050" b="0">
                          <a:solidFill>
                            <a:srgbClr val="202020"/>
                          </a:solidFill>
                          <a:latin typeface="Calibri"/>
                        </a:rPr>
                        <a:t>0.9</a:t>
                      </a:r>
                    </a:p>
                  </a:txBody>
                  <a:tcPr marL="54864" marR="54864" marT="27432" marB="27432">
                    <a:solidFill>
                      <a:srgbClr val="FFFFFF"/>
                    </a:solidFill>
                  </a:tcPr>
                </a:tc>
                <a:tc>
                  <a:txBody>
                    <a:bodyPr/>
                    <a:lstStyle/>
                    <a:p>
                      <a:pPr algn="ctr"/>
                      <a:r>
                        <a:rPr sz="1050" b="0">
                          <a:solidFill>
                            <a:srgbClr val="202020"/>
                          </a:solidFill>
                          <a:latin typeface="Calibri"/>
                        </a:rPr>
                        <a:t>Square-root</a:t>
                      </a:r>
                    </a:p>
                  </a:txBody>
                  <a:tcPr marL="54864" marR="54864" marT="27432" marB="27432">
                    <a:solidFill>
                      <a:srgbClr val="FFFFFF"/>
                    </a:solidFill>
                  </a:tcPr>
                </a:tc>
                <a:tc>
                  <a:txBody>
                    <a:bodyPr/>
                    <a:lstStyle/>
                    <a:p>
                      <a:pPr algn="ctr"/>
                      <a:r>
                        <a:rPr sz="1050" b="0">
                          <a:solidFill>
                            <a:srgbClr val="202020"/>
                          </a:solidFill>
                          <a:latin typeface="Calibri"/>
                        </a:rPr>
                        <a:t>Yes</a:t>
                      </a:r>
                    </a:p>
                  </a:txBody>
                  <a:tcPr marL="54864" marR="54864" marT="27432" marB="27432">
                    <a:solidFill>
                      <a:srgbClr val="FFFFFF"/>
                    </a:solidFill>
                  </a:tcPr>
                </a:tc>
                <a:extLst>
                  <a:ext uri="{0D108BD9-81ED-4DB2-BD59-A6C34878D82A}">
                    <a16:rowId xmlns:a16="http://schemas.microsoft.com/office/drawing/2014/main" val="10004"/>
                  </a:ext>
                </a:extLst>
              </a:tr>
              <a:tr h="246888">
                <a:tc>
                  <a:txBody>
                    <a:bodyPr/>
                    <a:lstStyle/>
                    <a:p>
                      <a:pPr algn="l"/>
                      <a:r>
                        <a:rPr sz="1050" b="1">
                          <a:solidFill>
                            <a:srgbClr val="202020"/>
                          </a:solidFill>
                          <a:latin typeface="Calibri"/>
                        </a:rPr>
                        <a:t>E5</a:t>
                      </a:r>
                    </a:p>
                  </a:txBody>
                  <a:tcPr marL="54864" marR="54864" marT="27432" marB="27432">
                    <a:solidFill>
                      <a:srgbClr val="F2F2F2"/>
                    </a:solidFill>
                  </a:tcPr>
                </a:tc>
                <a:tc>
                  <a:txBody>
                    <a:bodyPr/>
                    <a:lstStyle/>
                    <a:p>
                      <a:pPr algn="l"/>
                      <a:r>
                        <a:rPr sz="1050" b="0">
                          <a:solidFill>
                            <a:srgbClr val="202020"/>
                          </a:solidFill>
                          <a:latin typeface="Calibri"/>
                        </a:rPr>
                        <a:t>+ residual network</a:t>
                      </a:r>
                    </a:p>
                  </a:txBody>
                  <a:tcPr marL="54864" marR="54864" marT="27432" marB="27432">
                    <a:solidFill>
                      <a:srgbClr val="F2F2F2"/>
                    </a:solidFill>
                  </a:tcPr>
                </a:tc>
                <a:tc>
                  <a:txBody>
                    <a:bodyPr/>
                    <a:lstStyle/>
                    <a:p>
                      <a:pPr algn="ctr"/>
                      <a:r>
                        <a:rPr sz="1050" b="0">
                          <a:solidFill>
                            <a:srgbClr val="202020"/>
                          </a:solidFill>
                          <a:latin typeface="Calibri"/>
                        </a:rPr>
                        <a:t>Residual CNN</a:t>
                      </a:r>
                    </a:p>
                  </a:txBody>
                  <a:tcPr marL="54864" marR="54864" marT="27432" marB="27432">
                    <a:solidFill>
                      <a:srgbClr val="F2F2F2"/>
                    </a:solidFill>
                  </a:tcPr>
                </a:tc>
                <a:tc>
                  <a:txBody>
                    <a:bodyPr/>
                    <a:lstStyle/>
                    <a:p>
                      <a:pPr algn="ctr"/>
                      <a:r>
                        <a:rPr sz="1050" b="0">
                          <a:solidFill>
                            <a:srgbClr val="202020"/>
                          </a:solidFill>
                          <a:latin typeface="Calibri"/>
                        </a:rPr>
                        <a:t>5×10⁻⁴</a:t>
                      </a:r>
                    </a:p>
                  </a:txBody>
                  <a:tcPr marL="54864" marR="54864" marT="27432" marB="27432">
                    <a:solidFill>
                      <a:srgbClr val="F2F2F2"/>
                    </a:solidFill>
                  </a:tcPr>
                </a:tc>
                <a:tc>
                  <a:txBody>
                    <a:bodyPr/>
                    <a:lstStyle/>
                    <a:p>
                      <a:pPr algn="ctr"/>
                      <a:r>
                        <a:rPr sz="1050" b="0">
                          <a:solidFill>
                            <a:srgbClr val="202020"/>
                          </a:solidFill>
                          <a:latin typeface="Calibri"/>
                        </a:rPr>
                        <a:t>1.0</a:t>
                      </a:r>
                    </a:p>
                  </a:txBody>
                  <a:tcPr marL="54864" marR="54864" marT="27432" marB="27432">
                    <a:solidFill>
                      <a:srgbClr val="F2F2F2"/>
                    </a:solidFill>
                  </a:tcPr>
                </a:tc>
                <a:tc>
                  <a:txBody>
                    <a:bodyPr/>
                    <a:lstStyle/>
                    <a:p>
                      <a:pPr algn="ctr"/>
                      <a:r>
                        <a:rPr sz="1050" b="0">
                          <a:solidFill>
                            <a:srgbClr val="202020"/>
                          </a:solidFill>
                          <a:latin typeface="Calibri"/>
                        </a:rPr>
                        <a:t>0.9</a:t>
                      </a:r>
                    </a:p>
                  </a:txBody>
                  <a:tcPr marL="54864" marR="54864" marT="27432" marB="27432">
                    <a:solidFill>
                      <a:srgbClr val="F2F2F2"/>
                    </a:solidFill>
                  </a:tcPr>
                </a:tc>
                <a:tc>
                  <a:txBody>
                    <a:bodyPr/>
                    <a:lstStyle/>
                    <a:p>
                      <a:pPr algn="ctr"/>
                      <a:r>
                        <a:rPr sz="1050" b="0">
                          <a:solidFill>
                            <a:srgbClr val="202020"/>
                          </a:solidFill>
                          <a:latin typeface="Calibri"/>
                        </a:rPr>
                        <a:t>Square-root</a:t>
                      </a:r>
                    </a:p>
                  </a:txBody>
                  <a:tcPr marL="54864" marR="54864" marT="27432" marB="27432">
                    <a:solidFill>
                      <a:srgbClr val="F2F2F2"/>
                    </a:solidFill>
                  </a:tcPr>
                </a:tc>
                <a:tc>
                  <a:txBody>
                    <a:bodyPr/>
                    <a:lstStyle/>
                    <a:p>
                      <a:pPr algn="ctr"/>
                      <a:r>
                        <a:rPr sz="1050" b="0">
                          <a:solidFill>
                            <a:srgbClr val="202020"/>
                          </a:solidFill>
                          <a:latin typeface="Calibri"/>
                        </a:rPr>
                        <a:t>Yes</a:t>
                      </a:r>
                    </a:p>
                  </a:txBody>
                  <a:tcPr marL="54864" marR="54864" marT="27432" marB="27432">
                    <a:solidFill>
                      <a:srgbClr val="F2F2F2"/>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502920" y="2560320"/>
            <a:ext cx="8138160" cy="274320"/>
          </a:xfrm>
          <a:prstGeom prst="rect">
            <a:avLst/>
          </a:prstGeom>
          <a:noFill/>
        </p:spPr>
        <p:txBody>
          <a:bodyPr wrap="square" lIns="0" tIns="0" rIns="0" bIns="0">
            <a:spAutoFit/>
          </a:bodyPr>
          <a:lstStyle/>
          <a:p>
            <a:pPr algn="l"/>
            <a:r>
              <a:rPr sz="1050" b="0" i="1">
                <a:solidFill>
                  <a:srgbClr val="595959"/>
                </a:solidFill>
                <a:latin typeface="Calibri"/>
              </a:rPr>
              <a:t>B0 = V1 baseline (LR 10⁻³, balanced weights, early stopping on validation loss, patience 6). Final = E5 + thresholds tuned on validation (N × 3).</a:t>
            </a:r>
          </a:p>
        </p:txBody>
      </p:sp>
      <p:sp>
        <p:nvSpPr>
          <p:cNvPr id="17" name="Rectangle 16"/>
          <p:cNvSpPr/>
          <p:nvPr/>
        </p:nvSpPr>
        <p:spPr>
          <a:xfrm>
            <a:off x="502920" y="3108960"/>
            <a:ext cx="64008" cy="23774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3154679"/>
            <a:ext cx="2423160" cy="320040"/>
          </a:xfrm>
          <a:prstGeom prst="rect">
            <a:avLst/>
          </a:prstGeom>
          <a:noFill/>
        </p:spPr>
        <p:txBody>
          <a:bodyPr wrap="square" lIns="0" tIns="0" rIns="0" bIns="0">
            <a:spAutoFit/>
          </a:bodyPr>
          <a:lstStyle/>
          <a:p>
            <a:pPr algn="l"/>
            <a:r>
              <a:rPr sz="1300" b="1" i="0">
                <a:solidFill>
                  <a:srgbClr val="2E75B6"/>
                </a:solidFill>
                <a:latin typeface="Calibri"/>
              </a:rPr>
              <a:t>Training</a:t>
            </a:r>
          </a:p>
        </p:txBody>
      </p:sp>
      <p:sp>
        <p:nvSpPr>
          <p:cNvPr id="19" name="TextBox 18"/>
          <p:cNvSpPr txBox="1"/>
          <p:nvPr/>
        </p:nvSpPr>
        <p:spPr>
          <a:xfrm>
            <a:off x="667512" y="3493008"/>
            <a:ext cx="2423160" cy="196596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Adam, batch 128, ≤ 30 epochs</a:t>
            </a:r>
          </a:p>
          <a:p>
            <a:pPr algn="l">
              <a:spcAft>
                <a:spcPts val="300"/>
              </a:spcAft>
            </a:pPr>
            <a:r>
              <a:rPr sz="1100" b="0" i="0">
                <a:solidFill>
                  <a:srgbClr val="202020"/>
                </a:solidFill>
                <a:latin typeface="Calibri"/>
              </a:rPr>
              <a:t>Best weights on val. macro F1; LR halved after 3 non-improving epochs (min 10⁻⁵); stop after 8</a:t>
            </a:r>
          </a:p>
          <a:p>
            <a:pPr algn="l">
              <a:spcAft>
                <a:spcPts val="300"/>
              </a:spcAft>
            </a:pPr>
            <a:r>
              <a:rPr sz="1100" b="0" i="0">
                <a:solidFill>
                  <a:srgbClr val="202020"/>
                </a:solidFill>
                <a:latin typeface="Calibri"/>
              </a:rPr>
              <a:t>Augmentation: amplitude ±10%, noise σ 0.01, shift ±3 samples</a:t>
            </a:r>
          </a:p>
          <a:p>
            <a:pPr algn="l">
              <a:spcAft>
                <a:spcPts val="300"/>
              </a:spcAft>
            </a:pPr>
            <a:r>
              <a:rPr sz="1100" b="0" i="0">
                <a:solidFill>
                  <a:srgbClr val="202020"/>
                </a:solidFill>
                <a:latin typeface="Calibri"/>
              </a:rPr>
              <a:t>Seed 42; test set never used for selection</a:t>
            </a:r>
          </a:p>
        </p:txBody>
      </p:sp>
      <p:sp>
        <p:nvSpPr>
          <p:cNvPr id="20" name="Rectangle 19"/>
          <p:cNvSpPr/>
          <p:nvPr/>
        </p:nvSpPr>
        <p:spPr>
          <a:xfrm>
            <a:off x="3291840" y="3108960"/>
            <a:ext cx="64008" cy="237744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56432" y="3154679"/>
            <a:ext cx="2423160" cy="320040"/>
          </a:xfrm>
          <a:prstGeom prst="rect">
            <a:avLst/>
          </a:prstGeom>
          <a:noFill/>
        </p:spPr>
        <p:txBody>
          <a:bodyPr wrap="square" lIns="0" tIns="0" rIns="0" bIns="0">
            <a:spAutoFit/>
          </a:bodyPr>
          <a:lstStyle/>
          <a:p>
            <a:pPr algn="l"/>
            <a:r>
              <a:rPr sz="1300" b="1" i="0">
                <a:solidFill>
                  <a:srgbClr val="ED7D31"/>
                </a:solidFill>
                <a:latin typeface="Calibri"/>
              </a:rPr>
              <a:t>Evaluation metrics</a:t>
            </a:r>
          </a:p>
        </p:txBody>
      </p:sp>
      <p:sp>
        <p:nvSpPr>
          <p:cNvPr id="22" name="TextBox 21"/>
          <p:cNvSpPr txBox="1"/>
          <p:nvPr/>
        </p:nvSpPr>
        <p:spPr>
          <a:xfrm>
            <a:off x="3456432" y="3493008"/>
            <a:ext cx="2423160" cy="196596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Accuracy</a:t>
            </a:r>
          </a:p>
          <a:p>
            <a:pPr algn="l">
              <a:spcAft>
                <a:spcPts val="300"/>
              </a:spcAft>
            </a:pPr>
            <a:r>
              <a:rPr sz="1100" b="0" i="0">
                <a:solidFill>
                  <a:srgbClr val="202020"/>
                </a:solidFill>
                <a:latin typeface="Calibri"/>
              </a:rPr>
              <a:t>Per-class precision, recall, F1</a:t>
            </a:r>
          </a:p>
          <a:p>
            <a:pPr algn="l">
              <a:spcAft>
                <a:spcPts val="300"/>
              </a:spcAft>
            </a:pPr>
            <a:r>
              <a:rPr sz="1100" b="0" i="0">
                <a:solidFill>
                  <a:srgbClr val="202020"/>
                </a:solidFill>
                <a:latin typeface="Calibri"/>
              </a:rPr>
              <a:t>Macro F1 – main metric (N ≈ 83% of beats, so accuracy hides rare-class errors)</a:t>
            </a:r>
          </a:p>
          <a:p>
            <a:pPr algn="l">
              <a:spcAft>
                <a:spcPts val="300"/>
              </a:spcAft>
            </a:pPr>
            <a:r>
              <a:rPr sz="1100" b="0" i="0">
                <a:solidFill>
                  <a:srgbClr val="202020"/>
                </a:solidFill>
                <a:latin typeface="Calibri"/>
              </a:rPr>
              <a:t>Confusion matrix</a:t>
            </a:r>
          </a:p>
        </p:txBody>
      </p:sp>
      <p:sp>
        <p:nvSpPr>
          <p:cNvPr id="23" name="Rectangle 22"/>
          <p:cNvSpPr/>
          <p:nvPr/>
        </p:nvSpPr>
        <p:spPr>
          <a:xfrm>
            <a:off x="6080760" y="3108960"/>
            <a:ext cx="64008" cy="23774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2" y="3154679"/>
            <a:ext cx="2423160" cy="320040"/>
          </a:xfrm>
          <a:prstGeom prst="rect">
            <a:avLst/>
          </a:prstGeom>
          <a:noFill/>
        </p:spPr>
        <p:txBody>
          <a:bodyPr wrap="square" lIns="0" tIns="0" rIns="0" bIns="0">
            <a:spAutoFit/>
          </a:bodyPr>
          <a:lstStyle/>
          <a:p>
            <a:pPr algn="l"/>
            <a:r>
              <a:rPr sz="1300" b="1" i="0">
                <a:solidFill>
                  <a:srgbClr val="548235"/>
                </a:solidFill>
                <a:latin typeface="Calibri"/>
              </a:rPr>
              <a:t>Tools &amp; hardware</a:t>
            </a:r>
          </a:p>
        </p:txBody>
      </p:sp>
      <p:sp>
        <p:nvSpPr>
          <p:cNvPr id="25" name="TextBox 24"/>
          <p:cNvSpPr txBox="1"/>
          <p:nvPr/>
        </p:nvSpPr>
        <p:spPr>
          <a:xfrm>
            <a:off x="6245352" y="3493008"/>
            <a:ext cx="2423160" cy="196596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Python 3, TensorFlow 2.20 / Keras</a:t>
            </a:r>
          </a:p>
          <a:p>
            <a:pPr algn="l">
              <a:spcAft>
                <a:spcPts val="300"/>
              </a:spcAft>
            </a:pPr>
            <a:r>
              <a:rPr sz="1100" b="0" i="0">
                <a:solidFill>
                  <a:srgbClr val="202020"/>
                </a:solidFill>
                <a:latin typeface="Calibri"/>
              </a:rPr>
              <a:t>NumPy, pandas, scikit-learn, Matplotlib, seaborn</a:t>
            </a:r>
          </a:p>
          <a:p>
            <a:pPr algn="l">
              <a:spcAft>
                <a:spcPts val="300"/>
              </a:spcAft>
            </a:pPr>
            <a:r>
              <a:rPr sz="1100" b="0" i="0">
                <a:solidFill>
                  <a:srgbClr val="202020"/>
                </a:solidFill>
                <a:latin typeface="Calibri"/>
              </a:rPr>
              <a:t>wfdb, SHAP, Streamlit (next phase)</a:t>
            </a:r>
          </a:p>
          <a:p>
            <a:pPr algn="l">
              <a:spcAft>
                <a:spcPts val="300"/>
              </a:spcAft>
            </a:pPr>
            <a:r>
              <a:rPr sz="1100" b="0" i="0">
                <a:solidFill>
                  <a:srgbClr val="202020"/>
                </a:solidFill>
                <a:latin typeface="Calibri"/>
              </a:rPr>
              <a:t>Kaggle notebooks, NVIDIA Tesla T4 GPU; 5 runs in 8.1 min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Work Done Till Now</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05840"/>
            <a:ext cx="4023360" cy="320040"/>
          </a:xfrm>
          <a:prstGeom prst="rect">
            <a:avLst/>
          </a:prstGeom>
          <a:noFill/>
        </p:spPr>
        <p:txBody>
          <a:bodyPr wrap="square" lIns="0" tIns="0" rIns="0" bIns="0">
            <a:spAutoFit/>
          </a:bodyPr>
          <a:lstStyle/>
          <a:p>
            <a:pPr algn="l"/>
            <a:r>
              <a:rPr sz="1400" b="1" i="0">
                <a:solidFill>
                  <a:srgbClr val="202020"/>
                </a:solidFill>
                <a:latin typeface="Calibri"/>
              </a:rPr>
              <a:t>Completed milestones</a:t>
            </a:r>
          </a:p>
        </p:txBody>
      </p:sp>
      <p:sp>
        <p:nvSpPr>
          <p:cNvPr id="16" name="TextBox 15"/>
          <p:cNvSpPr txBox="1"/>
          <p:nvPr/>
        </p:nvSpPr>
        <p:spPr>
          <a:xfrm>
            <a:off x="502920" y="1417320"/>
            <a:ext cx="365760" cy="365760"/>
          </a:xfrm>
          <a:prstGeom prst="rect">
            <a:avLst/>
          </a:prstGeom>
          <a:noFill/>
        </p:spPr>
        <p:txBody>
          <a:bodyPr wrap="square" lIns="0" tIns="0" rIns="0" bIns="0">
            <a:spAutoFit/>
          </a:bodyPr>
          <a:lstStyle/>
          <a:p>
            <a:pPr algn="l"/>
            <a:r>
              <a:rPr sz="1600" b="1" i="0">
                <a:solidFill>
                  <a:srgbClr val="ED7D31"/>
                </a:solidFill>
                <a:latin typeface="Calibri"/>
              </a:rPr>
              <a:t>1</a:t>
            </a:r>
          </a:p>
        </p:txBody>
      </p:sp>
      <p:sp>
        <p:nvSpPr>
          <p:cNvPr id="17" name="Rectangle 16"/>
          <p:cNvSpPr/>
          <p:nvPr/>
        </p:nvSpPr>
        <p:spPr>
          <a:xfrm>
            <a:off x="868680" y="1444752"/>
            <a:ext cx="45720" cy="6217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1453896"/>
            <a:ext cx="3520440" cy="758952"/>
          </a:xfrm>
          <a:prstGeom prst="rect">
            <a:avLst/>
          </a:prstGeom>
          <a:noFill/>
        </p:spPr>
        <p:txBody>
          <a:bodyPr wrap="square" lIns="0" tIns="0" rIns="0" bIns="0">
            <a:spAutoFit/>
          </a:bodyPr>
          <a:lstStyle/>
          <a:p>
            <a:pPr algn="l">
              <a:spcAft>
                <a:spcPts val="300"/>
              </a:spcAft>
            </a:pPr>
            <a:r>
              <a:rPr sz="1150" b="0" i="0">
                <a:solidFill>
                  <a:srgbClr val="202020"/>
                </a:solidFill>
                <a:latin typeface="Calibri"/>
              </a:rPr>
              <a:t>Literature survey of 36 papers; research gaps identified</a:t>
            </a:r>
          </a:p>
        </p:txBody>
      </p:sp>
      <p:sp>
        <p:nvSpPr>
          <p:cNvPr id="19" name="TextBox 18"/>
          <p:cNvSpPr txBox="1"/>
          <p:nvPr/>
        </p:nvSpPr>
        <p:spPr>
          <a:xfrm>
            <a:off x="502920" y="2176272"/>
            <a:ext cx="365760" cy="365760"/>
          </a:xfrm>
          <a:prstGeom prst="rect">
            <a:avLst/>
          </a:prstGeom>
          <a:noFill/>
        </p:spPr>
        <p:txBody>
          <a:bodyPr wrap="square" lIns="0" tIns="0" rIns="0" bIns="0">
            <a:spAutoFit/>
          </a:bodyPr>
          <a:lstStyle/>
          <a:p>
            <a:pPr algn="l"/>
            <a:r>
              <a:rPr sz="1600" b="1" i="0">
                <a:solidFill>
                  <a:srgbClr val="ED7D31"/>
                </a:solidFill>
                <a:latin typeface="Calibri"/>
              </a:rPr>
              <a:t>2</a:t>
            </a:r>
          </a:p>
        </p:txBody>
      </p:sp>
      <p:sp>
        <p:nvSpPr>
          <p:cNvPr id="20" name="Rectangle 19"/>
          <p:cNvSpPr/>
          <p:nvPr/>
        </p:nvSpPr>
        <p:spPr>
          <a:xfrm>
            <a:off x="868680" y="2203703"/>
            <a:ext cx="45720" cy="6217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2212848"/>
            <a:ext cx="3520440" cy="758952"/>
          </a:xfrm>
          <a:prstGeom prst="rect">
            <a:avLst/>
          </a:prstGeom>
          <a:noFill/>
        </p:spPr>
        <p:txBody>
          <a:bodyPr wrap="square" lIns="0" tIns="0" rIns="0" bIns="0">
            <a:spAutoFit/>
          </a:bodyPr>
          <a:lstStyle/>
          <a:p>
            <a:pPr algn="l">
              <a:spcAft>
                <a:spcPts val="300"/>
              </a:spcAft>
            </a:pPr>
            <a:r>
              <a:rPr sz="1150" b="0" i="0">
                <a:solidFill>
                  <a:srgbClr val="202020"/>
                </a:solidFill>
                <a:latin typeface="Calibri"/>
              </a:rPr>
              <a:t>Framework design: AAMI classes, DS1/DS2 protocol, XAI metrics, noise settings</a:t>
            </a:r>
          </a:p>
        </p:txBody>
      </p:sp>
      <p:sp>
        <p:nvSpPr>
          <p:cNvPr id="22" name="TextBox 21"/>
          <p:cNvSpPr txBox="1"/>
          <p:nvPr/>
        </p:nvSpPr>
        <p:spPr>
          <a:xfrm>
            <a:off x="502920" y="2935224"/>
            <a:ext cx="365760" cy="365760"/>
          </a:xfrm>
          <a:prstGeom prst="rect">
            <a:avLst/>
          </a:prstGeom>
          <a:noFill/>
        </p:spPr>
        <p:txBody>
          <a:bodyPr wrap="square" lIns="0" tIns="0" rIns="0" bIns="0">
            <a:spAutoFit/>
          </a:bodyPr>
          <a:lstStyle/>
          <a:p>
            <a:pPr algn="l"/>
            <a:r>
              <a:rPr sz="1600" b="1" i="0">
                <a:solidFill>
                  <a:srgbClr val="ED7D31"/>
                </a:solidFill>
                <a:latin typeface="Calibri"/>
              </a:rPr>
              <a:t>3</a:t>
            </a:r>
          </a:p>
        </p:txBody>
      </p:sp>
      <p:sp>
        <p:nvSpPr>
          <p:cNvPr id="23" name="Rectangle 22"/>
          <p:cNvSpPr/>
          <p:nvPr/>
        </p:nvSpPr>
        <p:spPr>
          <a:xfrm>
            <a:off x="868680" y="2962656"/>
            <a:ext cx="45720" cy="6217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2971800"/>
            <a:ext cx="3520440" cy="758952"/>
          </a:xfrm>
          <a:prstGeom prst="rect">
            <a:avLst/>
          </a:prstGeom>
          <a:noFill/>
        </p:spPr>
        <p:txBody>
          <a:bodyPr wrap="square" lIns="0" tIns="0" rIns="0" bIns="0">
            <a:spAutoFit/>
          </a:bodyPr>
          <a:lstStyle/>
          <a:p>
            <a:pPr algn="l">
              <a:spcAft>
                <a:spcPts val="300"/>
              </a:spcAft>
            </a:pPr>
            <a:r>
              <a:rPr sz="1150" b="0" i="0">
                <a:solidFill>
                  <a:srgbClr val="202020"/>
                </a:solidFill>
                <a:latin typeface="Calibri"/>
              </a:rPr>
              <a:t>Data preparation: stratified 80/20 split, class weights</a:t>
            </a:r>
          </a:p>
        </p:txBody>
      </p:sp>
      <p:sp>
        <p:nvSpPr>
          <p:cNvPr id="25" name="TextBox 24"/>
          <p:cNvSpPr txBox="1"/>
          <p:nvPr/>
        </p:nvSpPr>
        <p:spPr>
          <a:xfrm>
            <a:off x="502920" y="3694176"/>
            <a:ext cx="365760" cy="365760"/>
          </a:xfrm>
          <a:prstGeom prst="rect">
            <a:avLst/>
          </a:prstGeom>
          <a:noFill/>
        </p:spPr>
        <p:txBody>
          <a:bodyPr wrap="square" lIns="0" tIns="0" rIns="0" bIns="0">
            <a:spAutoFit/>
          </a:bodyPr>
          <a:lstStyle/>
          <a:p>
            <a:pPr algn="l"/>
            <a:r>
              <a:rPr sz="1600" b="1" i="0">
                <a:solidFill>
                  <a:srgbClr val="ED7D31"/>
                </a:solidFill>
                <a:latin typeface="Calibri"/>
              </a:rPr>
              <a:t>4</a:t>
            </a:r>
          </a:p>
        </p:txBody>
      </p:sp>
      <p:sp>
        <p:nvSpPr>
          <p:cNvPr id="26" name="Rectangle 25"/>
          <p:cNvSpPr/>
          <p:nvPr/>
        </p:nvSpPr>
        <p:spPr>
          <a:xfrm>
            <a:off x="868680" y="3721608"/>
            <a:ext cx="45720" cy="6217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3730752"/>
            <a:ext cx="3520440" cy="758952"/>
          </a:xfrm>
          <a:prstGeom prst="rect">
            <a:avLst/>
          </a:prstGeom>
          <a:noFill/>
        </p:spPr>
        <p:txBody>
          <a:bodyPr wrap="square" lIns="0" tIns="0" rIns="0" bIns="0">
            <a:spAutoFit/>
          </a:bodyPr>
          <a:lstStyle/>
          <a:p>
            <a:pPr algn="l">
              <a:spcAft>
                <a:spcPts val="300"/>
              </a:spcAft>
            </a:pPr>
            <a:r>
              <a:rPr sz="1150" b="0" i="0" dirty="0">
                <a:solidFill>
                  <a:srgbClr val="202020"/>
                </a:solidFill>
                <a:latin typeface="Calibri"/>
              </a:rPr>
              <a:t>V1: baseline 1D CNN trained, evaluated, Grad-CAM per class</a:t>
            </a:r>
          </a:p>
        </p:txBody>
      </p:sp>
      <p:sp>
        <p:nvSpPr>
          <p:cNvPr id="28" name="TextBox 27"/>
          <p:cNvSpPr txBox="1"/>
          <p:nvPr/>
        </p:nvSpPr>
        <p:spPr>
          <a:xfrm>
            <a:off x="502920" y="4453128"/>
            <a:ext cx="365760" cy="365760"/>
          </a:xfrm>
          <a:prstGeom prst="rect">
            <a:avLst/>
          </a:prstGeom>
          <a:noFill/>
        </p:spPr>
        <p:txBody>
          <a:bodyPr wrap="square" lIns="0" tIns="0" rIns="0" bIns="0">
            <a:spAutoFit/>
          </a:bodyPr>
          <a:lstStyle/>
          <a:p>
            <a:pPr algn="l"/>
            <a:r>
              <a:rPr sz="1600" b="1" i="0">
                <a:solidFill>
                  <a:srgbClr val="ED7D31"/>
                </a:solidFill>
                <a:latin typeface="Calibri"/>
              </a:rPr>
              <a:t>5</a:t>
            </a:r>
          </a:p>
        </p:txBody>
      </p:sp>
      <p:sp>
        <p:nvSpPr>
          <p:cNvPr id="29" name="Rectangle 28"/>
          <p:cNvSpPr/>
          <p:nvPr/>
        </p:nvSpPr>
        <p:spPr>
          <a:xfrm>
            <a:off x="868680" y="4480560"/>
            <a:ext cx="45720" cy="6217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 y="4489704"/>
            <a:ext cx="3520440" cy="758952"/>
          </a:xfrm>
          <a:prstGeom prst="rect">
            <a:avLst/>
          </a:prstGeom>
          <a:noFill/>
        </p:spPr>
        <p:txBody>
          <a:bodyPr wrap="square" lIns="0" tIns="0" rIns="0" bIns="0">
            <a:spAutoFit/>
          </a:bodyPr>
          <a:lstStyle/>
          <a:p>
            <a:pPr algn="l">
              <a:spcAft>
                <a:spcPts val="300"/>
              </a:spcAft>
            </a:pPr>
            <a:r>
              <a:rPr sz="1150" b="0" i="0">
                <a:solidFill>
                  <a:srgbClr val="202020"/>
                </a:solidFill>
                <a:latin typeface="Calibri"/>
              </a:rPr>
              <a:t>V2: 5 controlled experiments (E1–E5) + threshold tuning</a:t>
            </a:r>
          </a:p>
        </p:txBody>
      </p:sp>
      <p:sp>
        <p:nvSpPr>
          <p:cNvPr id="31" name="TextBox 30"/>
          <p:cNvSpPr txBox="1"/>
          <p:nvPr/>
        </p:nvSpPr>
        <p:spPr>
          <a:xfrm>
            <a:off x="502920" y="5212079"/>
            <a:ext cx="365760" cy="365760"/>
          </a:xfrm>
          <a:prstGeom prst="rect">
            <a:avLst/>
          </a:prstGeom>
          <a:noFill/>
        </p:spPr>
        <p:txBody>
          <a:bodyPr wrap="square" lIns="0" tIns="0" rIns="0" bIns="0">
            <a:spAutoFit/>
          </a:bodyPr>
          <a:lstStyle/>
          <a:p>
            <a:pPr algn="l"/>
            <a:r>
              <a:rPr sz="1600" b="1" i="0">
                <a:solidFill>
                  <a:srgbClr val="ED7D31"/>
                </a:solidFill>
                <a:latin typeface="Calibri"/>
              </a:rPr>
              <a:t>6</a:t>
            </a:r>
          </a:p>
        </p:txBody>
      </p:sp>
      <p:sp>
        <p:nvSpPr>
          <p:cNvPr id="32" name="Rectangle 31"/>
          <p:cNvSpPr/>
          <p:nvPr/>
        </p:nvSpPr>
        <p:spPr>
          <a:xfrm>
            <a:off x="868680" y="5239512"/>
            <a:ext cx="45720" cy="62179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5248655"/>
            <a:ext cx="3520440" cy="758952"/>
          </a:xfrm>
          <a:prstGeom prst="rect">
            <a:avLst/>
          </a:prstGeom>
          <a:noFill/>
        </p:spPr>
        <p:txBody>
          <a:bodyPr wrap="square" lIns="0" tIns="0" rIns="0" bIns="0">
            <a:spAutoFit/>
          </a:bodyPr>
          <a:lstStyle/>
          <a:p>
            <a:pPr algn="l">
              <a:spcAft>
                <a:spcPts val="300"/>
              </a:spcAft>
            </a:pPr>
            <a:r>
              <a:rPr sz="1150" b="0" i="0" dirty="0">
                <a:solidFill>
                  <a:srgbClr val="202020"/>
                </a:solidFill>
                <a:latin typeface="Calibri"/>
              </a:rPr>
              <a:t>Final model evaluated; Grad-CAM on the final model</a:t>
            </a:r>
          </a:p>
        </p:txBody>
      </p:sp>
      <p:sp>
        <p:nvSpPr>
          <p:cNvPr id="34" name="TextBox 33"/>
          <p:cNvSpPr txBox="1"/>
          <p:nvPr/>
        </p:nvSpPr>
        <p:spPr>
          <a:xfrm>
            <a:off x="4709160" y="1005840"/>
            <a:ext cx="3931920" cy="320040"/>
          </a:xfrm>
          <a:prstGeom prst="rect">
            <a:avLst/>
          </a:prstGeom>
          <a:noFill/>
        </p:spPr>
        <p:txBody>
          <a:bodyPr wrap="square" lIns="0" tIns="0" rIns="0" bIns="0">
            <a:spAutoFit/>
          </a:bodyPr>
          <a:lstStyle/>
          <a:p>
            <a:pPr algn="l"/>
            <a:r>
              <a:rPr sz="1400" b="1" i="0">
                <a:solidFill>
                  <a:srgbClr val="202020"/>
                </a:solidFill>
                <a:latin typeface="Calibri"/>
              </a:rPr>
              <a:t>Experiments conducted (test set, %)</a:t>
            </a:r>
          </a:p>
        </p:txBody>
      </p:sp>
      <p:graphicFrame>
        <p:nvGraphicFramePr>
          <p:cNvPr id="35" name="Table 34"/>
          <p:cNvGraphicFramePr>
            <a:graphicFrameLocks noGrp="1"/>
          </p:cNvGraphicFramePr>
          <p:nvPr/>
        </p:nvGraphicFramePr>
        <p:xfrm>
          <a:off x="4709160" y="1417320"/>
          <a:ext cx="3931920" cy="219456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274320">
                <a:tc>
                  <a:txBody>
                    <a:bodyPr/>
                    <a:lstStyle/>
                    <a:p>
                      <a:pPr algn="l"/>
                      <a:r>
                        <a:rPr sz="1050" b="1">
                          <a:solidFill>
                            <a:srgbClr val="FFFFFF"/>
                          </a:solidFill>
                          <a:latin typeface="Calibri"/>
                        </a:rPr>
                        <a:t>ID</a:t>
                      </a:r>
                    </a:p>
                  </a:txBody>
                  <a:tcPr marL="54864" marR="54864" marT="27432" marB="27432">
                    <a:solidFill>
                      <a:srgbClr val="1F3864"/>
                    </a:solidFill>
                  </a:tcPr>
                </a:tc>
                <a:tc>
                  <a:txBody>
                    <a:bodyPr/>
                    <a:lstStyle/>
                    <a:p>
                      <a:pPr algn="l"/>
                      <a:r>
                        <a:rPr sz="1050" b="1">
                          <a:solidFill>
                            <a:srgbClr val="FFFFFF"/>
                          </a:solidFill>
                          <a:latin typeface="Calibri"/>
                        </a:rPr>
                        <a:t>Change</a:t>
                      </a:r>
                    </a:p>
                  </a:txBody>
                  <a:tcPr marL="54864" marR="54864" marT="27432" marB="27432">
                    <a:solidFill>
                      <a:srgbClr val="1F3864"/>
                    </a:solidFill>
                  </a:tcPr>
                </a:tc>
                <a:tc>
                  <a:txBody>
                    <a:bodyPr/>
                    <a:lstStyle/>
                    <a:p>
                      <a:pPr algn="ctr"/>
                      <a:r>
                        <a:rPr sz="1050" b="1">
                          <a:solidFill>
                            <a:srgbClr val="FFFFFF"/>
                          </a:solidFill>
                          <a:latin typeface="Calibri"/>
                        </a:rPr>
                        <a:t>Acc.</a:t>
                      </a:r>
                    </a:p>
                  </a:txBody>
                  <a:tcPr marL="54864" marR="54864" marT="27432" marB="27432">
                    <a:solidFill>
                      <a:srgbClr val="1F3864"/>
                    </a:solidFill>
                  </a:tcPr>
                </a:tc>
                <a:tc>
                  <a:txBody>
                    <a:bodyPr/>
                    <a:lstStyle/>
                    <a:p>
                      <a:pPr algn="ctr"/>
                      <a:r>
                        <a:rPr sz="1050" b="1">
                          <a:solidFill>
                            <a:srgbClr val="FFFFFF"/>
                          </a:solidFill>
                          <a:latin typeface="Calibri"/>
                        </a:rPr>
                        <a:t>Macro F1</a:t>
                      </a:r>
                    </a:p>
                  </a:txBody>
                  <a:tcPr marL="54864" marR="54864" marT="27432" marB="27432">
                    <a:solidFill>
                      <a:srgbClr val="1F3864"/>
                    </a:solidFill>
                  </a:tcPr>
                </a:tc>
                <a:extLst>
                  <a:ext uri="{0D108BD9-81ED-4DB2-BD59-A6C34878D82A}">
                    <a16:rowId xmlns:a16="http://schemas.microsoft.com/office/drawing/2014/main" val="10000"/>
                  </a:ext>
                </a:extLst>
              </a:tr>
              <a:tr h="274320">
                <a:tc>
                  <a:txBody>
                    <a:bodyPr/>
                    <a:lstStyle/>
                    <a:p>
                      <a:pPr algn="l"/>
                      <a:r>
                        <a:rPr sz="1050" b="1">
                          <a:solidFill>
                            <a:srgbClr val="202020"/>
                          </a:solidFill>
                          <a:latin typeface="Calibri"/>
                        </a:rPr>
                        <a:t>B0</a:t>
                      </a:r>
                    </a:p>
                  </a:txBody>
                  <a:tcPr marL="54864" marR="54864" marT="27432" marB="27432">
                    <a:solidFill>
                      <a:srgbClr val="F2F2F2"/>
                    </a:solidFill>
                  </a:tcPr>
                </a:tc>
                <a:tc>
                  <a:txBody>
                    <a:bodyPr/>
                    <a:lstStyle/>
                    <a:p>
                      <a:pPr algn="l"/>
                      <a:r>
                        <a:rPr sz="1050" b="0">
                          <a:solidFill>
                            <a:srgbClr val="202020"/>
                          </a:solidFill>
                          <a:latin typeface="Calibri"/>
                        </a:rPr>
                        <a:t>V1 baseline</a:t>
                      </a:r>
                    </a:p>
                  </a:txBody>
                  <a:tcPr marL="54864" marR="54864" marT="27432" marB="27432">
                    <a:solidFill>
                      <a:srgbClr val="F2F2F2"/>
                    </a:solidFill>
                  </a:tcPr>
                </a:tc>
                <a:tc>
                  <a:txBody>
                    <a:bodyPr/>
                    <a:lstStyle/>
                    <a:p>
                      <a:pPr algn="ctr"/>
                      <a:r>
                        <a:rPr sz="1050" b="0">
                          <a:solidFill>
                            <a:srgbClr val="202020"/>
                          </a:solidFill>
                          <a:latin typeface="Calibri"/>
                        </a:rPr>
                        <a:t>94.41</a:t>
                      </a:r>
                    </a:p>
                  </a:txBody>
                  <a:tcPr marL="54864" marR="54864" marT="27432" marB="27432">
                    <a:solidFill>
                      <a:srgbClr val="F2F2F2"/>
                    </a:solidFill>
                  </a:tcPr>
                </a:tc>
                <a:tc>
                  <a:txBody>
                    <a:bodyPr/>
                    <a:lstStyle/>
                    <a:p>
                      <a:pPr algn="ctr"/>
                      <a:r>
                        <a:rPr sz="1050" b="0">
                          <a:solidFill>
                            <a:srgbClr val="202020"/>
                          </a:solidFill>
                          <a:latin typeface="Calibri"/>
                        </a:rPr>
                        <a:t>76.29</a:t>
                      </a:r>
                    </a:p>
                  </a:txBody>
                  <a:tcPr marL="54864" marR="54864" marT="27432" marB="27432">
                    <a:solidFill>
                      <a:srgbClr val="F2F2F2"/>
                    </a:solidFill>
                  </a:tcPr>
                </a:tc>
                <a:extLst>
                  <a:ext uri="{0D108BD9-81ED-4DB2-BD59-A6C34878D82A}">
                    <a16:rowId xmlns:a16="http://schemas.microsoft.com/office/drawing/2014/main" val="10001"/>
                  </a:ext>
                </a:extLst>
              </a:tr>
              <a:tr h="274320">
                <a:tc>
                  <a:txBody>
                    <a:bodyPr/>
                    <a:lstStyle/>
                    <a:p>
                      <a:pPr algn="l"/>
                      <a:r>
                        <a:rPr sz="1050" b="1">
                          <a:solidFill>
                            <a:srgbClr val="202020"/>
                          </a:solidFill>
                          <a:latin typeface="Calibri"/>
                        </a:rPr>
                        <a:t>E1</a:t>
                      </a:r>
                    </a:p>
                  </a:txBody>
                  <a:tcPr marL="54864" marR="54864" marT="27432" marB="27432">
                    <a:solidFill>
                      <a:srgbClr val="FFFFFF"/>
                    </a:solidFill>
                  </a:tcPr>
                </a:tc>
                <a:tc>
                  <a:txBody>
                    <a:bodyPr/>
                    <a:lstStyle/>
                    <a:p>
                      <a:pPr algn="l"/>
                      <a:r>
                        <a:rPr sz="1050" b="0">
                          <a:solidFill>
                            <a:srgbClr val="202020"/>
                          </a:solidFill>
                          <a:latin typeface="Calibri"/>
                        </a:rPr>
                        <a:t>Epoch on val. macro F1</a:t>
                      </a:r>
                    </a:p>
                  </a:txBody>
                  <a:tcPr marL="54864" marR="54864" marT="27432" marB="27432">
                    <a:solidFill>
                      <a:srgbClr val="FFFFFF"/>
                    </a:solidFill>
                  </a:tcPr>
                </a:tc>
                <a:tc>
                  <a:txBody>
                    <a:bodyPr/>
                    <a:lstStyle/>
                    <a:p>
                      <a:pPr algn="ctr"/>
                      <a:r>
                        <a:rPr sz="1050" b="0">
                          <a:solidFill>
                            <a:srgbClr val="202020"/>
                          </a:solidFill>
                          <a:latin typeface="Calibri"/>
                        </a:rPr>
                        <a:t>96.28</a:t>
                      </a:r>
                    </a:p>
                  </a:txBody>
                  <a:tcPr marL="54864" marR="54864" marT="27432" marB="27432">
                    <a:solidFill>
                      <a:srgbClr val="FFFFFF"/>
                    </a:solidFill>
                  </a:tcPr>
                </a:tc>
                <a:tc>
                  <a:txBody>
                    <a:bodyPr/>
                    <a:lstStyle/>
                    <a:p>
                      <a:pPr algn="ctr"/>
                      <a:r>
                        <a:rPr sz="1050" b="0">
                          <a:solidFill>
                            <a:srgbClr val="202020"/>
                          </a:solidFill>
                          <a:latin typeface="Calibri"/>
                        </a:rPr>
                        <a:t>83.96</a:t>
                      </a:r>
                    </a:p>
                  </a:txBody>
                  <a:tcPr marL="54864" marR="54864" marT="27432" marB="27432">
                    <a:solidFill>
                      <a:srgbClr val="FFFFFF"/>
                    </a:solidFill>
                  </a:tcPr>
                </a:tc>
                <a:extLst>
                  <a:ext uri="{0D108BD9-81ED-4DB2-BD59-A6C34878D82A}">
                    <a16:rowId xmlns:a16="http://schemas.microsoft.com/office/drawing/2014/main" val="10002"/>
                  </a:ext>
                </a:extLst>
              </a:tr>
              <a:tr h="274320">
                <a:tc>
                  <a:txBody>
                    <a:bodyPr/>
                    <a:lstStyle/>
                    <a:p>
                      <a:pPr algn="l"/>
                      <a:r>
                        <a:rPr sz="1050" b="1">
                          <a:solidFill>
                            <a:srgbClr val="202020"/>
                          </a:solidFill>
                          <a:latin typeface="Calibri"/>
                        </a:rPr>
                        <a:t>E2</a:t>
                      </a:r>
                    </a:p>
                  </a:txBody>
                  <a:tcPr marL="54864" marR="54864" marT="27432" marB="27432">
                    <a:solidFill>
                      <a:srgbClr val="F2F2F2"/>
                    </a:solidFill>
                  </a:tcPr>
                </a:tc>
                <a:tc>
                  <a:txBody>
                    <a:bodyPr/>
                    <a:lstStyle/>
                    <a:p>
                      <a:pPr algn="l"/>
                      <a:r>
                        <a:rPr sz="1050" b="0">
                          <a:solidFill>
                            <a:srgbClr val="202020"/>
                          </a:solidFill>
                          <a:latin typeface="Calibri"/>
                        </a:rPr>
                        <a:t>+ LR, clipping, BN</a:t>
                      </a:r>
                    </a:p>
                  </a:txBody>
                  <a:tcPr marL="54864" marR="54864" marT="27432" marB="27432">
                    <a:solidFill>
                      <a:srgbClr val="F2F2F2"/>
                    </a:solidFill>
                  </a:tcPr>
                </a:tc>
                <a:tc>
                  <a:txBody>
                    <a:bodyPr/>
                    <a:lstStyle/>
                    <a:p>
                      <a:pPr algn="ctr"/>
                      <a:r>
                        <a:rPr sz="1050" b="0">
                          <a:solidFill>
                            <a:srgbClr val="202020"/>
                          </a:solidFill>
                          <a:latin typeface="Calibri"/>
                        </a:rPr>
                        <a:t>93.58</a:t>
                      </a:r>
                    </a:p>
                  </a:txBody>
                  <a:tcPr marL="54864" marR="54864" marT="27432" marB="27432">
                    <a:solidFill>
                      <a:srgbClr val="F2F2F2"/>
                    </a:solidFill>
                  </a:tcPr>
                </a:tc>
                <a:tc>
                  <a:txBody>
                    <a:bodyPr/>
                    <a:lstStyle/>
                    <a:p>
                      <a:pPr algn="ctr"/>
                      <a:r>
                        <a:rPr sz="1050" b="0">
                          <a:solidFill>
                            <a:srgbClr val="202020"/>
                          </a:solidFill>
                          <a:latin typeface="Calibri"/>
                        </a:rPr>
                        <a:t>78.30</a:t>
                      </a:r>
                    </a:p>
                  </a:txBody>
                  <a:tcPr marL="54864" marR="54864" marT="27432" marB="27432">
                    <a:solidFill>
                      <a:srgbClr val="F2F2F2"/>
                    </a:solidFill>
                  </a:tcPr>
                </a:tc>
                <a:extLst>
                  <a:ext uri="{0D108BD9-81ED-4DB2-BD59-A6C34878D82A}">
                    <a16:rowId xmlns:a16="http://schemas.microsoft.com/office/drawing/2014/main" val="10003"/>
                  </a:ext>
                </a:extLst>
              </a:tr>
              <a:tr h="274320">
                <a:tc>
                  <a:txBody>
                    <a:bodyPr/>
                    <a:lstStyle/>
                    <a:p>
                      <a:pPr algn="l"/>
                      <a:r>
                        <a:rPr sz="1050" b="1">
                          <a:solidFill>
                            <a:srgbClr val="202020"/>
                          </a:solidFill>
                          <a:latin typeface="Calibri"/>
                        </a:rPr>
                        <a:t>E3</a:t>
                      </a:r>
                    </a:p>
                  </a:txBody>
                  <a:tcPr marL="54864" marR="54864" marT="27432" marB="27432">
                    <a:solidFill>
                      <a:srgbClr val="FFFFFF"/>
                    </a:solidFill>
                  </a:tcPr>
                </a:tc>
                <a:tc>
                  <a:txBody>
                    <a:bodyPr/>
                    <a:lstStyle/>
                    <a:p>
                      <a:pPr algn="l"/>
                      <a:r>
                        <a:rPr sz="1050" b="0">
                          <a:solidFill>
                            <a:srgbClr val="202020"/>
                          </a:solidFill>
                          <a:latin typeface="Calibri"/>
                        </a:rPr>
                        <a:t>+ sqrt class weights</a:t>
                      </a:r>
                    </a:p>
                  </a:txBody>
                  <a:tcPr marL="54864" marR="54864" marT="27432" marB="27432">
                    <a:solidFill>
                      <a:srgbClr val="FFFFFF"/>
                    </a:solidFill>
                  </a:tcPr>
                </a:tc>
                <a:tc>
                  <a:txBody>
                    <a:bodyPr/>
                    <a:lstStyle/>
                    <a:p>
                      <a:pPr algn="ctr"/>
                      <a:r>
                        <a:rPr sz="1050" b="0">
                          <a:solidFill>
                            <a:srgbClr val="202020"/>
                          </a:solidFill>
                          <a:latin typeface="Calibri"/>
                        </a:rPr>
                        <a:t>97.39</a:t>
                      </a:r>
                    </a:p>
                  </a:txBody>
                  <a:tcPr marL="54864" marR="54864" marT="27432" marB="27432">
                    <a:solidFill>
                      <a:srgbClr val="FFFFFF"/>
                    </a:solidFill>
                  </a:tcPr>
                </a:tc>
                <a:tc>
                  <a:txBody>
                    <a:bodyPr/>
                    <a:lstStyle/>
                    <a:p>
                      <a:pPr algn="ctr"/>
                      <a:r>
                        <a:rPr sz="1050" b="0">
                          <a:solidFill>
                            <a:srgbClr val="202020"/>
                          </a:solidFill>
                          <a:latin typeface="Calibri"/>
                        </a:rPr>
                        <a:t>87.58</a:t>
                      </a:r>
                    </a:p>
                  </a:txBody>
                  <a:tcPr marL="54864" marR="54864" marT="27432" marB="27432">
                    <a:solidFill>
                      <a:srgbClr val="FFFFFF"/>
                    </a:solidFill>
                  </a:tcPr>
                </a:tc>
                <a:extLst>
                  <a:ext uri="{0D108BD9-81ED-4DB2-BD59-A6C34878D82A}">
                    <a16:rowId xmlns:a16="http://schemas.microsoft.com/office/drawing/2014/main" val="10004"/>
                  </a:ext>
                </a:extLst>
              </a:tr>
              <a:tr h="274320">
                <a:tc>
                  <a:txBody>
                    <a:bodyPr/>
                    <a:lstStyle/>
                    <a:p>
                      <a:pPr algn="l"/>
                      <a:r>
                        <a:rPr sz="1050" b="1">
                          <a:solidFill>
                            <a:srgbClr val="202020"/>
                          </a:solidFill>
                          <a:latin typeface="Calibri"/>
                        </a:rPr>
                        <a:t>E4</a:t>
                      </a:r>
                    </a:p>
                  </a:txBody>
                  <a:tcPr marL="54864" marR="54864" marT="27432" marB="27432">
                    <a:solidFill>
                      <a:srgbClr val="F2F2F2"/>
                    </a:solidFill>
                  </a:tcPr>
                </a:tc>
                <a:tc>
                  <a:txBody>
                    <a:bodyPr/>
                    <a:lstStyle/>
                    <a:p>
                      <a:pPr algn="l"/>
                      <a:r>
                        <a:rPr sz="1050" b="0">
                          <a:solidFill>
                            <a:srgbClr val="202020"/>
                          </a:solidFill>
                          <a:latin typeface="Calibri"/>
                        </a:rPr>
                        <a:t>+ augmentation</a:t>
                      </a:r>
                    </a:p>
                  </a:txBody>
                  <a:tcPr marL="54864" marR="54864" marT="27432" marB="27432">
                    <a:solidFill>
                      <a:srgbClr val="F2F2F2"/>
                    </a:solidFill>
                  </a:tcPr>
                </a:tc>
                <a:tc>
                  <a:txBody>
                    <a:bodyPr/>
                    <a:lstStyle/>
                    <a:p>
                      <a:pPr algn="ctr"/>
                      <a:r>
                        <a:rPr sz="1050" b="0">
                          <a:solidFill>
                            <a:srgbClr val="202020"/>
                          </a:solidFill>
                          <a:latin typeface="Calibri"/>
                        </a:rPr>
                        <a:t>97.02</a:t>
                      </a:r>
                    </a:p>
                  </a:txBody>
                  <a:tcPr marL="54864" marR="54864" marT="27432" marB="27432">
                    <a:solidFill>
                      <a:srgbClr val="F2F2F2"/>
                    </a:solidFill>
                  </a:tcPr>
                </a:tc>
                <a:tc>
                  <a:txBody>
                    <a:bodyPr/>
                    <a:lstStyle/>
                    <a:p>
                      <a:pPr algn="ctr"/>
                      <a:r>
                        <a:rPr sz="1050" b="0">
                          <a:solidFill>
                            <a:srgbClr val="202020"/>
                          </a:solidFill>
                          <a:latin typeface="Calibri"/>
                        </a:rPr>
                        <a:t>86.20</a:t>
                      </a:r>
                    </a:p>
                  </a:txBody>
                  <a:tcPr marL="54864" marR="54864" marT="27432" marB="27432">
                    <a:solidFill>
                      <a:srgbClr val="F2F2F2"/>
                    </a:solidFill>
                  </a:tcPr>
                </a:tc>
                <a:extLst>
                  <a:ext uri="{0D108BD9-81ED-4DB2-BD59-A6C34878D82A}">
                    <a16:rowId xmlns:a16="http://schemas.microsoft.com/office/drawing/2014/main" val="10005"/>
                  </a:ext>
                </a:extLst>
              </a:tr>
              <a:tr h="274320">
                <a:tc>
                  <a:txBody>
                    <a:bodyPr/>
                    <a:lstStyle/>
                    <a:p>
                      <a:pPr algn="l"/>
                      <a:r>
                        <a:rPr sz="1050" b="1">
                          <a:solidFill>
                            <a:srgbClr val="202020"/>
                          </a:solidFill>
                          <a:latin typeface="Calibri"/>
                        </a:rPr>
                        <a:t>E5</a:t>
                      </a:r>
                    </a:p>
                  </a:txBody>
                  <a:tcPr marL="54864" marR="54864" marT="27432" marB="27432">
                    <a:solidFill>
                      <a:srgbClr val="FFFFFF"/>
                    </a:solidFill>
                  </a:tcPr>
                </a:tc>
                <a:tc>
                  <a:txBody>
                    <a:bodyPr/>
                    <a:lstStyle/>
                    <a:p>
                      <a:pPr algn="l"/>
                      <a:r>
                        <a:rPr sz="1050" b="0">
                          <a:solidFill>
                            <a:srgbClr val="202020"/>
                          </a:solidFill>
                          <a:latin typeface="Calibri"/>
                        </a:rPr>
                        <a:t>+ residual network</a:t>
                      </a:r>
                    </a:p>
                  </a:txBody>
                  <a:tcPr marL="54864" marR="54864" marT="27432" marB="27432">
                    <a:solidFill>
                      <a:srgbClr val="FFFFFF"/>
                    </a:solidFill>
                  </a:tcPr>
                </a:tc>
                <a:tc>
                  <a:txBody>
                    <a:bodyPr/>
                    <a:lstStyle/>
                    <a:p>
                      <a:pPr algn="ctr"/>
                      <a:r>
                        <a:rPr sz="1050" b="0">
                          <a:solidFill>
                            <a:srgbClr val="202020"/>
                          </a:solidFill>
                          <a:latin typeface="Calibri"/>
                        </a:rPr>
                        <a:t>98.29</a:t>
                      </a:r>
                    </a:p>
                  </a:txBody>
                  <a:tcPr marL="54864" marR="54864" marT="27432" marB="27432">
                    <a:solidFill>
                      <a:srgbClr val="FFFFFF"/>
                    </a:solidFill>
                  </a:tcPr>
                </a:tc>
                <a:tc>
                  <a:txBody>
                    <a:bodyPr/>
                    <a:lstStyle/>
                    <a:p>
                      <a:pPr algn="ctr"/>
                      <a:r>
                        <a:rPr sz="1050" b="0">
                          <a:solidFill>
                            <a:srgbClr val="202020"/>
                          </a:solidFill>
                          <a:latin typeface="Calibri"/>
                        </a:rPr>
                        <a:t>90.77</a:t>
                      </a:r>
                    </a:p>
                  </a:txBody>
                  <a:tcPr marL="54864" marR="54864" marT="27432" marB="27432">
                    <a:solidFill>
                      <a:srgbClr val="FFFFFF"/>
                    </a:solidFill>
                  </a:tcPr>
                </a:tc>
                <a:extLst>
                  <a:ext uri="{0D108BD9-81ED-4DB2-BD59-A6C34878D82A}">
                    <a16:rowId xmlns:a16="http://schemas.microsoft.com/office/drawing/2014/main" val="10006"/>
                  </a:ext>
                </a:extLst>
              </a:tr>
              <a:tr h="274320">
                <a:tc>
                  <a:txBody>
                    <a:bodyPr/>
                    <a:lstStyle/>
                    <a:p>
                      <a:pPr algn="l"/>
                      <a:r>
                        <a:rPr sz="1050" b="1">
                          <a:solidFill>
                            <a:srgbClr val="202020"/>
                          </a:solidFill>
                          <a:latin typeface="Calibri"/>
                        </a:rPr>
                        <a:t>Final</a:t>
                      </a:r>
                    </a:p>
                  </a:txBody>
                  <a:tcPr marL="54864" marR="54864" marT="27432" marB="27432">
                    <a:solidFill>
                      <a:srgbClr val="FCE4D6"/>
                    </a:solidFill>
                  </a:tcPr>
                </a:tc>
                <a:tc>
                  <a:txBody>
                    <a:bodyPr/>
                    <a:lstStyle/>
                    <a:p>
                      <a:pPr algn="l"/>
                      <a:r>
                        <a:rPr sz="1050" b="1">
                          <a:solidFill>
                            <a:srgbClr val="202020"/>
                          </a:solidFill>
                          <a:latin typeface="Calibri"/>
                        </a:rPr>
                        <a:t>E5 + tuned thresholds</a:t>
                      </a:r>
                    </a:p>
                  </a:txBody>
                  <a:tcPr marL="54864" marR="54864" marT="27432" marB="27432">
                    <a:solidFill>
                      <a:srgbClr val="FCE4D6"/>
                    </a:solidFill>
                  </a:tcPr>
                </a:tc>
                <a:tc>
                  <a:txBody>
                    <a:bodyPr/>
                    <a:lstStyle/>
                    <a:p>
                      <a:pPr algn="ctr"/>
                      <a:r>
                        <a:rPr sz="1050" b="1">
                          <a:solidFill>
                            <a:srgbClr val="202020"/>
                          </a:solidFill>
                          <a:latin typeface="Calibri"/>
                        </a:rPr>
                        <a:t>98.41</a:t>
                      </a:r>
                    </a:p>
                  </a:txBody>
                  <a:tcPr marL="54864" marR="54864" marT="27432" marB="27432">
                    <a:solidFill>
                      <a:srgbClr val="FCE4D6"/>
                    </a:solidFill>
                  </a:tcPr>
                </a:tc>
                <a:tc>
                  <a:txBody>
                    <a:bodyPr/>
                    <a:lstStyle/>
                    <a:p>
                      <a:pPr algn="ctr"/>
                      <a:r>
                        <a:rPr sz="1050" b="1">
                          <a:solidFill>
                            <a:srgbClr val="202020"/>
                          </a:solidFill>
                          <a:latin typeface="Calibri"/>
                        </a:rPr>
                        <a:t>91.10</a:t>
                      </a:r>
                    </a:p>
                  </a:txBody>
                  <a:tcPr marL="54864" marR="54864" marT="27432" marB="27432">
                    <a:solidFill>
                      <a:srgbClr val="FCE4D6"/>
                    </a:solidFill>
                  </a:tcPr>
                </a:tc>
                <a:extLst>
                  <a:ext uri="{0D108BD9-81ED-4DB2-BD59-A6C34878D82A}">
                    <a16:rowId xmlns:a16="http://schemas.microsoft.com/office/drawing/2014/main" val="10007"/>
                  </a:ext>
                </a:extLst>
              </a:tr>
            </a:tbl>
          </a:graphicData>
        </a:graphic>
      </p:graphicFrame>
      <p:sp>
        <p:nvSpPr>
          <p:cNvPr id="36" name="TextBox 35"/>
          <p:cNvSpPr txBox="1"/>
          <p:nvPr/>
        </p:nvSpPr>
        <p:spPr>
          <a:xfrm>
            <a:off x="4709160" y="3703320"/>
            <a:ext cx="3931920" cy="274320"/>
          </a:xfrm>
          <a:prstGeom prst="rect">
            <a:avLst/>
          </a:prstGeom>
          <a:noFill/>
        </p:spPr>
        <p:txBody>
          <a:bodyPr wrap="square" lIns="0" tIns="0" rIns="0" bIns="0">
            <a:spAutoFit/>
          </a:bodyPr>
          <a:lstStyle/>
          <a:p>
            <a:pPr algn="l"/>
            <a:r>
              <a:rPr sz="1050" b="0" i="1">
                <a:solidFill>
                  <a:srgbClr val="595959"/>
                </a:solidFill>
                <a:latin typeface="Calibri"/>
              </a:rPr>
              <a:t>Same data, split and seed for every step; one change added at a time.</a:t>
            </a:r>
          </a:p>
        </p:txBody>
      </p:sp>
      <p:pic>
        <p:nvPicPr>
          <p:cNvPr id="37" name="Picture 36" descr="image.png"/>
          <p:cNvPicPr>
            <a:picLocks noChangeAspect="1"/>
          </p:cNvPicPr>
          <p:nvPr/>
        </p:nvPicPr>
        <p:blipFill>
          <a:blip r:embed="rId2"/>
          <a:stretch>
            <a:fillRect/>
          </a:stretch>
        </p:blipFill>
        <p:spPr>
          <a:xfrm>
            <a:off x="4663440" y="4135946"/>
            <a:ext cx="3931920" cy="1892807"/>
          </a:xfrm>
          <a:prstGeom prst="rect">
            <a:avLst/>
          </a:prstGeom>
        </p:spPr>
      </p:pic>
      <p:sp>
        <p:nvSpPr>
          <p:cNvPr id="38" name="TextBox 37"/>
          <p:cNvSpPr txBox="1"/>
          <p:nvPr/>
        </p:nvSpPr>
        <p:spPr>
          <a:xfrm>
            <a:off x="4709160" y="6163055"/>
            <a:ext cx="3931920" cy="274320"/>
          </a:xfrm>
          <a:prstGeom prst="rect">
            <a:avLst/>
          </a:prstGeom>
          <a:noFill/>
        </p:spPr>
        <p:txBody>
          <a:bodyPr wrap="square" lIns="0" tIns="0" rIns="0" bIns="0">
            <a:spAutoFit/>
          </a:bodyPr>
          <a:lstStyle/>
          <a:p>
            <a:pPr algn="ctr"/>
            <a:r>
              <a:rPr sz="1000" b="0" i="1" dirty="0">
                <a:solidFill>
                  <a:srgbClr val="595959"/>
                </a:solidFill>
                <a:latin typeface="Calibri"/>
              </a:rPr>
              <a:t>Validation macro F1 / accuracy per epoch, E1–E5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Preliminary Results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987552"/>
            <a:ext cx="8138160" cy="365760"/>
          </a:xfrm>
          <a:prstGeom prst="rect">
            <a:avLst/>
          </a:prstGeom>
          <a:noFill/>
        </p:spPr>
        <p:txBody>
          <a:bodyPr wrap="square" lIns="0" tIns="0" rIns="0" bIns="0">
            <a:spAutoFit/>
          </a:bodyPr>
          <a:lstStyle/>
          <a:p>
            <a:pPr algn="l"/>
            <a:r>
              <a:rPr sz="1500" b="1" i="0" dirty="0">
                <a:solidFill>
                  <a:srgbClr val="1F3864"/>
                </a:solidFill>
                <a:latin typeface="Calibri"/>
              </a:rPr>
              <a:t>Accuracy 94.41% → </a:t>
            </a:r>
            <a:r>
              <a:rPr sz="1500" b="1" i="0" dirty="0">
                <a:solidFill>
                  <a:srgbClr val="ED7D31"/>
                </a:solidFill>
                <a:latin typeface="Calibri"/>
              </a:rPr>
              <a:t>98.41%</a:t>
            </a:r>
            <a:r>
              <a:rPr sz="1500" b="1" i="0" dirty="0">
                <a:solidFill>
                  <a:srgbClr val="1F3864"/>
                </a:solidFill>
                <a:latin typeface="Calibri"/>
              </a:rPr>
              <a:t>     |     Macro F1 76.29% → </a:t>
            </a:r>
            <a:r>
              <a:rPr sz="1500" b="1" i="0" dirty="0">
                <a:solidFill>
                  <a:srgbClr val="ED7D31"/>
                </a:solidFill>
                <a:latin typeface="Calibri"/>
              </a:rPr>
              <a:t>91.10%</a:t>
            </a:r>
            <a:r>
              <a:rPr sz="1200" b="0" i="1" dirty="0">
                <a:solidFill>
                  <a:srgbClr val="595959"/>
                </a:solidFill>
                <a:latin typeface="Calibri"/>
              </a:rPr>
              <a:t>   (V1 baseline → V2 final)</a:t>
            </a:r>
          </a:p>
        </p:txBody>
      </p:sp>
      <p:pic>
        <p:nvPicPr>
          <p:cNvPr id="16" name="Picture 15" descr="image.png"/>
          <p:cNvPicPr>
            <a:picLocks noChangeAspect="1"/>
          </p:cNvPicPr>
          <p:nvPr/>
        </p:nvPicPr>
        <p:blipFill>
          <a:blip r:embed="rId2"/>
          <a:stretch>
            <a:fillRect/>
          </a:stretch>
        </p:blipFill>
        <p:spPr>
          <a:xfrm>
            <a:off x="502920" y="1417320"/>
            <a:ext cx="4846320" cy="1887901"/>
          </a:xfrm>
          <a:prstGeom prst="rect">
            <a:avLst/>
          </a:prstGeom>
        </p:spPr>
      </p:pic>
      <p:sp>
        <p:nvSpPr>
          <p:cNvPr id="17" name="TextBox 16"/>
          <p:cNvSpPr txBox="1"/>
          <p:nvPr/>
        </p:nvSpPr>
        <p:spPr>
          <a:xfrm>
            <a:off x="502920" y="3310128"/>
            <a:ext cx="4846320" cy="274320"/>
          </a:xfrm>
          <a:prstGeom prst="rect">
            <a:avLst/>
          </a:prstGeom>
          <a:noFill/>
        </p:spPr>
        <p:txBody>
          <a:bodyPr wrap="square" lIns="0" tIns="0" rIns="0" bIns="0">
            <a:spAutoFit/>
          </a:bodyPr>
          <a:lstStyle/>
          <a:p>
            <a:pPr algn="ctr"/>
            <a:r>
              <a:rPr sz="1000" b="0" i="1">
                <a:solidFill>
                  <a:srgbClr val="595959"/>
                </a:solidFill>
                <a:latin typeface="Calibri"/>
              </a:rPr>
              <a:t>Final model confusion matrix (counts; row-normalised)</a:t>
            </a:r>
          </a:p>
        </p:txBody>
      </p:sp>
      <p:pic>
        <p:nvPicPr>
          <p:cNvPr id="18" name="Picture 17" descr="image.png"/>
          <p:cNvPicPr>
            <a:picLocks noChangeAspect="1"/>
          </p:cNvPicPr>
          <p:nvPr/>
        </p:nvPicPr>
        <p:blipFill>
          <a:blip r:embed="rId3"/>
          <a:stretch>
            <a:fillRect/>
          </a:stretch>
        </p:blipFill>
        <p:spPr>
          <a:xfrm>
            <a:off x="5554980" y="1298448"/>
            <a:ext cx="3154680" cy="1984248"/>
          </a:xfrm>
          <a:prstGeom prst="rect">
            <a:avLst/>
          </a:prstGeom>
        </p:spPr>
      </p:pic>
      <p:sp>
        <p:nvSpPr>
          <p:cNvPr id="19" name="TextBox 18"/>
          <p:cNvSpPr txBox="1"/>
          <p:nvPr/>
        </p:nvSpPr>
        <p:spPr>
          <a:xfrm>
            <a:off x="5486400" y="3310128"/>
            <a:ext cx="3154680" cy="274320"/>
          </a:xfrm>
          <a:prstGeom prst="rect">
            <a:avLst/>
          </a:prstGeom>
          <a:noFill/>
        </p:spPr>
        <p:txBody>
          <a:bodyPr wrap="square" lIns="0" tIns="0" rIns="0" bIns="0">
            <a:spAutoFit/>
          </a:bodyPr>
          <a:lstStyle/>
          <a:p>
            <a:pPr algn="ctr"/>
            <a:r>
              <a:rPr sz="1000" b="0" i="1" dirty="0">
                <a:solidFill>
                  <a:srgbClr val="595959"/>
                </a:solidFill>
                <a:latin typeface="Calibri"/>
              </a:rPr>
              <a:t>Per-class F1, B0 → Final</a:t>
            </a:r>
          </a:p>
        </p:txBody>
      </p:sp>
      <p:graphicFrame>
        <p:nvGraphicFramePr>
          <p:cNvPr id="20" name="Table 19"/>
          <p:cNvGraphicFramePr>
            <a:graphicFrameLocks noGrp="1"/>
          </p:cNvGraphicFramePr>
          <p:nvPr/>
        </p:nvGraphicFramePr>
        <p:xfrm>
          <a:off x="502920" y="3611880"/>
          <a:ext cx="4846320" cy="1792224"/>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56032">
                <a:tc>
                  <a:txBody>
                    <a:bodyPr/>
                    <a:lstStyle/>
                    <a:p>
                      <a:pPr algn="l"/>
                      <a:r>
                        <a:rPr sz="1050" b="1">
                          <a:solidFill>
                            <a:srgbClr val="FFFFFF"/>
                          </a:solidFill>
                          <a:latin typeface="Calibri"/>
                        </a:rPr>
                        <a:t>Metric</a:t>
                      </a:r>
                    </a:p>
                  </a:txBody>
                  <a:tcPr marL="54864" marR="54864" marT="27432" marB="27432">
                    <a:solidFill>
                      <a:srgbClr val="1F3864"/>
                    </a:solidFill>
                  </a:tcPr>
                </a:tc>
                <a:tc>
                  <a:txBody>
                    <a:bodyPr/>
                    <a:lstStyle/>
                    <a:p>
                      <a:pPr algn="ctr"/>
                      <a:r>
                        <a:rPr sz="1050" b="1">
                          <a:solidFill>
                            <a:srgbClr val="FFFFFF"/>
                          </a:solidFill>
                          <a:latin typeface="Calibri"/>
                        </a:rPr>
                        <a:t>V1 baseline</a:t>
                      </a:r>
                    </a:p>
                  </a:txBody>
                  <a:tcPr marL="54864" marR="54864" marT="27432" marB="27432">
                    <a:solidFill>
                      <a:srgbClr val="1F3864"/>
                    </a:solidFill>
                  </a:tcPr>
                </a:tc>
                <a:tc>
                  <a:txBody>
                    <a:bodyPr/>
                    <a:lstStyle/>
                    <a:p>
                      <a:pPr algn="ctr"/>
                      <a:r>
                        <a:rPr sz="1050" b="1">
                          <a:solidFill>
                            <a:srgbClr val="FFFFFF"/>
                          </a:solidFill>
                          <a:latin typeface="Calibri"/>
                        </a:rPr>
                        <a:t>V2 final</a:t>
                      </a:r>
                    </a:p>
                  </a:txBody>
                  <a:tcPr marL="54864" marR="54864" marT="27432" marB="27432">
                    <a:solidFill>
                      <a:srgbClr val="1F3864"/>
                    </a:solidFill>
                  </a:tcPr>
                </a:tc>
                <a:extLst>
                  <a:ext uri="{0D108BD9-81ED-4DB2-BD59-A6C34878D82A}">
                    <a16:rowId xmlns:a16="http://schemas.microsoft.com/office/drawing/2014/main" val="10000"/>
                  </a:ext>
                </a:extLst>
              </a:tr>
              <a:tr h="256032">
                <a:tc>
                  <a:txBody>
                    <a:bodyPr/>
                    <a:lstStyle/>
                    <a:p>
                      <a:pPr algn="l"/>
                      <a:r>
                        <a:rPr sz="1050" b="1">
                          <a:solidFill>
                            <a:srgbClr val="202020"/>
                          </a:solidFill>
                          <a:latin typeface="Calibri"/>
                        </a:rPr>
                        <a:t>Precision / Recall S (%)</a:t>
                      </a:r>
                    </a:p>
                  </a:txBody>
                  <a:tcPr marL="54864" marR="54864" marT="27432" marB="27432">
                    <a:solidFill>
                      <a:srgbClr val="F2F2F2"/>
                    </a:solidFill>
                  </a:tcPr>
                </a:tc>
                <a:tc>
                  <a:txBody>
                    <a:bodyPr/>
                    <a:lstStyle/>
                    <a:p>
                      <a:pPr algn="ctr"/>
                      <a:r>
                        <a:rPr sz="1050" b="0">
                          <a:solidFill>
                            <a:srgbClr val="202020"/>
                          </a:solidFill>
                          <a:latin typeface="Calibri"/>
                        </a:rPr>
                        <a:t>55.86 / 66.91</a:t>
                      </a:r>
                    </a:p>
                  </a:txBody>
                  <a:tcPr marL="54864" marR="54864" marT="27432" marB="27432">
                    <a:solidFill>
                      <a:srgbClr val="F2F2F2"/>
                    </a:solidFill>
                  </a:tcPr>
                </a:tc>
                <a:tc>
                  <a:txBody>
                    <a:bodyPr/>
                    <a:lstStyle/>
                    <a:p>
                      <a:pPr algn="ctr"/>
                      <a:r>
                        <a:rPr sz="1050" b="0">
                          <a:solidFill>
                            <a:srgbClr val="202020"/>
                          </a:solidFill>
                          <a:latin typeface="Calibri"/>
                        </a:rPr>
                        <a:t>87.58 / 77.34</a:t>
                      </a:r>
                    </a:p>
                  </a:txBody>
                  <a:tcPr marL="54864" marR="54864" marT="27432" marB="27432">
                    <a:solidFill>
                      <a:srgbClr val="F2F2F2"/>
                    </a:solidFill>
                  </a:tcPr>
                </a:tc>
                <a:extLst>
                  <a:ext uri="{0D108BD9-81ED-4DB2-BD59-A6C34878D82A}">
                    <a16:rowId xmlns:a16="http://schemas.microsoft.com/office/drawing/2014/main" val="10001"/>
                  </a:ext>
                </a:extLst>
              </a:tr>
              <a:tr h="256032">
                <a:tc>
                  <a:txBody>
                    <a:bodyPr/>
                    <a:lstStyle/>
                    <a:p>
                      <a:pPr algn="l"/>
                      <a:r>
                        <a:rPr sz="1050" b="1">
                          <a:solidFill>
                            <a:srgbClr val="202020"/>
                          </a:solidFill>
                          <a:latin typeface="Calibri"/>
                        </a:rPr>
                        <a:t>Precision / Recall F (%)</a:t>
                      </a:r>
                    </a:p>
                  </a:txBody>
                  <a:tcPr marL="54864" marR="54864" marT="27432" marB="27432">
                    <a:solidFill>
                      <a:srgbClr val="FFFFFF"/>
                    </a:solidFill>
                  </a:tcPr>
                </a:tc>
                <a:tc>
                  <a:txBody>
                    <a:bodyPr/>
                    <a:lstStyle/>
                    <a:p>
                      <a:pPr algn="ctr"/>
                      <a:r>
                        <a:rPr sz="1050" b="0">
                          <a:solidFill>
                            <a:srgbClr val="202020"/>
                          </a:solidFill>
                          <a:latin typeface="Calibri"/>
                        </a:rPr>
                        <a:t>26.02 / 86.42</a:t>
                      </a:r>
                    </a:p>
                  </a:txBody>
                  <a:tcPr marL="54864" marR="54864" marT="27432" marB="27432">
                    <a:solidFill>
                      <a:srgbClr val="FFFFFF"/>
                    </a:solidFill>
                  </a:tcPr>
                </a:tc>
                <a:tc>
                  <a:txBody>
                    <a:bodyPr/>
                    <a:lstStyle/>
                    <a:p>
                      <a:pPr algn="ctr"/>
                      <a:r>
                        <a:rPr sz="1050" b="0">
                          <a:solidFill>
                            <a:srgbClr val="202020"/>
                          </a:solidFill>
                          <a:latin typeface="Calibri"/>
                        </a:rPr>
                        <a:t>82.12 / 76.54</a:t>
                      </a:r>
                    </a:p>
                  </a:txBody>
                  <a:tcPr marL="54864" marR="54864" marT="27432" marB="27432">
                    <a:solidFill>
                      <a:srgbClr val="FFFFFF"/>
                    </a:solidFill>
                  </a:tcPr>
                </a:tc>
                <a:extLst>
                  <a:ext uri="{0D108BD9-81ED-4DB2-BD59-A6C34878D82A}">
                    <a16:rowId xmlns:a16="http://schemas.microsoft.com/office/drawing/2014/main" val="10002"/>
                  </a:ext>
                </a:extLst>
              </a:tr>
              <a:tr h="256032">
                <a:tc>
                  <a:txBody>
                    <a:bodyPr/>
                    <a:lstStyle/>
                    <a:p>
                      <a:pPr algn="l"/>
                      <a:r>
                        <a:rPr sz="1050" b="1">
                          <a:solidFill>
                            <a:srgbClr val="202020"/>
                          </a:solidFill>
                          <a:latin typeface="Calibri"/>
                        </a:rPr>
                        <a:t>Beats wrongly predicted as F</a:t>
                      </a:r>
                    </a:p>
                  </a:txBody>
                  <a:tcPr marL="54864" marR="54864" marT="27432" marB="27432">
                    <a:solidFill>
                      <a:srgbClr val="F2F2F2"/>
                    </a:solidFill>
                  </a:tcPr>
                </a:tc>
                <a:tc>
                  <a:txBody>
                    <a:bodyPr/>
                    <a:lstStyle/>
                    <a:p>
                      <a:pPr algn="ctr"/>
                      <a:r>
                        <a:rPr sz="1050" b="0">
                          <a:solidFill>
                            <a:srgbClr val="202020"/>
                          </a:solidFill>
                          <a:latin typeface="Calibri"/>
                        </a:rPr>
                        <a:t>398</a:t>
                      </a:r>
                    </a:p>
                  </a:txBody>
                  <a:tcPr marL="54864" marR="54864" marT="27432" marB="27432">
                    <a:solidFill>
                      <a:srgbClr val="F2F2F2"/>
                    </a:solidFill>
                  </a:tcPr>
                </a:tc>
                <a:tc>
                  <a:txBody>
                    <a:bodyPr/>
                    <a:lstStyle/>
                    <a:p>
                      <a:pPr algn="ctr"/>
                      <a:r>
                        <a:rPr sz="1050" b="0">
                          <a:solidFill>
                            <a:srgbClr val="202020"/>
                          </a:solidFill>
                          <a:latin typeface="Calibri"/>
                        </a:rPr>
                        <a:t>27</a:t>
                      </a:r>
                    </a:p>
                  </a:txBody>
                  <a:tcPr marL="54864" marR="54864" marT="27432" marB="27432">
                    <a:solidFill>
                      <a:srgbClr val="F2F2F2"/>
                    </a:solidFill>
                  </a:tcPr>
                </a:tc>
                <a:extLst>
                  <a:ext uri="{0D108BD9-81ED-4DB2-BD59-A6C34878D82A}">
                    <a16:rowId xmlns:a16="http://schemas.microsoft.com/office/drawing/2014/main" val="10003"/>
                  </a:ext>
                </a:extLst>
              </a:tr>
              <a:tr h="256032">
                <a:tc>
                  <a:txBody>
                    <a:bodyPr/>
                    <a:lstStyle/>
                    <a:p>
                      <a:pPr algn="l"/>
                      <a:r>
                        <a:rPr sz="1050" b="1">
                          <a:solidFill>
                            <a:srgbClr val="202020"/>
                          </a:solidFill>
                          <a:latin typeface="Calibri"/>
                        </a:rPr>
                        <a:t>Beats wrongly predicted as S</a:t>
                      </a:r>
                    </a:p>
                  </a:txBody>
                  <a:tcPr marL="54864" marR="54864" marT="27432" marB="27432">
                    <a:solidFill>
                      <a:srgbClr val="FFFFFF"/>
                    </a:solidFill>
                  </a:tcPr>
                </a:tc>
                <a:tc>
                  <a:txBody>
                    <a:bodyPr/>
                    <a:lstStyle/>
                    <a:p>
                      <a:pPr algn="ctr"/>
                      <a:r>
                        <a:rPr sz="1050" b="0" dirty="0">
                          <a:solidFill>
                            <a:srgbClr val="202020"/>
                          </a:solidFill>
                          <a:latin typeface="Calibri"/>
                        </a:rPr>
                        <a:t>294</a:t>
                      </a:r>
                    </a:p>
                  </a:txBody>
                  <a:tcPr marL="54864" marR="54864" marT="27432" marB="27432">
                    <a:solidFill>
                      <a:srgbClr val="FFFFFF"/>
                    </a:solidFill>
                  </a:tcPr>
                </a:tc>
                <a:tc>
                  <a:txBody>
                    <a:bodyPr/>
                    <a:lstStyle/>
                    <a:p>
                      <a:pPr algn="ctr"/>
                      <a:r>
                        <a:rPr sz="1050" b="0">
                          <a:solidFill>
                            <a:srgbClr val="202020"/>
                          </a:solidFill>
                          <a:latin typeface="Calibri"/>
                        </a:rPr>
                        <a:t>61</a:t>
                      </a:r>
                    </a:p>
                  </a:txBody>
                  <a:tcPr marL="54864" marR="54864" marT="27432" marB="27432">
                    <a:solidFill>
                      <a:srgbClr val="FFFFFF"/>
                    </a:solidFill>
                  </a:tcPr>
                </a:tc>
                <a:extLst>
                  <a:ext uri="{0D108BD9-81ED-4DB2-BD59-A6C34878D82A}">
                    <a16:rowId xmlns:a16="http://schemas.microsoft.com/office/drawing/2014/main" val="10004"/>
                  </a:ext>
                </a:extLst>
              </a:tr>
              <a:tr h="256032">
                <a:tc>
                  <a:txBody>
                    <a:bodyPr/>
                    <a:lstStyle/>
                    <a:p>
                      <a:pPr algn="l"/>
                      <a:r>
                        <a:rPr sz="1050" b="1">
                          <a:solidFill>
                            <a:srgbClr val="202020"/>
                          </a:solidFill>
                          <a:latin typeface="Calibri"/>
                        </a:rPr>
                        <a:t>S beats predicted as N</a:t>
                      </a:r>
                    </a:p>
                  </a:txBody>
                  <a:tcPr marL="54864" marR="54864" marT="27432" marB="27432">
                    <a:solidFill>
                      <a:srgbClr val="F2F2F2"/>
                    </a:solidFill>
                  </a:tcPr>
                </a:tc>
                <a:tc>
                  <a:txBody>
                    <a:bodyPr/>
                    <a:lstStyle/>
                    <a:p>
                      <a:pPr algn="ctr"/>
                      <a:r>
                        <a:rPr sz="1050" b="0">
                          <a:solidFill>
                            <a:srgbClr val="202020"/>
                          </a:solidFill>
                          <a:latin typeface="Calibri"/>
                        </a:rPr>
                        <a:t>163 (29%)</a:t>
                      </a:r>
                    </a:p>
                  </a:txBody>
                  <a:tcPr marL="54864" marR="54864" marT="27432" marB="27432">
                    <a:solidFill>
                      <a:srgbClr val="F2F2F2"/>
                    </a:solidFill>
                  </a:tcPr>
                </a:tc>
                <a:tc>
                  <a:txBody>
                    <a:bodyPr/>
                    <a:lstStyle/>
                    <a:p>
                      <a:pPr algn="ctr"/>
                      <a:r>
                        <a:rPr sz="1050" b="0">
                          <a:solidFill>
                            <a:srgbClr val="202020"/>
                          </a:solidFill>
                          <a:latin typeface="Calibri"/>
                        </a:rPr>
                        <a:t>120 (22%)</a:t>
                      </a:r>
                    </a:p>
                  </a:txBody>
                  <a:tcPr marL="54864" marR="54864" marT="27432" marB="27432">
                    <a:solidFill>
                      <a:srgbClr val="F2F2F2"/>
                    </a:solidFill>
                  </a:tcPr>
                </a:tc>
                <a:extLst>
                  <a:ext uri="{0D108BD9-81ED-4DB2-BD59-A6C34878D82A}">
                    <a16:rowId xmlns:a16="http://schemas.microsoft.com/office/drawing/2014/main" val="10005"/>
                  </a:ext>
                </a:extLst>
              </a:tr>
              <a:tr h="256032">
                <a:tc>
                  <a:txBody>
                    <a:bodyPr/>
                    <a:lstStyle/>
                    <a:p>
                      <a:pPr algn="l"/>
                      <a:r>
                        <a:rPr sz="1050" b="1">
                          <a:solidFill>
                            <a:srgbClr val="202020"/>
                          </a:solidFill>
                          <a:latin typeface="Calibri"/>
                        </a:rPr>
                        <a:t>Parameters</a:t>
                      </a:r>
                    </a:p>
                  </a:txBody>
                  <a:tcPr marL="54864" marR="54864" marT="27432" marB="27432">
                    <a:solidFill>
                      <a:srgbClr val="FFFFFF"/>
                    </a:solidFill>
                  </a:tcPr>
                </a:tc>
                <a:tc>
                  <a:txBody>
                    <a:bodyPr/>
                    <a:lstStyle/>
                    <a:p>
                      <a:pPr algn="ctr"/>
                      <a:r>
                        <a:rPr sz="1050" b="0">
                          <a:solidFill>
                            <a:srgbClr val="202020"/>
                          </a:solidFill>
                          <a:latin typeface="Calibri"/>
                        </a:rPr>
                        <a:t>44,741</a:t>
                      </a:r>
                    </a:p>
                  </a:txBody>
                  <a:tcPr marL="54864" marR="54864" marT="27432" marB="27432">
                    <a:solidFill>
                      <a:srgbClr val="FFFFFF"/>
                    </a:solidFill>
                  </a:tcPr>
                </a:tc>
                <a:tc>
                  <a:txBody>
                    <a:bodyPr/>
                    <a:lstStyle/>
                    <a:p>
                      <a:pPr algn="ctr"/>
                      <a:r>
                        <a:rPr sz="1050" b="0" dirty="0">
                          <a:solidFill>
                            <a:srgbClr val="202020"/>
                          </a:solidFill>
                          <a:latin typeface="Calibri"/>
                        </a:rPr>
                        <a:t>185,477</a:t>
                      </a:r>
                    </a:p>
                  </a:txBody>
                  <a:tcPr marL="54864" marR="54864" marT="27432" marB="27432">
                    <a:solidFill>
                      <a:srgbClr val="FFFFFF"/>
                    </a:solidFill>
                  </a:tcPr>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p:cNvGraphicFramePr>
          <p:nvPr/>
        </p:nvGraphicFramePr>
        <p:xfrm>
          <a:off x="5486400" y="3611880"/>
          <a:ext cx="3154680" cy="1792224"/>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256032">
                <a:tc>
                  <a:txBody>
                    <a:bodyPr/>
                    <a:lstStyle/>
                    <a:p>
                      <a:pPr algn="l"/>
                      <a:r>
                        <a:rPr sz="1050" b="1">
                          <a:solidFill>
                            <a:srgbClr val="FFFFFF"/>
                          </a:solidFill>
                          <a:latin typeface="Calibri"/>
                        </a:rPr>
                        <a:t>Class</a:t>
                      </a:r>
                    </a:p>
                  </a:txBody>
                  <a:tcPr marL="54864" marR="54864" marT="27432" marB="27432">
                    <a:solidFill>
                      <a:srgbClr val="1F3864"/>
                    </a:solidFill>
                  </a:tcPr>
                </a:tc>
                <a:tc>
                  <a:txBody>
                    <a:bodyPr/>
                    <a:lstStyle/>
                    <a:p>
                      <a:pPr algn="ctr"/>
                      <a:r>
                        <a:rPr sz="1050" b="1">
                          <a:solidFill>
                            <a:srgbClr val="FFFFFF"/>
                          </a:solidFill>
                          <a:latin typeface="Calibri"/>
                        </a:rPr>
                        <a:t>Prec.</a:t>
                      </a:r>
                    </a:p>
                  </a:txBody>
                  <a:tcPr marL="54864" marR="54864" marT="27432" marB="27432">
                    <a:solidFill>
                      <a:srgbClr val="1F3864"/>
                    </a:solidFill>
                  </a:tcPr>
                </a:tc>
                <a:tc>
                  <a:txBody>
                    <a:bodyPr/>
                    <a:lstStyle/>
                    <a:p>
                      <a:pPr algn="ctr"/>
                      <a:r>
                        <a:rPr sz="1050" b="1">
                          <a:solidFill>
                            <a:srgbClr val="FFFFFF"/>
                          </a:solidFill>
                          <a:latin typeface="Calibri"/>
                        </a:rPr>
                        <a:t>Rec.</a:t>
                      </a:r>
                    </a:p>
                  </a:txBody>
                  <a:tcPr marL="54864" marR="54864" marT="27432" marB="27432">
                    <a:solidFill>
                      <a:srgbClr val="1F3864"/>
                    </a:solidFill>
                  </a:tcPr>
                </a:tc>
                <a:tc>
                  <a:txBody>
                    <a:bodyPr/>
                    <a:lstStyle/>
                    <a:p>
                      <a:pPr algn="ctr"/>
                      <a:r>
                        <a:rPr sz="1050" b="1">
                          <a:solidFill>
                            <a:srgbClr val="FFFFFF"/>
                          </a:solidFill>
                          <a:latin typeface="Calibri"/>
                        </a:rPr>
                        <a:t>F1</a:t>
                      </a:r>
                    </a:p>
                  </a:txBody>
                  <a:tcPr marL="54864" marR="54864" marT="27432" marB="27432">
                    <a:solidFill>
                      <a:srgbClr val="1F3864"/>
                    </a:solidFill>
                  </a:tcPr>
                </a:tc>
                <a:extLst>
                  <a:ext uri="{0D108BD9-81ED-4DB2-BD59-A6C34878D82A}">
                    <a16:rowId xmlns:a16="http://schemas.microsoft.com/office/drawing/2014/main" val="10000"/>
                  </a:ext>
                </a:extLst>
              </a:tr>
              <a:tr h="256032">
                <a:tc>
                  <a:txBody>
                    <a:bodyPr/>
                    <a:lstStyle/>
                    <a:p>
                      <a:pPr algn="l"/>
                      <a:r>
                        <a:rPr sz="1050" b="1">
                          <a:solidFill>
                            <a:srgbClr val="202020"/>
                          </a:solidFill>
                          <a:latin typeface="Calibri"/>
                        </a:rPr>
                        <a:t>N</a:t>
                      </a:r>
                    </a:p>
                  </a:txBody>
                  <a:tcPr marL="54864" marR="54864" marT="27432" marB="27432">
                    <a:solidFill>
                      <a:srgbClr val="F2F2F2"/>
                    </a:solidFill>
                  </a:tcPr>
                </a:tc>
                <a:tc>
                  <a:txBody>
                    <a:bodyPr/>
                    <a:lstStyle/>
                    <a:p>
                      <a:pPr algn="ctr"/>
                      <a:r>
                        <a:rPr sz="1050" b="0">
                          <a:solidFill>
                            <a:srgbClr val="202020"/>
                          </a:solidFill>
                          <a:latin typeface="Calibri"/>
                        </a:rPr>
                        <a:t>0.987</a:t>
                      </a:r>
                    </a:p>
                  </a:txBody>
                  <a:tcPr marL="54864" marR="54864" marT="27432" marB="27432">
                    <a:solidFill>
                      <a:srgbClr val="F2F2F2"/>
                    </a:solidFill>
                  </a:tcPr>
                </a:tc>
                <a:tc>
                  <a:txBody>
                    <a:bodyPr/>
                    <a:lstStyle/>
                    <a:p>
                      <a:pPr algn="ctr"/>
                      <a:r>
                        <a:rPr sz="1050" b="0">
                          <a:solidFill>
                            <a:srgbClr val="202020"/>
                          </a:solidFill>
                          <a:latin typeface="Calibri"/>
                        </a:rPr>
                        <a:t>0.996</a:t>
                      </a:r>
                    </a:p>
                  </a:txBody>
                  <a:tcPr marL="54864" marR="54864" marT="27432" marB="27432">
                    <a:solidFill>
                      <a:srgbClr val="F2F2F2"/>
                    </a:solidFill>
                  </a:tcPr>
                </a:tc>
                <a:tc>
                  <a:txBody>
                    <a:bodyPr/>
                    <a:lstStyle/>
                    <a:p>
                      <a:pPr algn="ctr"/>
                      <a:r>
                        <a:rPr sz="1050" b="0">
                          <a:solidFill>
                            <a:srgbClr val="202020"/>
                          </a:solidFill>
                          <a:latin typeface="Calibri"/>
                        </a:rPr>
                        <a:t>0.992</a:t>
                      </a:r>
                    </a:p>
                  </a:txBody>
                  <a:tcPr marL="54864" marR="54864" marT="27432" marB="27432">
                    <a:solidFill>
                      <a:srgbClr val="F2F2F2"/>
                    </a:solidFill>
                  </a:tcPr>
                </a:tc>
                <a:extLst>
                  <a:ext uri="{0D108BD9-81ED-4DB2-BD59-A6C34878D82A}">
                    <a16:rowId xmlns:a16="http://schemas.microsoft.com/office/drawing/2014/main" val="10001"/>
                  </a:ext>
                </a:extLst>
              </a:tr>
              <a:tr h="256032">
                <a:tc>
                  <a:txBody>
                    <a:bodyPr/>
                    <a:lstStyle/>
                    <a:p>
                      <a:pPr algn="l"/>
                      <a:r>
                        <a:rPr sz="1050" b="1">
                          <a:solidFill>
                            <a:srgbClr val="202020"/>
                          </a:solidFill>
                          <a:latin typeface="Calibri"/>
                        </a:rPr>
                        <a:t>S</a:t>
                      </a:r>
                    </a:p>
                  </a:txBody>
                  <a:tcPr marL="54864" marR="54864" marT="27432" marB="27432">
                    <a:solidFill>
                      <a:srgbClr val="FFFFFF"/>
                    </a:solidFill>
                  </a:tcPr>
                </a:tc>
                <a:tc>
                  <a:txBody>
                    <a:bodyPr/>
                    <a:lstStyle/>
                    <a:p>
                      <a:pPr algn="ctr"/>
                      <a:r>
                        <a:rPr sz="1050" b="0">
                          <a:solidFill>
                            <a:srgbClr val="202020"/>
                          </a:solidFill>
                          <a:latin typeface="Calibri"/>
                        </a:rPr>
                        <a:t>0.876</a:t>
                      </a:r>
                    </a:p>
                  </a:txBody>
                  <a:tcPr marL="54864" marR="54864" marT="27432" marB="27432">
                    <a:solidFill>
                      <a:srgbClr val="FFFFFF"/>
                    </a:solidFill>
                  </a:tcPr>
                </a:tc>
                <a:tc>
                  <a:txBody>
                    <a:bodyPr/>
                    <a:lstStyle/>
                    <a:p>
                      <a:pPr algn="ctr"/>
                      <a:r>
                        <a:rPr sz="1050" b="0">
                          <a:solidFill>
                            <a:srgbClr val="202020"/>
                          </a:solidFill>
                          <a:latin typeface="Calibri"/>
                        </a:rPr>
                        <a:t>0.773</a:t>
                      </a:r>
                    </a:p>
                  </a:txBody>
                  <a:tcPr marL="54864" marR="54864" marT="27432" marB="27432">
                    <a:solidFill>
                      <a:srgbClr val="FFFFFF"/>
                    </a:solidFill>
                  </a:tcPr>
                </a:tc>
                <a:tc>
                  <a:txBody>
                    <a:bodyPr/>
                    <a:lstStyle/>
                    <a:p>
                      <a:pPr algn="ctr"/>
                      <a:r>
                        <a:rPr sz="1050" b="0">
                          <a:solidFill>
                            <a:srgbClr val="202020"/>
                          </a:solidFill>
                          <a:latin typeface="Calibri"/>
                        </a:rPr>
                        <a:t>0.821</a:t>
                      </a:r>
                    </a:p>
                  </a:txBody>
                  <a:tcPr marL="54864" marR="54864" marT="27432" marB="27432">
                    <a:solidFill>
                      <a:srgbClr val="FFFFFF"/>
                    </a:solidFill>
                  </a:tcPr>
                </a:tc>
                <a:extLst>
                  <a:ext uri="{0D108BD9-81ED-4DB2-BD59-A6C34878D82A}">
                    <a16:rowId xmlns:a16="http://schemas.microsoft.com/office/drawing/2014/main" val="10002"/>
                  </a:ext>
                </a:extLst>
              </a:tr>
              <a:tr h="256032">
                <a:tc>
                  <a:txBody>
                    <a:bodyPr/>
                    <a:lstStyle/>
                    <a:p>
                      <a:pPr algn="l"/>
                      <a:r>
                        <a:rPr sz="1050" b="1">
                          <a:solidFill>
                            <a:srgbClr val="202020"/>
                          </a:solidFill>
                          <a:latin typeface="Calibri"/>
                        </a:rPr>
                        <a:t>V</a:t>
                      </a:r>
                    </a:p>
                  </a:txBody>
                  <a:tcPr marL="54864" marR="54864" marT="27432" marB="27432">
                    <a:solidFill>
                      <a:srgbClr val="F2F2F2"/>
                    </a:solidFill>
                  </a:tcPr>
                </a:tc>
                <a:tc>
                  <a:txBody>
                    <a:bodyPr/>
                    <a:lstStyle/>
                    <a:p>
                      <a:pPr algn="ctr"/>
                      <a:r>
                        <a:rPr sz="1050" b="0">
                          <a:solidFill>
                            <a:srgbClr val="202020"/>
                          </a:solidFill>
                          <a:latin typeface="Calibri"/>
                        </a:rPr>
                        <a:t>0.981</a:t>
                      </a:r>
                    </a:p>
                  </a:txBody>
                  <a:tcPr marL="54864" marR="54864" marT="27432" marB="27432">
                    <a:solidFill>
                      <a:srgbClr val="F2F2F2"/>
                    </a:solidFill>
                  </a:tcPr>
                </a:tc>
                <a:tc>
                  <a:txBody>
                    <a:bodyPr/>
                    <a:lstStyle/>
                    <a:p>
                      <a:pPr algn="ctr"/>
                      <a:r>
                        <a:rPr sz="1050" b="0">
                          <a:solidFill>
                            <a:srgbClr val="202020"/>
                          </a:solidFill>
                          <a:latin typeface="Calibri"/>
                        </a:rPr>
                        <a:t>0.938</a:t>
                      </a:r>
                    </a:p>
                  </a:txBody>
                  <a:tcPr marL="54864" marR="54864" marT="27432" marB="27432">
                    <a:solidFill>
                      <a:srgbClr val="F2F2F2"/>
                    </a:solidFill>
                  </a:tcPr>
                </a:tc>
                <a:tc>
                  <a:txBody>
                    <a:bodyPr/>
                    <a:lstStyle/>
                    <a:p>
                      <a:pPr algn="ctr"/>
                      <a:r>
                        <a:rPr sz="1050" b="0">
                          <a:solidFill>
                            <a:srgbClr val="202020"/>
                          </a:solidFill>
                          <a:latin typeface="Calibri"/>
                        </a:rPr>
                        <a:t>0.959</a:t>
                      </a:r>
                    </a:p>
                  </a:txBody>
                  <a:tcPr marL="54864" marR="54864" marT="27432" marB="27432">
                    <a:solidFill>
                      <a:srgbClr val="F2F2F2"/>
                    </a:solidFill>
                  </a:tcPr>
                </a:tc>
                <a:extLst>
                  <a:ext uri="{0D108BD9-81ED-4DB2-BD59-A6C34878D82A}">
                    <a16:rowId xmlns:a16="http://schemas.microsoft.com/office/drawing/2014/main" val="10003"/>
                  </a:ext>
                </a:extLst>
              </a:tr>
              <a:tr h="256032">
                <a:tc>
                  <a:txBody>
                    <a:bodyPr/>
                    <a:lstStyle/>
                    <a:p>
                      <a:pPr algn="l"/>
                      <a:r>
                        <a:rPr sz="1050" b="1">
                          <a:solidFill>
                            <a:srgbClr val="202020"/>
                          </a:solidFill>
                          <a:latin typeface="Calibri"/>
                        </a:rPr>
                        <a:t>F</a:t>
                      </a:r>
                    </a:p>
                  </a:txBody>
                  <a:tcPr marL="54864" marR="54864" marT="27432" marB="27432">
                    <a:solidFill>
                      <a:srgbClr val="FFFFFF"/>
                    </a:solidFill>
                  </a:tcPr>
                </a:tc>
                <a:tc>
                  <a:txBody>
                    <a:bodyPr/>
                    <a:lstStyle/>
                    <a:p>
                      <a:pPr algn="ctr"/>
                      <a:r>
                        <a:rPr sz="1050" b="0" dirty="0">
                          <a:solidFill>
                            <a:srgbClr val="202020"/>
                          </a:solidFill>
                          <a:latin typeface="Calibri"/>
                        </a:rPr>
                        <a:t>0.821</a:t>
                      </a:r>
                    </a:p>
                  </a:txBody>
                  <a:tcPr marL="54864" marR="54864" marT="27432" marB="27432">
                    <a:solidFill>
                      <a:srgbClr val="FFFFFF"/>
                    </a:solidFill>
                  </a:tcPr>
                </a:tc>
                <a:tc>
                  <a:txBody>
                    <a:bodyPr/>
                    <a:lstStyle/>
                    <a:p>
                      <a:pPr algn="ctr"/>
                      <a:r>
                        <a:rPr sz="1050" b="0">
                          <a:solidFill>
                            <a:srgbClr val="202020"/>
                          </a:solidFill>
                          <a:latin typeface="Calibri"/>
                        </a:rPr>
                        <a:t>0.765</a:t>
                      </a:r>
                    </a:p>
                  </a:txBody>
                  <a:tcPr marL="54864" marR="54864" marT="27432" marB="27432">
                    <a:solidFill>
                      <a:srgbClr val="FFFFFF"/>
                    </a:solidFill>
                  </a:tcPr>
                </a:tc>
                <a:tc>
                  <a:txBody>
                    <a:bodyPr/>
                    <a:lstStyle/>
                    <a:p>
                      <a:pPr algn="ctr"/>
                      <a:r>
                        <a:rPr sz="1050" b="0">
                          <a:solidFill>
                            <a:srgbClr val="202020"/>
                          </a:solidFill>
                          <a:latin typeface="Calibri"/>
                        </a:rPr>
                        <a:t>0.792</a:t>
                      </a:r>
                    </a:p>
                  </a:txBody>
                  <a:tcPr marL="54864" marR="54864" marT="27432" marB="27432">
                    <a:solidFill>
                      <a:srgbClr val="FFFFFF"/>
                    </a:solidFill>
                  </a:tcPr>
                </a:tc>
                <a:extLst>
                  <a:ext uri="{0D108BD9-81ED-4DB2-BD59-A6C34878D82A}">
                    <a16:rowId xmlns:a16="http://schemas.microsoft.com/office/drawing/2014/main" val="10004"/>
                  </a:ext>
                </a:extLst>
              </a:tr>
              <a:tr h="256032">
                <a:tc>
                  <a:txBody>
                    <a:bodyPr/>
                    <a:lstStyle/>
                    <a:p>
                      <a:pPr algn="l"/>
                      <a:r>
                        <a:rPr sz="1050" b="1">
                          <a:solidFill>
                            <a:srgbClr val="202020"/>
                          </a:solidFill>
                          <a:latin typeface="Calibri"/>
                        </a:rPr>
                        <a:t>Q</a:t>
                      </a:r>
                    </a:p>
                  </a:txBody>
                  <a:tcPr marL="54864" marR="54864" marT="27432" marB="27432">
                    <a:solidFill>
                      <a:srgbClr val="F2F2F2"/>
                    </a:solidFill>
                  </a:tcPr>
                </a:tc>
                <a:tc>
                  <a:txBody>
                    <a:bodyPr/>
                    <a:lstStyle/>
                    <a:p>
                      <a:pPr algn="ctr"/>
                      <a:r>
                        <a:rPr sz="1050" b="0">
                          <a:solidFill>
                            <a:srgbClr val="202020"/>
                          </a:solidFill>
                          <a:latin typeface="Calibri"/>
                        </a:rPr>
                        <a:t>0.998</a:t>
                      </a:r>
                    </a:p>
                  </a:txBody>
                  <a:tcPr marL="54864" marR="54864" marT="27432" marB="27432">
                    <a:solidFill>
                      <a:srgbClr val="F2F2F2"/>
                    </a:solidFill>
                  </a:tcPr>
                </a:tc>
                <a:tc>
                  <a:txBody>
                    <a:bodyPr/>
                    <a:lstStyle/>
                    <a:p>
                      <a:pPr algn="ctr"/>
                      <a:r>
                        <a:rPr sz="1050" b="0">
                          <a:solidFill>
                            <a:srgbClr val="202020"/>
                          </a:solidFill>
                          <a:latin typeface="Calibri"/>
                        </a:rPr>
                        <a:t>0.983</a:t>
                      </a:r>
                    </a:p>
                  </a:txBody>
                  <a:tcPr marL="54864" marR="54864" marT="27432" marB="27432">
                    <a:solidFill>
                      <a:srgbClr val="F2F2F2"/>
                    </a:solidFill>
                  </a:tcPr>
                </a:tc>
                <a:tc>
                  <a:txBody>
                    <a:bodyPr/>
                    <a:lstStyle/>
                    <a:p>
                      <a:pPr algn="ctr"/>
                      <a:r>
                        <a:rPr sz="1050" b="0">
                          <a:solidFill>
                            <a:srgbClr val="202020"/>
                          </a:solidFill>
                          <a:latin typeface="Calibri"/>
                        </a:rPr>
                        <a:t>0.991</a:t>
                      </a:r>
                    </a:p>
                  </a:txBody>
                  <a:tcPr marL="54864" marR="54864" marT="27432" marB="27432">
                    <a:solidFill>
                      <a:srgbClr val="F2F2F2"/>
                    </a:solidFill>
                  </a:tcPr>
                </a:tc>
                <a:extLst>
                  <a:ext uri="{0D108BD9-81ED-4DB2-BD59-A6C34878D82A}">
                    <a16:rowId xmlns:a16="http://schemas.microsoft.com/office/drawing/2014/main" val="10005"/>
                  </a:ext>
                </a:extLst>
              </a:tr>
              <a:tr h="256032">
                <a:tc>
                  <a:txBody>
                    <a:bodyPr/>
                    <a:lstStyle/>
                    <a:p>
                      <a:pPr algn="l"/>
                      <a:r>
                        <a:rPr sz="1050" b="1">
                          <a:solidFill>
                            <a:srgbClr val="202020"/>
                          </a:solidFill>
                          <a:latin typeface="Calibri"/>
                        </a:rPr>
                        <a:t>Macro</a:t>
                      </a:r>
                    </a:p>
                  </a:txBody>
                  <a:tcPr marL="54864" marR="54864" marT="27432" marB="27432">
                    <a:solidFill>
                      <a:srgbClr val="FCE4D6"/>
                    </a:solidFill>
                  </a:tcPr>
                </a:tc>
                <a:tc>
                  <a:txBody>
                    <a:bodyPr/>
                    <a:lstStyle/>
                    <a:p>
                      <a:pPr algn="ctr"/>
                      <a:r>
                        <a:rPr sz="1050" b="1">
                          <a:solidFill>
                            <a:srgbClr val="202020"/>
                          </a:solidFill>
                          <a:latin typeface="Calibri"/>
                        </a:rPr>
                        <a:t>0.933</a:t>
                      </a:r>
                    </a:p>
                  </a:txBody>
                  <a:tcPr marL="54864" marR="54864" marT="27432" marB="27432">
                    <a:solidFill>
                      <a:srgbClr val="FCE4D6"/>
                    </a:solidFill>
                  </a:tcPr>
                </a:tc>
                <a:tc>
                  <a:txBody>
                    <a:bodyPr/>
                    <a:lstStyle/>
                    <a:p>
                      <a:pPr algn="ctr"/>
                      <a:r>
                        <a:rPr sz="1050" b="1" dirty="0">
                          <a:solidFill>
                            <a:srgbClr val="202020"/>
                          </a:solidFill>
                          <a:latin typeface="Calibri"/>
                        </a:rPr>
                        <a:t>0.891</a:t>
                      </a:r>
                    </a:p>
                  </a:txBody>
                  <a:tcPr marL="54864" marR="54864" marT="27432" marB="27432">
                    <a:solidFill>
                      <a:srgbClr val="FCE4D6"/>
                    </a:solidFill>
                  </a:tcPr>
                </a:tc>
                <a:tc>
                  <a:txBody>
                    <a:bodyPr/>
                    <a:lstStyle/>
                    <a:p>
                      <a:pPr algn="ctr"/>
                      <a:r>
                        <a:rPr sz="1050" b="1" dirty="0">
                          <a:solidFill>
                            <a:srgbClr val="202020"/>
                          </a:solidFill>
                          <a:latin typeface="Calibri"/>
                        </a:rPr>
                        <a:t>0.911</a:t>
                      </a:r>
                    </a:p>
                  </a:txBody>
                  <a:tcPr marL="54864" marR="54864" marT="27432" marB="27432">
                    <a:solidFill>
                      <a:srgbClr val="FCE4D6"/>
                    </a:solidFill>
                  </a:tcPr>
                </a:tc>
                <a:extLst>
                  <a:ext uri="{0D108BD9-81ED-4DB2-BD59-A6C34878D82A}">
                    <a16:rowId xmlns:a16="http://schemas.microsoft.com/office/drawing/2014/main" val="10006"/>
                  </a:ext>
                </a:extLst>
              </a:tr>
            </a:tbl>
          </a:graphicData>
        </a:graphic>
      </p:graphicFrame>
      <p:sp>
        <p:nvSpPr>
          <p:cNvPr id="22" name="TextBox 21"/>
          <p:cNvSpPr txBox="1"/>
          <p:nvPr/>
        </p:nvSpPr>
        <p:spPr>
          <a:xfrm>
            <a:off x="502920" y="5486400"/>
            <a:ext cx="8138160" cy="274320"/>
          </a:xfrm>
          <a:prstGeom prst="rect">
            <a:avLst/>
          </a:prstGeom>
          <a:noFill/>
        </p:spPr>
        <p:txBody>
          <a:bodyPr wrap="square" lIns="0" tIns="0" rIns="0" bIns="0">
            <a:spAutoFit/>
          </a:bodyPr>
          <a:lstStyle/>
          <a:p>
            <a:pPr algn="l"/>
            <a:r>
              <a:rPr sz="1050" b="0" i="1">
                <a:solidFill>
                  <a:srgbClr val="595959"/>
                </a:solidFill>
                <a:latin typeface="Calibri"/>
              </a:rPr>
              <a:t>Test set: 21,892 beats; intra-patient split. F1 improved for every class (S 60.9 → 82.1, V 86.6 → 95.9, F 40.0 → 79.2).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Challenges &amp; Key Findings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05840"/>
            <a:ext cx="3977639" cy="320040"/>
          </a:xfrm>
          <a:prstGeom prst="rect">
            <a:avLst/>
          </a:prstGeom>
          <a:noFill/>
        </p:spPr>
        <p:txBody>
          <a:bodyPr wrap="square" lIns="0" tIns="0" rIns="0" bIns="0">
            <a:spAutoFit/>
          </a:bodyPr>
          <a:lstStyle/>
          <a:p>
            <a:pPr algn="l"/>
            <a:r>
              <a:rPr sz="1400" b="1" i="0">
                <a:solidFill>
                  <a:srgbClr val="ED7D31"/>
                </a:solidFill>
                <a:latin typeface="Calibri"/>
              </a:rPr>
              <a:t>Challenges faced</a:t>
            </a:r>
          </a:p>
        </p:txBody>
      </p:sp>
      <p:sp>
        <p:nvSpPr>
          <p:cNvPr id="16" name="TextBox 15"/>
          <p:cNvSpPr txBox="1"/>
          <p:nvPr/>
        </p:nvSpPr>
        <p:spPr>
          <a:xfrm>
            <a:off x="502920" y="1371600"/>
            <a:ext cx="3977639" cy="2377440"/>
          </a:xfrm>
          <a:prstGeom prst="rect">
            <a:avLst/>
          </a:prstGeom>
          <a:noFill/>
        </p:spPr>
        <p:txBody>
          <a:bodyPr wrap="square" lIns="0" tIns="0" rIns="0" bIns="0">
            <a:spAutoFit/>
          </a:bodyPr>
          <a:lstStyle/>
          <a:p>
            <a:pPr algn="l">
              <a:spcAft>
                <a:spcPts val="300"/>
              </a:spcAft>
            </a:pPr>
            <a:r>
              <a:rPr sz="1150" b="0" i="0" dirty="0">
                <a:solidFill>
                  <a:srgbClr val="202020"/>
                </a:solidFill>
                <a:latin typeface="Calibri"/>
              </a:rPr>
              <a:t>• Class imbalance: balanced weights (F:N 113:1) gave F precision 26.0%.</a:t>
            </a:r>
          </a:p>
          <a:p>
            <a:pPr algn="l">
              <a:spcAft>
                <a:spcPts val="300"/>
              </a:spcAft>
            </a:pPr>
            <a:r>
              <a:rPr sz="1150" b="0" i="0" dirty="0">
                <a:solidFill>
                  <a:srgbClr val="202020"/>
                </a:solidFill>
                <a:latin typeface="Calibri"/>
              </a:rPr>
              <a:t>• Unstable training: V1 validation accuracy swung 14.5% ↔ 95.1%.</a:t>
            </a:r>
          </a:p>
          <a:p>
            <a:pPr algn="l">
              <a:spcAft>
                <a:spcPts val="300"/>
              </a:spcAft>
            </a:pPr>
            <a:r>
              <a:rPr sz="1150" b="0" i="0" dirty="0">
                <a:solidFill>
                  <a:srgbClr val="202020"/>
                </a:solidFill>
                <a:latin typeface="Calibri"/>
              </a:rPr>
              <a:t>• E2 stability settings (−5.66) and augmentation E4 (−1.38) hurt; steps cumulative.</a:t>
            </a:r>
          </a:p>
          <a:p>
            <a:pPr algn="l">
              <a:spcAft>
                <a:spcPts val="300"/>
              </a:spcAft>
            </a:pPr>
            <a:r>
              <a:rPr sz="1150" b="0" i="0" dirty="0">
                <a:solidFill>
                  <a:srgbClr val="202020"/>
                </a:solidFill>
                <a:latin typeface="Calibri"/>
              </a:rPr>
              <a:t>• Optimistic setting: pre-processed, intra-patient, 5 classes, one seed per run.</a:t>
            </a:r>
          </a:p>
        </p:txBody>
      </p:sp>
      <p:sp>
        <p:nvSpPr>
          <p:cNvPr id="17" name="TextBox 16"/>
          <p:cNvSpPr txBox="1"/>
          <p:nvPr/>
        </p:nvSpPr>
        <p:spPr>
          <a:xfrm>
            <a:off x="4663440" y="1005840"/>
            <a:ext cx="3977639" cy="320040"/>
          </a:xfrm>
          <a:prstGeom prst="rect">
            <a:avLst/>
          </a:prstGeom>
          <a:noFill/>
        </p:spPr>
        <p:txBody>
          <a:bodyPr wrap="square" lIns="0" tIns="0" rIns="0" bIns="0">
            <a:spAutoFit/>
          </a:bodyPr>
          <a:lstStyle/>
          <a:p>
            <a:pPr algn="l"/>
            <a:r>
              <a:rPr sz="1400" b="1" i="0">
                <a:solidFill>
                  <a:srgbClr val="548235"/>
                </a:solidFill>
                <a:latin typeface="Calibri"/>
              </a:rPr>
              <a:t>Key findings</a:t>
            </a:r>
          </a:p>
        </p:txBody>
      </p:sp>
      <p:sp>
        <p:nvSpPr>
          <p:cNvPr id="18" name="TextBox 17"/>
          <p:cNvSpPr txBox="1"/>
          <p:nvPr/>
        </p:nvSpPr>
        <p:spPr>
          <a:xfrm>
            <a:off x="4663440" y="1371600"/>
            <a:ext cx="3977639" cy="2377440"/>
          </a:xfrm>
          <a:prstGeom prst="rect">
            <a:avLst/>
          </a:prstGeom>
          <a:noFill/>
        </p:spPr>
        <p:txBody>
          <a:bodyPr wrap="square" lIns="0" tIns="0" rIns="0" bIns="0">
            <a:spAutoFit/>
          </a:bodyPr>
          <a:lstStyle/>
          <a:p>
            <a:pPr algn="l">
              <a:spcAft>
                <a:spcPts val="300"/>
              </a:spcAft>
            </a:pPr>
            <a:r>
              <a:rPr sz="1150" b="0" i="0">
                <a:solidFill>
                  <a:srgbClr val="202020"/>
                </a:solidFill>
                <a:latin typeface="Calibri"/>
              </a:rPr>
              <a:t>• Biggest gains: square-root weights (E3, +9.28), epoch selection on macro F1 (E1, +7.67), residual network (E5, +4.57).</a:t>
            </a:r>
          </a:p>
          <a:p>
            <a:pPr algn="l">
              <a:spcAft>
                <a:spcPts val="300"/>
              </a:spcAft>
            </a:pPr>
            <a:r>
              <a:rPr sz="1150" b="0" i="0">
                <a:solidFill>
                  <a:srgbClr val="202020"/>
                </a:solidFill>
                <a:latin typeface="Calibri"/>
              </a:rPr>
              <a:t>• F recall fell 86.4% → 76.5%: V1's high recall came from over-predicting F.</a:t>
            </a:r>
          </a:p>
          <a:p>
            <a:pPr algn="l">
              <a:spcAft>
                <a:spcPts val="300"/>
              </a:spcAft>
            </a:pPr>
            <a:r>
              <a:rPr sz="1150" b="0" i="0">
                <a:solidFill>
                  <a:srgbClr val="202020"/>
                </a:solidFill>
                <a:latin typeface="Calibri"/>
              </a:rPr>
              <a:t>• Largest remaining error S → N (22%): S differs from N mainly in timing → RR features.</a:t>
            </a:r>
          </a:p>
        </p:txBody>
      </p:sp>
      <p:sp>
        <p:nvSpPr>
          <p:cNvPr id="19" name="TextBox 18"/>
          <p:cNvSpPr txBox="1"/>
          <p:nvPr/>
        </p:nvSpPr>
        <p:spPr>
          <a:xfrm>
            <a:off x="502920" y="3246120"/>
            <a:ext cx="8138160" cy="320040"/>
          </a:xfrm>
          <a:prstGeom prst="rect">
            <a:avLst/>
          </a:prstGeom>
          <a:noFill/>
        </p:spPr>
        <p:txBody>
          <a:bodyPr wrap="square" lIns="0" tIns="0" rIns="0" bIns="0">
            <a:spAutoFit/>
          </a:bodyPr>
          <a:lstStyle/>
          <a:p>
            <a:pPr algn="l"/>
            <a:r>
              <a:rPr sz="1400" b="1" i="0">
                <a:solidFill>
                  <a:srgbClr val="1F3864"/>
                </a:solidFill>
                <a:latin typeface="Calibri"/>
              </a:rPr>
              <a:t>Explainability finding</a:t>
            </a:r>
          </a:p>
        </p:txBody>
      </p:sp>
      <p:pic>
        <p:nvPicPr>
          <p:cNvPr id="20" name="Picture 19" descr="image.png"/>
          <p:cNvPicPr>
            <a:picLocks noChangeAspect="1"/>
          </p:cNvPicPr>
          <p:nvPr/>
        </p:nvPicPr>
        <p:blipFill>
          <a:blip r:embed="rId2"/>
          <a:stretch>
            <a:fillRect/>
          </a:stretch>
        </p:blipFill>
        <p:spPr>
          <a:xfrm>
            <a:off x="502920" y="3611880"/>
            <a:ext cx="8138160" cy="1679380"/>
          </a:xfrm>
          <a:prstGeom prst="rect">
            <a:avLst/>
          </a:prstGeom>
        </p:spPr>
      </p:pic>
      <p:sp>
        <p:nvSpPr>
          <p:cNvPr id="21" name="TextBox 20"/>
          <p:cNvSpPr txBox="1"/>
          <p:nvPr/>
        </p:nvSpPr>
        <p:spPr>
          <a:xfrm>
            <a:off x="502920" y="5349240"/>
            <a:ext cx="8138160" cy="274320"/>
          </a:xfrm>
          <a:prstGeom prst="rect">
            <a:avLst/>
          </a:prstGeom>
          <a:noFill/>
        </p:spPr>
        <p:txBody>
          <a:bodyPr wrap="square" lIns="0" tIns="0" rIns="0" bIns="0">
            <a:spAutoFit/>
          </a:bodyPr>
          <a:lstStyle/>
          <a:p>
            <a:pPr algn="ctr"/>
            <a:r>
              <a:rPr sz="1000" b="0" i="1">
                <a:solidFill>
                  <a:srgbClr val="595959"/>
                </a:solidFill>
                <a:latin typeface="Calibri"/>
              </a:rPr>
              <a:t>Grad-CAM of the final model (most confident correct beat per class): heat often near the second R peak → possible implicit RR cue; qualitative only so far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Future Work &amp; Expected Outcomes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05840"/>
            <a:ext cx="3977639" cy="320040"/>
          </a:xfrm>
          <a:prstGeom prst="rect">
            <a:avLst/>
          </a:prstGeom>
          <a:noFill/>
        </p:spPr>
        <p:txBody>
          <a:bodyPr wrap="square" lIns="0" tIns="0" rIns="0" bIns="0">
            <a:spAutoFit/>
          </a:bodyPr>
          <a:lstStyle/>
          <a:p>
            <a:pPr algn="l"/>
            <a:r>
              <a:rPr sz="1400" b="1" i="0">
                <a:solidFill>
                  <a:srgbClr val="202020"/>
                </a:solidFill>
                <a:latin typeface="Calibri"/>
              </a:rPr>
              <a:t>Remaining tasks</a:t>
            </a:r>
          </a:p>
        </p:txBody>
      </p:sp>
      <p:sp>
        <p:nvSpPr>
          <p:cNvPr id="16" name="TextBox 15"/>
          <p:cNvSpPr txBox="1"/>
          <p:nvPr/>
        </p:nvSpPr>
        <p:spPr>
          <a:xfrm>
            <a:off x="502920" y="1371600"/>
            <a:ext cx="365760" cy="365760"/>
          </a:xfrm>
          <a:prstGeom prst="rect">
            <a:avLst/>
          </a:prstGeom>
          <a:noFill/>
        </p:spPr>
        <p:txBody>
          <a:bodyPr wrap="square" lIns="0" tIns="0" rIns="0" bIns="0">
            <a:spAutoFit/>
          </a:bodyPr>
          <a:lstStyle/>
          <a:p>
            <a:pPr algn="l"/>
            <a:r>
              <a:rPr sz="1400" b="1" i="0">
                <a:solidFill>
                  <a:srgbClr val="ED7D31"/>
                </a:solidFill>
                <a:latin typeface="Calibri"/>
              </a:rPr>
              <a:t>1</a:t>
            </a:r>
          </a:p>
        </p:txBody>
      </p:sp>
      <p:sp>
        <p:nvSpPr>
          <p:cNvPr id="17" name="Rectangle 16"/>
          <p:cNvSpPr/>
          <p:nvPr/>
        </p:nvSpPr>
        <p:spPr>
          <a:xfrm>
            <a:off x="868680" y="1399032"/>
            <a:ext cx="45720" cy="466344"/>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1408176"/>
            <a:ext cx="3474720" cy="603504"/>
          </a:xfrm>
          <a:prstGeom prst="rect">
            <a:avLst/>
          </a:prstGeom>
          <a:noFill/>
        </p:spPr>
        <p:txBody>
          <a:bodyPr wrap="square" lIns="0" tIns="0" rIns="0" bIns="0">
            <a:spAutoFit/>
          </a:bodyPr>
          <a:lstStyle/>
          <a:p>
            <a:pPr algn="l">
              <a:spcAft>
                <a:spcPts val="300"/>
              </a:spcAft>
            </a:pPr>
            <a:r>
              <a:rPr sz="1100" b="0" i="0">
                <a:solidFill>
                  <a:srgbClr val="202020"/>
                </a:solidFill>
                <a:latin typeface="Calibri"/>
              </a:rPr>
              <a:t>Port pipeline to raw MIT-BIH; pre-processing + DS1/DS2 split</a:t>
            </a:r>
          </a:p>
        </p:txBody>
      </p:sp>
      <p:sp>
        <p:nvSpPr>
          <p:cNvPr id="19" name="TextBox 18"/>
          <p:cNvSpPr txBox="1"/>
          <p:nvPr/>
        </p:nvSpPr>
        <p:spPr>
          <a:xfrm>
            <a:off x="502920" y="1975104"/>
            <a:ext cx="365760" cy="365760"/>
          </a:xfrm>
          <a:prstGeom prst="rect">
            <a:avLst/>
          </a:prstGeom>
          <a:noFill/>
        </p:spPr>
        <p:txBody>
          <a:bodyPr wrap="square" lIns="0" tIns="0" rIns="0" bIns="0">
            <a:spAutoFit/>
          </a:bodyPr>
          <a:lstStyle/>
          <a:p>
            <a:pPr algn="l"/>
            <a:r>
              <a:rPr sz="1400" b="1" i="0">
                <a:solidFill>
                  <a:srgbClr val="ED7D31"/>
                </a:solidFill>
                <a:latin typeface="Calibri"/>
              </a:rPr>
              <a:t>2</a:t>
            </a:r>
          </a:p>
        </p:txBody>
      </p:sp>
      <p:sp>
        <p:nvSpPr>
          <p:cNvPr id="20" name="Rectangle 19"/>
          <p:cNvSpPr/>
          <p:nvPr/>
        </p:nvSpPr>
        <p:spPr>
          <a:xfrm>
            <a:off x="868680" y="2002536"/>
            <a:ext cx="45720" cy="466344"/>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2011680"/>
            <a:ext cx="3474720" cy="603504"/>
          </a:xfrm>
          <a:prstGeom prst="rect">
            <a:avLst/>
          </a:prstGeom>
          <a:noFill/>
        </p:spPr>
        <p:txBody>
          <a:bodyPr wrap="square" lIns="0" tIns="0" rIns="0" bIns="0">
            <a:spAutoFit/>
          </a:bodyPr>
          <a:lstStyle/>
          <a:p>
            <a:pPr algn="l">
              <a:spcAft>
                <a:spcPts val="300"/>
              </a:spcAft>
            </a:pPr>
            <a:r>
              <a:rPr sz="1100" b="0" i="0" dirty="0">
                <a:solidFill>
                  <a:srgbClr val="202020"/>
                </a:solidFill>
                <a:latin typeface="Calibri"/>
              </a:rPr>
              <a:t>Train hybrid CNN-LSTM + RR; per-class and macro F1; external test</a:t>
            </a:r>
          </a:p>
        </p:txBody>
      </p:sp>
      <p:sp>
        <p:nvSpPr>
          <p:cNvPr id="22" name="TextBox 21"/>
          <p:cNvSpPr txBox="1"/>
          <p:nvPr/>
        </p:nvSpPr>
        <p:spPr>
          <a:xfrm>
            <a:off x="502920" y="2578608"/>
            <a:ext cx="365760" cy="365760"/>
          </a:xfrm>
          <a:prstGeom prst="rect">
            <a:avLst/>
          </a:prstGeom>
          <a:noFill/>
        </p:spPr>
        <p:txBody>
          <a:bodyPr wrap="square" lIns="0" tIns="0" rIns="0" bIns="0">
            <a:spAutoFit/>
          </a:bodyPr>
          <a:lstStyle/>
          <a:p>
            <a:pPr algn="l"/>
            <a:r>
              <a:rPr sz="1400" b="1" i="0">
                <a:solidFill>
                  <a:srgbClr val="ED7D31"/>
                </a:solidFill>
                <a:latin typeface="Calibri"/>
              </a:rPr>
              <a:t>3</a:t>
            </a:r>
          </a:p>
        </p:txBody>
      </p:sp>
      <p:sp>
        <p:nvSpPr>
          <p:cNvPr id="23" name="Rectangle 22"/>
          <p:cNvSpPr/>
          <p:nvPr/>
        </p:nvSpPr>
        <p:spPr>
          <a:xfrm>
            <a:off x="868680" y="2606040"/>
            <a:ext cx="45720" cy="466344"/>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2615184"/>
            <a:ext cx="3474720" cy="603504"/>
          </a:xfrm>
          <a:prstGeom prst="rect">
            <a:avLst/>
          </a:prstGeom>
          <a:noFill/>
        </p:spPr>
        <p:txBody>
          <a:bodyPr wrap="square" lIns="0" tIns="0" rIns="0" bIns="0">
            <a:spAutoFit/>
          </a:bodyPr>
          <a:lstStyle/>
          <a:p>
            <a:pPr algn="l">
              <a:spcAft>
                <a:spcPts val="300"/>
              </a:spcAft>
            </a:pPr>
            <a:r>
              <a:rPr sz="1100" b="0" i="0">
                <a:solidFill>
                  <a:srgbClr val="202020"/>
                </a:solidFill>
                <a:latin typeface="Calibri"/>
              </a:rPr>
              <a:t>Apply Grad-CAM + SHAP; region-share, deletion and consistency checks</a:t>
            </a:r>
          </a:p>
        </p:txBody>
      </p:sp>
      <p:sp>
        <p:nvSpPr>
          <p:cNvPr id="25" name="TextBox 24"/>
          <p:cNvSpPr txBox="1"/>
          <p:nvPr/>
        </p:nvSpPr>
        <p:spPr>
          <a:xfrm>
            <a:off x="502920" y="3182112"/>
            <a:ext cx="365760" cy="365760"/>
          </a:xfrm>
          <a:prstGeom prst="rect">
            <a:avLst/>
          </a:prstGeom>
          <a:noFill/>
        </p:spPr>
        <p:txBody>
          <a:bodyPr wrap="square" lIns="0" tIns="0" rIns="0" bIns="0">
            <a:spAutoFit/>
          </a:bodyPr>
          <a:lstStyle/>
          <a:p>
            <a:pPr algn="l"/>
            <a:r>
              <a:rPr sz="1400" b="1" i="0">
                <a:solidFill>
                  <a:srgbClr val="ED7D31"/>
                </a:solidFill>
                <a:latin typeface="Calibri"/>
              </a:rPr>
              <a:t>4</a:t>
            </a:r>
          </a:p>
        </p:txBody>
      </p:sp>
      <p:sp>
        <p:nvSpPr>
          <p:cNvPr id="26" name="Rectangle 25"/>
          <p:cNvSpPr/>
          <p:nvPr/>
        </p:nvSpPr>
        <p:spPr>
          <a:xfrm>
            <a:off x="868680" y="3209544"/>
            <a:ext cx="45720" cy="466344"/>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3218688"/>
            <a:ext cx="3474720" cy="603504"/>
          </a:xfrm>
          <a:prstGeom prst="rect">
            <a:avLst/>
          </a:prstGeom>
          <a:noFill/>
        </p:spPr>
        <p:txBody>
          <a:bodyPr wrap="square" lIns="0" tIns="0" rIns="0" bIns="0">
            <a:spAutoFit/>
          </a:bodyPr>
          <a:lstStyle/>
          <a:p>
            <a:pPr algn="l">
              <a:spcAft>
                <a:spcPts val="300"/>
              </a:spcAft>
            </a:pPr>
            <a:r>
              <a:rPr sz="1100" b="0" i="0" dirty="0">
                <a:solidFill>
                  <a:srgbClr val="202020"/>
                </a:solidFill>
                <a:latin typeface="Calibri"/>
              </a:rPr>
              <a:t>NSTDB noise at graded SNRs; explanation stability and uncertainty</a:t>
            </a:r>
          </a:p>
        </p:txBody>
      </p:sp>
      <p:sp>
        <p:nvSpPr>
          <p:cNvPr id="28" name="TextBox 27"/>
          <p:cNvSpPr txBox="1"/>
          <p:nvPr/>
        </p:nvSpPr>
        <p:spPr>
          <a:xfrm>
            <a:off x="502920" y="3785616"/>
            <a:ext cx="365760" cy="365760"/>
          </a:xfrm>
          <a:prstGeom prst="rect">
            <a:avLst/>
          </a:prstGeom>
          <a:noFill/>
        </p:spPr>
        <p:txBody>
          <a:bodyPr wrap="square" lIns="0" tIns="0" rIns="0" bIns="0">
            <a:spAutoFit/>
          </a:bodyPr>
          <a:lstStyle/>
          <a:p>
            <a:pPr algn="l"/>
            <a:r>
              <a:rPr sz="1400" b="1" i="0">
                <a:solidFill>
                  <a:srgbClr val="ED7D31"/>
                </a:solidFill>
                <a:latin typeface="Calibri"/>
              </a:rPr>
              <a:t>5</a:t>
            </a:r>
          </a:p>
        </p:txBody>
      </p:sp>
      <p:sp>
        <p:nvSpPr>
          <p:cNvPr id="29" name="Rectangle 28"/>
          <p:cNvSpPr/>
          <p:nvPr/>
        </p:nvSpPr>
        <p:spPr>
          <a:xfrm>
            <a:off x="868680" y="3813048"/>
            <a:ext cx="45720" cy="466344"/>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 y="3822192"/>
            <a:ext cx="3474720" cy="603504"/>
          </a:xfrm>
          <a:prstGeom prst="rect">
            <a:avLst/>
          </a:prstGeom>
          <a:noFill/>
        </p:spPr>
        <p:txBody>
          <a:bodyPr wrap="square" lIns="0" tIns="0" rIns="0" bIns="0">
            <a:spAutoFit/>
          </a:bodyPr>
          <a:lstStyle/>
          <a:p>
            <a:pPr algn="l">
              <a:spcAft>
                <a:spcPts val="300"/>
              </a:spcAft>
            </a:pPr>
            <a:r>
              <a:rPr sz="1100" b="0" i="0">
                <a:solidFill>
                  <a:srgbClr val="202020"/>
                </a:solidFill>
                <a:latin typeface="Calibri"/>
              </a:rPr>
              <a:t>Analyse results; final report and presentation</a:t>
            </a:r>
          </a:p>
        </p:txBody>
      </p:sp>
      <p:sp>
        <p:nvSpPr>
          <p:cNvPr id="31" name="TextBox 30"/>
          <p:cNvSpPr txBox="1"/>
          <p:nvPr/>
        </p:nvSpPr>
        <p:spPr>
          <a:xfrm>
            <a:off x="502920" y="4526280"/>
            <a:ext cx="3977639" cy="320040"/>
          </a:xfrm>
          <a:prstGeom prst="rect">
            <a:avLst/>
          </a:prstGeom>
          <a:noFill/>
        </p:spPr>
        <p:txBody>
          <a:bodyPr wrap="square" lIns="0" tIns="0" rIns="0" bIns="0">
            <a:spAutoFit/>
          </a:bodyPr>
          <a:lstStyle/>
          <a:p>
            <a:pPr algn="l"/>
            <a:r>
              <a:rPr sz="1400" b="1" i="0">
                <a:solidFill>
                  <a:srgbClr val="ED7D31"/>
                </a:solidFill>
                <a:latin typeface="Calibri"/>
              </a:rPr>
              <a:t>Anticipated challenges</a:t>
            </a:r>
          </a:p>
        </p:txBody>
      </p:sp>
      <p:sp>
        <p:nvSpPr>
          <p:cNvPr id="32" name="TextBox 31"/>
          <p:cNvSpPr txBox="1"/>
          <p:nvPr/>
        </p:nvSpPr>
        <p:spPr>
          <a:xfrm>
            <a:off x="502920" y="4873752"/>
            <a:ext cx="3977639" cy="137160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Inter-patient scores clearly lower; S and F remain hardest.</a:t>
            </a:r>
          </a:p>
          <a:p>
            <a:pPr algn="l">
              <a:spcAft>
                <a:spcPts val="300"/>
              </a:spcAft>
            </a:pPr>
            <a:r>
              <a:rPr sz="1100" b="0" i="0">
                <a:solidFill>
                  <a:srgbClr val="202020"/>
                </a:solidFill>
                <a:latin typeface="Calibri"/>
              </a:rPr>
              <a:t>• External testing and MC dropout only if time permits.</a:t>
            </a:r>
          </a:p>
        </p:txBody>
      </p:sp>
      <p:sp>
        <p:nvSpPr>
          <p:cNvPr id="33" name="TextBox 32"/>
          <p:cNvSpPr txBox="1"/>
          <p:nvPr/>
        </p:nvSpPr>
        <p:spPr>
          <a:xfrm>
            <a:off x="4663440" y="1005840"/>
            <a:ext cx="3977639" cy="320040"/>
          </a:xfrm>
          <a:prstGeom prst="rect">
            <a:avLst/>
          </a:prstGeom>
          <a:noFill/>
        </p:spPr>
        <p:txBody>
          <a:bodyPr wrap="square" lIns="0" tIns="0" rIns="0" bIns="0">
            <a:spAutoFit/>
          </a:bodyPr>
          <a:lstStyle/>
          <a:p>
            <a:pPr algn="l"/>
            <a:r>
              <a:rPr sz="1400" b="1" i="0">
                <a:solidFill>
                  <a:srgbClr val="202020"/>
                </a:solidFill>
                <a:latin typeface="Calibri"/>
              </a:rPr>
              <a:t>Deliverables</a:t>
            </a:r>
          </a:p>
        </p:txBody>
      </p:sp>
      <p:sp>
        <p:nvSpPr>
          <p:cNvPr id="34" name="TextBox 33"/>
          <p:cNvSpPr txBox="1"/>
          <p:nvPr/>
        </p:nvSpPr>
        <p:spPr>
          <a:xfrm>
            <a:off x="4663440" y="1371600"/>
            <a:ext cx="3977639" cy="1828800"/>
          </a:xfrm>
          <a:prstGeom prst="rect">
            <a:avLst/>
          </a:prstGeom>
          <a:noFill/>
        </p:spPr>
        <p:txBody>
          <a:bodyPr wrap="square" lIns="0" tIns="0" rIns="0" bIns="0">
            <a:spAutoFit/>
          </a:bodyPr>
          <a:lstStyle/>
          <a:p>
            <a:pPr algn="l">
              <a:spcAft>
                <a:spcPts val="300"/>
              </a:spcAft>
            </a:pPr>
            <a:r>
              <a:rPr sz="1100" b="0" i="0" dirty="0">
                <a:solidFill>
                  <a:srgbClr val="202020"/>
                </a:solidFill>
                <a:latin typeface="Calibri"/>
              </a:rPr>
              <a:t>• Patient-independent classifier with per-class and macro results (inter-patient + external).</a:t>
            </a:r>
          </a:p>
          <a:p>
            <a:pPr algn="l">
              <a:spcAft>
                <a:spcPts val="300"/>
              </a:spcAft>
            </a:pPr>
            <a:r>
              <a:rPr sz="1100" b="0" i="0" dirty="0">
                <a:solidFill>
                  <a:srgbClr val="202020"/>
                </a:solidFill>
                <a:latin typeface="Calibri"/>
              </a:rPr>
              <a:t>• Quantitative evaluation of explanations with two XAI methods.</a:t>
            </a:r>
          </a:p>
          <a:p>
            <a:pPr algn="l">
              <a:spcAft>
                <a:spcPts val="300"/>
              </a:spcAft>
            </a:pPr>
            <a:r>
              <a:rPr sz="1100" b="0" i="0" dirty="0">
                <a:solidFill>
                  <a:srgbClr val="202020"/>
                </a:solidFill>
                <a:latin typeface="Calibri"/>
              </a:rPr>
              <a:t>• Robustness and uncertainty analysis under NSTDB noise.</a:t>
            </a:r>
          </a:p>
          <a:p>
            <a:pPr algn="l">
              <a:spcAft>
                <a:spcPts val="300"/>
              </a:spcAft>
            </a:pPr>
            <a:r>
              <a:rPr sz="1100" b="0" i="0" dirty="0">
                <a:solidFill>
                  <a:srgbClr val="202020"/>
                </a:solidFill>
                <a:latin typeface="Calibri"/>
              </a:rPr>
              <a:t>• Final report and presentation.</a:t>
            </a:r>
          </a:p>
        </p:txBody>
      </p:sp>
      <p:sp>
        <p:nvSpPr>
          <p:cNvPr id="35" name="TextBox 34"/>
          <p:cNvSpPr txBox="1"/>
          <p:nvPr/>
        </p:nvSpPr>
        <p:spPr>
          <a:xfrm>
            <a:off x="4663440" y="3063240"/>
            <a:ext cx="3977639" cy="320040"/>
          </a:xfrm>
          <a:prstGeom prst="rect">
            <a:avLst/>
          </a:prstGeom>
          <a:noFill/>
        </p:spPr>
        <p:txBody>
          <a:bodyPr wrap="square" lIns="0" tIns="0" rIns="0" bIns="0">
            <a:spAutoFit/>
          </a:bodyPr>
          <a:lstStyle/>
          <a:p>
            <a:pPr algn="l"/>
            <a:r>
              <a:rPr sz="1400" b="1" i="0">
                <a:solidFill>
                  <a:srgbClr val="548235"/>
                </a:solidFill>
                <a:latin typeface="Calibri"/>
              </a:rPr>
              <a:t>Expected results</a:t>
            </a:r>
          </a:p>
        </p:txBody>
      </p:sp>
      <p:sp>
        <p:nvSpPr>
          <p:cNvPr id="36" name="TextBox 35"/>
          <p:cNvSpPr txBox="1"/>
          <p:nvPr/>
        </p:nvSpPr>
        <p:spPr>
          <a:xfrm>
            <a:off x="4663440" y="3429000"/>
            <a:ext cx="3977639" cy="2286000"/>
          </a:xfrm>
          <a:prstGeom prst="rect">
            <a:avLst/>
          </a:prstGeom>
          <a:noFill/>
        </p:spPr>
        <p:txBody>
          <a:bodyPr wrap="square" lIns="0" tIns="0" rIns="0" bIns="0">
            <a:spAutoFit/>
          </a:bodyPr>
          <a:lstStyle/>
          <a:p>
            <a:pPr algn="l">
              <a:spcAft>
                <a:spcPts val="300"/>
              </a:spcAft>
            </a:pPr>
            <a:r>
              <a:rPr sz="1100" b="0" i="0">
                <a:solidFill>
                  <a:srgbClr val="202020"/>
                </a:solidFill>
                <a:latin typeface="Calibri"/>
              </a:rPr>
              <a:t>• Intra-patient macro F1 ≈ 90%; DS1/DS2 clearly lower [1], [6]; RR features should raise S recall.</a:t>
            </a:r>
          </a:p>
          <a:p>
            <a:pPr algn="l">
              <a:spcAft>
                <a:spcPts val="300"/>
              </a:spcAft>
            </a:pPr>
            <a:r>
              <a:rPr sz="1100" b="0" i="0">
                <a:solidFill>
                  <a:srgbClr val="202020"/>
                </a:solidFill>
                <a:latin typeface="Calibri"/>
              </a:rPr>
              <a:t>• V beats: larger QRS importance share than N; top-sample deletion ≫ random deletion.</a:t>
            </a:r>
          </a:p>
          <a:p>
            <a:pPr algn="l">
              <a:spcAft>
                <a:spcPts val="300"/>
              </a:spcAft>
            </a:pPr>
            <a:r>
              <a:rPr sz="1100" b="0" i="0">
                <a:solidFill>
                  <a:srgbClr val="202020"/>
                </a:solidFill>
                <a:latin typeface="Calibri"/>
              </a:rPr>
              <a:t>• Macro F1 and explanation stability fall as SNR drops 18 → 0 dB.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65760"/>
            <a:ext cx="7772400" cy="566928"/>
          </a:xfrm>
          <a:prstGeom prst="rect">
            <a:avLst/>
          </a:prstGeom>
          <a:noFill/>
        </p:spPr>
        <p:txBody>
          <a:bodyPr wrap="square" lIns="0" tIns="0" rIns="0" bIns="0" anchor="t">
            <a:spAutoFit/>
          </a:bodyPr>
          <a:lstStyle/>
          <a:p>
            <a:pPr algn="ctr"/>
            <a:r>
              <a:rPr sz="2600" b="1">
                <a:solidFill>
                  <a:srgbClr val="202020"/>
                </a:solidFill>
                <a:latin typeface="Times New Roman"/>
              </a:rPr>
              <a:t>Conclusion &amp; References</a:t>
            </a:r>
          </a:p>
        </p:txBody>
      </p:sp>
      <p:sp>
        <p:nvSpPr>
          <p:cNvPr id="11" name="Rectangle 10"/>
          <p:cNvSpPr/>
          <p:nvPr/>
        </p:nvSpPr>
        <p:spPr>
          <a:xfrm>
            <a:off x="0" y="0"/>
            <a:ext cx="9144000" cy="5715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57150"/>
            <a:ext cx="9144000" cy="28575"/>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800850"/>
            <a:ext cx="9144000" cy="5715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772275"/>
            <a:ext cx="9144000" cy="28575"/>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005840"/>
            <a:ext cx="8138160" cy="320040"/>
          </a:xfrm>
          <a:prstGeom prst="rect">
            <a:avLst/>
          </a:prstGeom>
          <a:noFill/>
        </p:spPr>
        <p:txBody>
          <a:bodyPr wrap="square" lIns="0" tIns="0" rIns="0" bIns="0">
            <a:spAutoFit/>
          </a:bodyPr>
          <a:lstStyle/>
          <a:p>
            <a:pPr algn="l"/>
            <a:r>
              <a:rPr sz="1400" b="1" i="0">
                <a:solidFill>
                  <a:srgbClr val="202020"/>
                </a:solidFill>
                <a:latin typeface="Calibri"/>
              </a:rPr>
              <a:t>Conclusion</a:t>
            </a:r>
          </a:p>
        </p:txBody>
      </p:sp>
      <p:sp>
        <p:nvSpPr>
          <p:cNvPr id="16" name="TextBox 15"/>
          <p:cNvSpPr txBox="1"/>
          <p:nvPr/>
        </p:nvSpPr>
        <p:spPr>
          <a:xfrm>
            <a:off x="502920" y="1371600"/>
            <a:ext cx="8138160" cy="2194560"/>
          </a:xfrm>
          <a:prstGeom prst="rect">
            <a:avLst/>
          </a:prstGeom>
          <a:noFill/>
        </p:spPr>
        <p:txBody>
          <a:bodyPr wrap="square" lIns="0" tIns="0" rIns="0" bIns="0">
            <a:spAutoFit/>
          </a:bodyPr>
          <a:lstStyle/>
          <a:p>
            <a:pPr algn="l">
              <a:spcAft>
                <a:spcPts val="300"/>
              </a:spcAft>
            </a:pPr>
            <a:r>
              <a:rPr sz="1250" b="0" i="0">
                <a:solidFill>
                  <a:srgbClr val="202020"/>
                </a:solidFill>
                <a:latin typeface="Calibri"/>
              </a:rPr>
              <a:t>• A working training, evaluation and Grad-CAM pipeline is in place.</a:t>
            </a:r>
          </a:p>
          <a:p>
            <a:pPr algn="l">
              <a:spcAft>
                <a:spcPts val="300"/>
              </a:spcAft>
            </a:pPr>
            <a:r>
              <a:rPr sz="1250" b="0" i="0">
                <a:solidFill>
                  <a:srgbClr val="202020"/>
                </a:solidFill>
                <a:latin typeface="Calibri"/>
              </a:rPr>
              <a:t>• Macro F1 </a:t>
            </a:r>
            <a:r>
              <a:rPr sz="1250" b="1" i="0">
                <a:solidFill>
                  <a:srgbClr val="202020"/>
                </a:solidFill>
                <a:latin typeface="Calibri"/>
              </a:rPr>
              <a:t>76.29% → 91.10%</a:t>
            </a:r>
            <a:r>
              <a:rPr sz="1250" b="0" i="0">
                <a:solidFill>
                  <a:srgbClr val="202020"/>
                </a:solidFill>
                <a:latin typeface="Calibri"/>
              </a:rPr>
              <a:t> and accuracy </a:t>
            </a:r>
            <a:r>
              <a:rPr sz="1250" b="1" i="0">
                <a:solidFill>
                  <a:srgbClr val="202020"/>
                </a:solidFill>
                <a:latin typeface="Calibri"/>
              </a:rPr>
              <a:t>94.41% → 98.41%</a:t>
            </a:r>
            <a:r>
              <a:rPr sz="1250" b="0" i="0">
                <a:solidFill>
                  <a:srgbClr val="202020"/>
                </a:solidFill>
                <a:latin typeface="Calibri"/>
              </a:rPr>
              <a:t> via epoch selection, square-root weights and a residual CNN.</a:t>
            </a:r>
          </a:p>
          <a:p>
            <a:pPr algn="l">
              <a:spcAft>
                <a:spcPts val="300"/>
              </a:spcAft>
            </a:pPr>
            <a:r>
              <a:rPr sz="1250" b="0" i="0">
                <a:solidFill>
                  <a:srgbClr val="202020"/>
                </a:solidFill>
                <a:latin typeface="Calibri"/>
              </a:rPr>
              <a:t>• Results are intra-patient: a development baseline for the patient-independent framework.</a:t>
            </a:r>
          </a:p>
          <a:p>
            <a:pPr algn="l">
              <a:spcAft>
                <a:spcPts val="300"/>
              </a:spcAft>
            </a:pPr>
            <a:r>
              <a:rPr sz="1250" b="1" i="0">
                <a:solidFill>
                  <a:srgbClr val="202020"/>
                </a:solidFill>
                <a:latin typeface="Calibri"/>
              </a:rPr>
              <a:t>• Next: </a:t>
            </a:r>
            <a:r>
              <a:rPr sz="1250" b="0" i="0">
                <a:solidFill>
                  <a:srgbClr val="202020"/>
                </a:solidFill>
                <a:latin typeface="Calibri"/>
              </a:rPr>
              <a:t>raw MIT-BIH + DS1/DS2 → CNN-LSTM + RR → Grad-CAM / SHAP checks → NSTDB noise.</a:t>
            </a:r>
          </a:p>
        </p:txBody>
      </p:sp>
      <p:sp>
        <p:nvSpPr>
          <p:cNvPr id="17" name="TextBox 16"/>
          <p:cNvSpPr txBox="1"/>
          <p:nvPr/>
        </p:nvSpPr>
        <p:spPr>
          <a:xfrm>
            <a:off x="502920" y="3154680"/>
            <a:ext cx="8138160" cy="320040"/>
          </a:xfrm>
          <a:prstGeom prst="rect">
            <a:avLst/>
          </a:prstGeom>
          <a:noFill/>
        </p:spPr>
        <p:txBody>
          <a:bodyPr wrap="square" lIns="0" tIns="0" rIns="0" bIns="0">
            <a:spAutoFit/>
          </a:bodyPr>
          <a:lstStyle/>
          <a:p>
            <a:pPr algn="l"/>
            <a:r>
              <a:rPr sz="1400" b="1" i="0">
                <a:solidFill>
                  <a:srgbClr val="202020"/>
                </a:solidFill>
                <a:latin typeface="Calibri"/>
              </a:rPr>
              <a:t>References</a:t>
            </a:r>
          </a:p>
        </p:txBody>
      </p:sp>
      <p:sp>
        <p:nvSpPr>
          <p:cNvPr id="18" name="TextBox 17"/>
          <p:cNvSpPr txBox="1"/>
          <p:nvPr/>
        </p:nvSpPr>
        <p:spPr>
          <a:xfrm>
            <a:off x="502920" y="3520440"/>
            <a:ext cx="8138160" cy="2743200"/>
          </a:xfrm>
          <a:prstGeom prst="rect">
            <a:avLst/>
          </a:prstGeom>
          <a:noFill/>
        </p:spPr>
        <p:txBody>
          <a:bodyPr wrap="square" lIns="0" tIns="0" rIns="0" bIns="0">
            <a:spAutoFit/>
          </a:bodyPr>
          <a:lstStyle/>
          <a:p>
            <a:pPr algn="l">
              <a:spcAft>
                <a:spcPts val="300"/>
              </a:spcAft>
            </a:pPr>
            <a:r>
              <a:rPr sz="1050" b="0" i="0" dirty="0">
                <a:solidFill>
                  <a:srgbClr val="202020"/>
                </a:solidFill>
                <a:latin typeface="Calibri"/>
              </a:rPr>
              <a:t>[1] Q. Xiao et al., "Deep learning-based ECG arrhythmia classification: A systematic review," Applied Sciences, vol. 13, Art. no. 4964, 2023.</a:t>
            </a:r>
          </a:p>
          <a:p>
            <a:pPr algn="l">
              <a:spcAft>
                <a:spcPts val="300"/>
              </a:spcAft>
            </a:pPr>
            <a:r>
              <a:rPr sz="1050" b="0" i="0" dirty="0">
                <a:solidFill>
                  <a:srgbClr val="202020"/>
                </a:solidFill>
                <a:latin typeface="Calibri"/>
              </a:rPr>
              <a:t>[2] N. N. Kulkarni et al., "Recent advances in deep learning based arrhythmia classification using ECG and PPG signals: A systematic review," Discover Computing, vol. 29, Art. no. 666, 2026.</a:t>
            </a:r>
          </a:p>
          <a:p>
            <a:pPr algn="l">
              <a:spcAft>
                <a:spcPts val="300"/>
              </a:spcAft>
            </a:pPr>
            <a:r>
              <a:rPr sz="1050" b="0" i="0" dirty="0">
                <a:solidFill>
                  <a:srgbClr val="202020"/>
                </a:solidFill>
                <a:latin typeface="Calibri"/>
              </a:rPr>
              <a:t>[3] J. Beck and A. John, "Explainable AI (XAI) for arrhythmia detection from electrocardiograms," arXiv:2508.17294, 2025.</a:t>
            </a:r>
          </a:p>
          <a:p>
            <a:pPr algn="l">
              <a:spcAft>
                <a:spcPts val="300"/>
              </a:spcAft>
            </a:pPr>
            <a:r>
              <a:rPr sz="1050" b="0" i="0" dirty="0">
                <a:solidFill>
                  <a:srgbClr val="202020"/>
                </a:solidFill>
                <a:latin typeface="Calibri"/>
              </a:rPr>
              <a:t>[4] B. A. </a:t>
            </a:r>
            <a:r>
              <a:rPr sz="1050" b="0" i="0" dirty="0" err="1">
                <a:solidFill>
                  <a:srgbClr val="202020"/>
                </a:solidFill>
                <a:latin typeface="Calibri"/>
              </a:rPr>
              <a:t>Hassoon</a:t>
            </a:r>
            <a:r>
              <a:rPr sz="1050" b="0" i="0" dirty="0">
                <a:solidFill>
                  <a:srgbClr val="202020"/>
                </a:solidFill>
                <a:latin typeface="Calibri"/>
              </a:rPr>
              <a:t> et al., "Dual-branch bidirectional attention fusion of temporal and hierarchical representations for robust ECG arrhythmia classification," Expert Systems with Applications, vol. 331, Art. no. 133409, 2026.</a:t>
            </a:r>
          </a:p>
          <a:p>
            <a:pPr algn="l">
              <a:spcAft>
                <a:spcPts val="300"/>
              </a:spcAft>
            </a:pPr>
            <a:r>
              <a:rPr sz="1050" b="0" i="0" dirty="0">
                <a:solidFill>
                  <a:srgbClr val="202020"/>
                </a:solidFill>
                <a:latin typeface="Calibri"/>
              </a:rPr>
              <a:t>[5] N. </a:t>
            </a:r>
            <a:r>
              <a:rPr sz="1050" b="0" i="0" dirty="0" err="1">
                <a:solidFill>
                  <a:srgbClr val="202020"/>
                </a:solidFill>
                <a:latin typeface="Calibri"/>
              </a:rPr>
              <a:t>Alamatsaz</a:t>
            </a:r>
            <a:r>
              <a:rPr sz="1050" b="0" i="0" dirty="0">
                <a:solidFill>
                  <a:srgbClr val="202020"/>
                </a:solidFill>
                <a:latin typeface="Calibri"/>
              </a:rPr>
              <a:t> et al., "A lightweight hybrid CNN-LSTM explainable model for ECG-based arrhythmia detection," Biomedical Signal Processing and Control, vol. 90, Art. no. 105884, 2024.</a:t>
            </a:r>
          </a:p>
          <a:p>
            <a:pPr algn="l">
              <a:spcAft>
                <a:spcPts val="300"/>
              </a:spcAft>
            </a:pPr>
            <a:r>
              <a:rPr sz="1050" b="0" i="0" dirty="0">
                <a:solidFill>
                  <a:srgbClr val="202020"/>
                </a:solidFill>
                <a:latin typeface="Calibri"/>
              </a:rPr>
              <a:t>[6] Sa. I. Ibrahim, "A hybrid deep learning algorithm for ECG-based heart disease classification," Scientific Reports, vol. 16, Art. no. 29911, 2026.</a:t>
            </a:r>
          </a:p>
          <a:p>
            <a:pPr algn="l">
              <a:spcAft>
                <a:spcPts val="300"/>
              </a:spcAft>
            </a:pPr>
            <a:r>
              <a:rPr sz="1050" b="0" i="0" dirty="0">
                <a:solidFill>
                  <a:srgbClr val="202020"/>
                </a:solidFill>
                <a:latin typeface="Calibri"/>
              </a:rPr>
              <a:t>[7] M. </a:t>
            </a:r>
            <a:r>
              <a:rPr sz="1050" b="0" i="0" dirty="0" err="1">
                <a:solidFill>
                  <a:srgbClr val="202020"/>
                </a:solidFill>
                <a:latin typeface="Calibri"/>
              </a:rPr>
              <a:t>Kachuee</a:t>
            </a:r>
            <a:r>
              <a:rPr sz="1050" b="0" i="0" dirty="0">
                <a:solidFill>
                  <a:srgbClr val="202020"/>
                </a:solidFill>
                <a:latin typeface="Calibri"/>
              </a:rPr>
              <a:t>, S. Fazeli, and M. </a:t>
            </a:r>
            <a:r>
              <a:rPr sz="1050" b="0" i="0" dirty="0" err="1">
                <a:solidFill>
                  <a:srgbClr val="202020"/>
                </a:solidFill>
                <a:latin typeface="Calibri"/>
              </a:rPr>
              <a:t>Sarrafzadeh</a:t>
            </a:r>
            <a:r>
              <a:rPr sz="1050" b="0" i="0" dirty="0">
                <a:solidFill>
                  <a:srgbClr val="202020"/>
                </a:solidFill>
                <a:latin typeface="Calibri"/>
              </a:rPr>
              <a:t>, "ECG heartbeat classification: A deep transferable representation," Proc. IEEE ICHI, 2018, pp. 443–444.</a:t>
            </a:r>
          </a:p>
          <a:p>
            <a:pPr algn="l">
              <a:spcAft>
                <a:spcPts val="300"/>
              </a:spcAft>
            </a:pPr>
            <a:r>
              <a:rPr sz="1050" b="0" i="0" dirty="0">
                <a:solidFill>
                  <a:srgbClr val="202020"/>
                </a:solidFill>
                <a:latin typeface="Calibri"/>
              </a:rPr>
              <a:t>[8] R. R. Selvaraju et al., "Grad-CAM: Visual explanations from deep networks via gradient-based localization," Proc. IEEE ICCV, 2017, pp. 618–626.</a:t>
            </a:r>
          </a:p>
          <a:p>
            <a:pPr algn="l">
              <a:spcAft>
                <a:spcPts val="300"/>
              </a:spcAft>
            </a:pPr>
            <a:r>
              <a:rPr sz="1050" b="0" i="0" dirty="0">
                <a:solidFill>
                  <a:srgbClr val="202020"/>
                </a:solidFill>
                <a:latin typeface="Calibri"/>
              </a:rPr>
              <a:t>[9] S. M. </a:t>
            </a:r>
            <a:r>
              <a:rPr sz="1050" b="0" i="0">
                <a:solidFill>
                  <a:srgbClr val="202020"/>
                </a:solidFill>
                <a:latin typeface="Calibri"/>
              </a:rPr>
              <a:t>Lundberg and S.-I. </a:t>
            </a:r>
            <a:r>
              <a:rPr sz="1050" b="0" i="0" dirty="0">
                <a:solidFill>
                  <a:srgbClr val="202020"/>
                </a:solidFill>
                <a:latin typeface="Calibri"/>
              </a:rPr>
              <a:t>Lee, "A unified approach to interpreting model predictions," Proc. </a:t>
            </a:r>
            <a:r>
              <a:rPr sz="1050" b="0" i="0" dirty="0" err="1">
                <a:solidFill>
                  <a:srgbClr val="202020"/>
                </a:solidFill>
                <a:latin typeface="Calibri"/>
              </a:rPr>
              <a:t>NeurIPS</a:t>
            </a:r>
            <a:r>
              <a:rPr sz="1050" b="0" i="0" dirty="0">
                <a:solidFill>
                  <a:srgbClr val="202020"/>
                </a:solidFill>
                <a:latin typeface="Calibri"/>
              </a:rPr>
              <a:t>, 2017, pp. 4765–4774.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2772</Words>
  <Application>Microsoft Office PowerPoint</Application>
  <PresentationFormat>On-screen Show (4:3)</PresentationFormat>
  <Paragraphs>374</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Times New Roman</vt:lpstr>
      <vt:lpstr>Office Theme</vt:lpstr>
      <vt:lpstr>B. Tech. Project Mid-Semester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Tech. Project Mid-Semester Evaluation</dc:title>
  <dc:subject/>
  <dc:creator/>
  <cp:keywords/>
  <dc:description>generated using python-pptx</dc:description>
  <cp:lastModifiedBy>Sidhesh Tavare</cp:lastModifiedBy>
  <cp:revision>12</cp:revision>
  <dcterms:created xsi:type="dcterms:W3CDTF">2013-01-27T09:14:16Z</dcterms:created>
  <dcterms:modified xsi:type="dcterms:W3CDTF">2026-10-06T14:38:23Z</dcterms:modified>
  <cp:category/>
</cp:coreProperties>
</file>