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68" r:id="rId2"/>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6/11/relationships/changesInfo" Target="changesInfos/changesInfo1.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nate Jain" userId="976167ac889b25c4" providerId="LiveId" clId="{250E833E-F64D-4ED8-940D-5AB3540D8995}"/>
    <pc:docChg chg="modSld">
      <pc:chgData name="Mannate Jain" userId="976167ac889b25c4" providerId="LiveId" clId="{250E833E-F64D-4ED8-940D-5AB3540D8995}" dt="2026-10-05T15:00:52.989" v="10" actId="20577"/>
      <pc:docMkLst>
        <pc:docMk/>
      </pc:docMkLst>
      <pc:sldChg chg="modSp mod">
        <pc:chgData name="Mannate Jain" userId="976167ac889b25c4" providerId="LiveId" clId="{250E833E-F64D-4ED8-940D-5AB3540D8995}" dt="2026-10-05T15:00:52.989" v="10" actId="20577"/>
        <pc:sldMkLst>
          <pc:docMk/>
          <pc:sldMk cId="1268978073" sldId="269"/>
        </pc:sldMkLst>
        <pc:spChg chg="mod">
          <ac:chgData name="Mannate Jain" userId="976167ac889b25c4" providerId="LiveId" clId="{250E833E-F64D-4ED8-940D-5AB3540D8995}" dt="2026-10-05T15:00:52.989" v="10" actId="20577"/>
          <ac:spMkLst>
            <pc:docMk/>
            <pc:sldMk cId="1268978073" sldId="269"/>
            <ac:spMk id="4" creationId="{353E2B0F-1BE0-BEFD-61CD-D208C8E4A1B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C836D-B34C-4DBC-9463-904D094D28A5}" type="datetimeFigureOut">
              <a:rPr lang="en-US" smtClean="0"/>
              <a:t>10/6/2026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41D548-DD1F-4BC3-BDA6-C817C8D36BB2}" type="slidenum">
              <a:rPr lang="en-US" smtClean="0"/>
              <a:t>‹#›</a:t>
            </a:fld>
            <a:endParaRPr lang="en-US"/>
          </a:p>
        </p:txBody>
      </p:sp>
    </p:spTree>
    <p:extLst>
      <p:ext uri="{BB962C8B-B14F-4D97-AF65-F5344CB8AC3E}">
        <p14:creationId xmlns:p14="http://schemas.microsoft.com/office/powerpoint/2010/main" val="411540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panel members. </a:t>
            </a:r>
            <a:r>
              <a:rPr dirty="0"/>
              <a:t>We are Bhoomi Singhal (2314168) and Archita Roy (2314165), working under the supervision of Dr. Koushik Guha.</a:t>
            </a:r>
          </a:p>
          <a:p>
            <a:r>
              <a:rPr dirty="0"/>
              <a:t>Our project is "Design of an Energy-Efficient EEG Seizure Detection System using Approximate Computing".</a:t>
            </a:r>
          </a:p>
          <a:p>
            <a:r>
              <a:rPr dirty="0"/>
              <a:t>In one line: we detect epileptic seizures from EEG signals with a machine-learning classifier (SVM), and we plan to build its hardware with APPROXIMATE adders and multipliers so that it consumes much less power - making it suitable for wearable, battery-powered seizure monitors.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4048"/>
            <a:ext cx="8229600" cy="548640"/>
          </a:xfrm>
        </p:spPr>
        <p:txBody>
          <a:bodyPr wrap="square" lIns="0" tIns="0" rIns="0" bIns="0" anchor="ctr">
            <a:noAutofit/>
          </a:bodyPr>
          <a:lstStyle/>
          <a:p>
            <a:pPr marL="0" indent="0" algn="ctr">
              <a:buNone/>
            </a:pPr>
            <a:r>
              <a:rPr sz="2400" b="0" dirty="0">
                <a:latin typeface="Times New Roman"/>
              </a:rPr>
              <a:t>B. Tech. Project Mid-Semester Evaluation</a:t>
            </a:r>
          </a:p>
        </p:txBody>
      </p:sp>
      <p:sp>
        <p:nvSpPr>
          <p:cNvPr id="3" name="Subtitle 2"/>
          <p:cNvSpPr>
            <a:spLocks noGrp="1"/>
          </p:cNvSpPr>
          <p:nvPr>
            <p:ph type="subTitle" idx="1"/>
          </p:nvPr>
        </p:nvSpPr>
        <p:spPr>
          <a:xfrm>
            <a:off x="457200" y="1005840"/>
            <a:ext cx="8229600" cy="1234440"/>
          </a:xfrm>
        </p:spPr>
        <p:txBody>
          <a:bodyPr wrap="square" lIns="0" tIns="0" rIns="0" bIns="0" anchor="ctr">
            <a:noAutofit/>
          </a:bodyPr>
          <a:lstStyle/>
          <a:p>
            <a:pPr marL="0" indent="0" algn="ctr">
              <a:lnSpc>
                <a:spcPct val="95000"/>
              </a:lnSpc>
              <a:buNone/>
            </a:pPr>
            <a:r>
              <a:rPr lang="en-US" sz="2600" b="1" dirty="0">
                <a:solidFill>
                  <a:schemeClr val="tx1"/>
                </a:solidFill>
                <a:latin typeface="Times New Roman"/>
              </a:rPr>
              <a:t>Explainable Deep Learning Framework for Automated ECG Arrhythmia Detection and Classification</a:t>
            </a:r>
          </a:p>
        </p:txBody>
      </p:sp>
      <p:sp>
        <p:nvSpPr>
          <p:cNvPr id="4" name="Rectangle 3"/>
          <p:cNvSpPr/>
          <p:nvPr/>
        </p:nvSpPr>
        <p:spPr>
          <a:xfrm>
            <a:off x="0" y="0"/>
            <a:ext cx="9144000" cy="128016"/>
          </a:xfrm>
          <a:prstGeom prst="rect">
            <a:avLst/>
          </a:prstGeom>
          <a:solidFill>
            <a:srgbClr val="002050"/>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Rectangle 4"/>
          <p:cNvSpPr/>
          <p:nvPr/>
        </p:nvSpPr>
        <p:spPr>
          <a:xfrm>
            <a:off x="0" y="128016"/>
            <a:ext cx="9144000" cy="45720"/>
          </a:xfrm>
          <a:prstGeom prst="rect">
            <a:avLst/>
          </a:prstGeom>
          <a:solidFill>
            <a:srgbClr val="C55A11"/>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Rectangle 5"/>
          <p:cNvSpPr/>
          <p:nvPr/>
        </p:nvSpPr>
        <p:spPr>
          <a:xfrm>
            <a:off x="3657600" y="2395728"/>
            <a:ext cx="1828800" cy="45720"/>
          </a:xfrm>
          <a:prstGeom prst="rect">
            <a:avLst/>
          </a:prstGeom>
          <a:solidFill>
            <a:srgbClr val="C55A11"/>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6"/>
          <p:cNvSpPr txBox="1"/>
          <p:nvPr/>
        </p:nvSpPr>
        <p:spPr>
          <a:xfrm>
            <a:off x="822960" y="2606040"/>
            <a:ext cx="3657600" cy="1188720"/>
          </a:xfrm>
          <a:prstGeom prst="rect">
            <a:avLst/>
          </a:prstGeom>
          <a:noFill/>
        </p:spPr>
        <p:txBody>
          <a:bodyPr wrap="square" lIns="36576" tIns="18288" rIns="36576" bIns="18288" anchor="t">
            <a:noAutofit/>
          </a:bodyPr>
          <a:lstStyle/>
          <a:p>
            <a:pPr marL="0" marR="0" lvl="0" indent="0" algn="ctr" defTabSz="457200" rtl="0" eaLnBrk="1" fontAlgn="auto" latinLnBrk="0" hangingPunct="1">
              <a:lnSpc>
                <a:spcPct val="100000"/>
              </a:lnSpc>
              <a:spcBef>
                <a:spcPts val="0"/>
              </a:spcBef>
              <a:spcAft>
                <a:spcPts val="400"/>
              </a:spcAft>
              <a:buClrTx/>
              <a:buSzTx/>
              <a:buFontTx/>
              <a:buNone/>
              <a:tabLst/>
              <a:defRPr/>
            </a:pPr>
            <a:r>
              <a:rPr kumimoji="0" sz="1300" b="0" i="1" u="none" strike="noStrike" kern="1200" cap="none" spc="0" normalizeH="0" baseline="0" noProof="0" dirty="0">
                <a:ln>
                  <a:noFill/>
                </a:ln>
                <a:solidFill>
                  <a:prstClr val="black"/>
                </a:solidFill>
                <a:effectLst/>
                <a:uLnTx/>
                <a:uFillTx/>
                <a:latin typeface="Calibri"/>
                <a:ea typeface="+mn-ea"/>
                <a:cs typeface="+mn-cs"/>
              </a:rPr>
              <a:t>Presented by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700" b="1" i="0" u="none" strike="noStrike" kern="1200" cap="none" spc="0" normalizeH="0" baseline="0" noProof="0" dirty="0">
                <a:ln>
                  <a:noFill/>
                </a:ln>
                <a:solidFill>
                  <a:srgbClr val="1A1A1A"/>
                </a:solidFill>
                <a:effectLst/>
                <a:uLnTx/>
                <a:uFillTx/>
                <a:latin typeface="Calibri"/>
                <a:ea typeface="+mn-ea"/>
                <a:cs typeface="+mn-cs"/>
              </a:rPr>
              <a:t>Sidhesh Mahesh Tavare (2314037)</a:t>
            </a:r>
            <a:br>
              <a:rPr kumimoji="0" lang="en-IN" sz="1700" b="1" i="0" u="none" strike="noStrike" kern="1200" cap="none" spc="0" normalizeH="0" baseline="0" noProof="0" dirty="0">
                <a:ln>
                  <a:noFill/>
                </a:ln>
                <a:solidFill>
                  <a:srgbClr val="1A1A1A"/>
                </a:solidFill>
                <a:effectLst/>
                <a:uLnTx/>
                <a:uFillTx/>
                <a:latin typeface="Calibri"/>
                <a:ea typeface="+mn-ea"/>
                <a:cs typeface="+mn-cs"/>
              </a:rPr>
            </a:br>
            <a:r>
              <a:rPr kumimoji="0" lang="en-IN" sz="1700" b="1" i="0" u="none" strike="noStrike" kern="1200" cap="none" spc="0" normalizeH="0" baseline="0" noProof="0" dirty="0">
                <a:ln>
                  <a:noFill/>
                </a:ln>
                <a:solidFill>
                  <a:srgbClr val="1A1A1A"/>
                </a:solidFill>
                <a:effectLst/>
                <a:uLnTx/>
                <a:uFillTx/>
                <a:latin typeface="Calibri"/>
                <a:ea typeface="+mn-ea"/>
                <a:cs typeface="+mn-cs"/>
              </a:rPr>
              <a:t>Nikhil Kumar Singh (2314055)</a:t>
            </a:r>
            <a:endParaRPr kumimoji="0" sz="1700" b="1" i="0" u="none" strike="noStrike" kern="1200" cap="none" spc="0" normalizeH="0" baseline="0" noProof="0" dirty="0">
              <a:ln>
                <a:noFill/>
              </a:ln>
              <a:solidFill>
                <a:srgbClr val="1A1A1A"/>
              </a:solidFill>
              <a:effectLst/>
              <a:uLnTx/>
              <a:uFillTx/>
              <a:latin typeface="Calibri"/>
              <a:ea typeface="+mn-ea"/>
              <a:cs typeface="+mn-cs"/>
            </a:endParaRPr>
          </a:p>
        </p:txBody>
      </p:sp>
      <p:cxnSp>
        <p:nvCxnSpPr>
          <p:cNvPr id="8" name="Connector 7"/>
          <p:cNvCxnSpPr/>
          <p:nvPr/>
        </p:nvCxnSpPr>
        <p:spPr>
          <a:xfrm>
            <a:off x="4572000" y="2697480"/>
            <a:ext cx="0" cy="914400"/>
          </a:xfrm>
          <a:prstGeom prst="line">
            <a:avLst/>
          </a:prstGeom>
          <a:ln w="12700">
            <a:solidFill>
              <a:srgbClr val="BFC9D9"/>
            </a:solidFill>
          </a:ln>
        </p:spPr>
      </p:cxnSp>
      <p:sp>
        <p:nvSpPr>
          <p:cNvPr id="9" name="TextBox 8"/>
          <p:cNvSpPr txBox="1"/>
          <p:nvPr/>
        </p:nvSpPr>
        <p:spPr>
          <a:xfrm>
            <a:off x="4663440" y="2606040"/>
            <a:ext cx="3657600" cy="1188720"/>
          </a:xfrm>
          <a:prstGeom prst="rect">
            <a:avLst/>
          </a:prstGeom>
          <a:noFill/>
        </p:spPr>
        <p:txBody>
          <a:bodyPr wrap="square" lIns="36576" tIns="18288" rIns="36576" bIns="18288" anchor="t">
            <a:noAutofit/>
          </a:bodyPr>
          <a:lstStyle/>
          <a:p>
            <a:pPr marL="0" marR="0" lvl="0" indent="0" algn="ctr" defTabSz="457200" rtl="0" eaLnBrk="1" fontAlgn="auto" latinLnBrk="0" hangingPunct="1">
              <a:lnSpc>
                <a:spcPct val="100000"/>
              </a:lnSpc>
              <a:spcBef>
                <a:spcPts val="0"/>
              </a:spcBef>
              <a:spcAft>
                <a:spcPts val="400"/>
              </a:spcAft>
              <a:buClrTx/>
              <a:buSzTx/>
              <a:buFontTx/>
              <a:buNone/>
              <a:tabLst/>
              <a:defRPr/>
            </a:pPr>
            <a:r>
              <a:rPr kumimoji="0" sz="1300" b="0" i="1" u="none" strike="noStrike" kern="1200" cap="none" spc="0" normalizeH="0" baseline="0" noProof="0" dirty="0">
                <a:ln>
                  <a:noFill/>
                </a:ln>
                <a:solidFill>
                  <a:srgbClr val="7F7F7F"/>
                </a:solidFill>
                <a:effectLst/>
                <a:uLnTx/>
                <a:uFillTx/>
                <a:latin typeface="Calibri"/>
                <a:ea typeface="+mn-ea"/>
                <a:cs typeface="+mn-cs"/>
              </a:rPr>
              <a:t>Supervisor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a:ln>
                  <a:noFill/>
                </a:ln>
                <a:solidFill>
                  <a:srgbClr val="1A1A1A"/>
                </a:solidFill>
                <a:effectLst/>
                <a:uLnTx/>
                <a:uFillTx/>
                <a:latin typeface="Calibri"/>
                <a:ea typeface="+mn-ea"/>
                <a:cs typeface="+mn-cs"/>
              </a:rPr>
              <a:t>Dr. </a:t>
            </a:r>
            <a:r>
              <a:rPr kumimoji="0" lang="en-US" sz="1700" b="1" i="0" u="none" strike="noStrike" kern="1200" cap="none" spc="0" normalizeH="0" baseline="0" noProof="0" dirty="0">
                <a:ln>
                  <a:noFill/>
                </a:ln>
                <a:solidFill>
                  <a:srgbClr val="1A1A1A"/>
                </a:solidFill>
                <a:effectLst/>
                <a:uLnTx/>
                <a:uFillTx/>
                <a:latin typeface="Calibri"/>
                <a:ea typeface="+mn-ea"/>
                <a:cs typeface="+mn-cs"/>
              </a:rPr>
              <a:t>Arnab Nandi</a:t>
            </a:r>
            <a:endParaRPr kumimoji="0" sz="1700" b="1" i="0" u="none" strike="noStrike" kern="1200" cap="none" spc="0" normalizeH="0" baseline="0" noProof="0" dirty="0">
              <a:ln>
                <a:noFill/>
              </a:ln>
              <a:solidFill>
                <a:srgbClr val="1A1A1A"/>
              </a:solidFill>
              <a:effectLst/>
              <a:uLnTx/>
              <a:uFillTx/>
              <a:latin typeface="Calibri"/>
              <a:ea typeface="+mn-ea"/>
              <a:cs typeface="+mn-cs"/>
            </a:endParaRPr>
          </a:p>
        </p:txBody>
      </p:sp>
      <p:pic>
        <p:nvPicPr>
          <p:cNvPr id="10" name="Picture 9" descr="NIT Silchar logo"/>
          <p:cNvPicPr>
            <a:picLocks noChangeAspect="1"/>
          </p:cNvPicPr>
          <p:nvPr/>
        </p:nvPicPr>
        <p:blipFill>
          <a:blip r:embed="rId3"/>
          <a:stretch>
            <a:fillRect/>
          </a:stretch>
        </p:blipFill>
        <p:spPr>
          <a:xfrm>
            <a:off x="4000500" y="3977639"/>
            <a:ext cx="1143000" cy="1143000"/>
          </a:xfrm>
          <a:prstGeom prst="rect">
            <a:avLst/>
          </a:prstGeom>
        </p:spPr>
      </p:pic>
      <p:sp>
        <p:nvSpPr>
          <p:cNvPr id="11" name="TextBox 10"/>
          <p:cNvSpPr txBox="1"/>
          <p:nvPr/>
        </p:nvSpPr>
        <p:spPr>
          <a:xfrm>
            <a:off x="457200" y="5303520"/>
            <a:ext cx="8229600" cy="365760"/>
          </a:xfrm>
          <a:prstGeom prst="rect">
            <a:avLst/>
          </a:prstGeom>
          <a:noFill/>
        </p:spPr>
        <p:txBody>
          <a:bodyPr wrap="square" lIns="36576" tIns="18288" rIns="36576" bIns="18288"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dirty="0">
                <a:ln>
                  <a:noFill/>
                </a:ln>
                <a:solidFill>
                  <a:srgbClr val="1A1A1A"/>
                </a:solidFill>
                <a:effectLst/>
                <a:uLnTx/>
                <a:uFillTx/>
                <a:latin typeface="Calibri"/>
                <a:ea typeface="+mn-ea"/>
                <a:cs typeface="+mn-cs"/>
              </a:rPr>
              <a:t>Department of Electronics and Communication Engineering</a:t>
            </a:r>
          </a:p>
        </p:txBody>
      </p:sp>
      <p:sp>
        <p:nvSpPr>
          <p:cNvPr id="12" name="TextBox 11"/>
          <p:cNvSpPr txBox="1"/>
          <p:nvPr/>
        </p:nvSpPr>
        <p:spPr>
          <a:xfrm>
            <a:off x="457200" y="5669280"/>
            <a:ext cx="8229600" cy="411480"/>
          </a:xfrm>
          <a:prstGeom prst="rect">
            <a:avLst/>
          </a:prstGeom>
          <a:noFill/>
        </p:spPr>
        <p:txBody>
          <a:bodyPr wrap="square" lIns="36576" tIns="18288" rIns="36576" bIns="18288"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a:ln>
                  <a:noFill/>
                </a:ln>
                <a:solidFill>
                  <a:srgbClr val="002050"/>
                </a:solidFill>
                <a:effectLst/>
                <a:uLnTx/>
                <a:uFillTx/>
                <a:latin typeface="Calibri"/>
                <a:ea typeface="+mn-ea"/>
                <a:cs typeface="+mn-cs"/>
              </a:rPr>
              <a:t>National Institute of Technology Silchar</a:t>
            </a:r>
          </a:p>
        </p:txBody>
      </p:sp>
      <p:sp>
        <p:nvSpPr>
          <p:cNvPr id="13" name="Rectangle 12"/>
          <p:cNvSpPr/>
          <p:nvPr/>
        </p:nvSpPr>
        <p:spPr>
          <a:xfrm>
            <a:off x="0" y="6647688"/>
            <a:ext cx="9144000" cy="45720"/>
          </a:xfrm>
          <a:prstGeom prst="rect">
            <a:avLst/>
          </a:prstGeom>
          <a:solidFill>
            <a:srgbClr val="C55A11"/>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Rectangle 13"/>
          <p:cNvSpPr/>
          <p:nvPr/>
        </p:nvSpPr>
        <p:spPr>
          <a:xfrm>
            <a:off x="0" y="6693408"/>
            <a:ext cx="9144000" cy="164592"/>
          </a:xfrm>
          <a:prstGeom prst="rect">
            <a:avLst/>
          </a:prstGeom>
          <a:solidFill>
            <a:srgbClr val="002050"/>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Introduction</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97280"/>
            <a:ext cx="8138160" cy="320040"/>
          </a:xfrm>
          <a:prstGeom prst="rect">
            <a:avLst/>
          </a:prstGeom>
          <a:noFill/>
        </p:spPr>
        <p:txBody>
          <a:bodyPr wrap="square" lIns="0" tIns="0" rIns="0" bIns="0">
            <a:spAutoFit/>
          </a:bodyPr>
          <a:lstStyle/>
          <a:p>
            <a:pPr algn="l"/>
            <a:r>
              <a:rPr sz="1500" b="1" i="0">
                <a:solidFill>
                  <a:srgbClr val="202020"/>
                </a:solidFill>
                <a:latin typeface="Calibri"/>
              </a:rPr>
              <a:t>Background and Motivation</a:t>
            </a:r>
          </a:p>
        </p:txBody>
      </p:sp>
      <p:sp>
        <p:nvSpPr>
          <p:cNvPr id="16" name="TextBox 15"/>
          <p:cNvSpPr txBox="1"/>
          <p:nvPr/>
        </p:nvSpPr>
        <p:spPr>
          <a:xfrm>
            <a:off x="502920" y="1481328"/>
            <a:ext cx="8138160" cy="1371600"/>
          </a:xfrm>
          <a:prstGeom prst="rect">
            <a:avLst/>
          </a:prstGeom>
          <a:noFill/>
        </p:spPr>
        <p:txBody>
          <a:bodyPr wrap="square" lIns="0" tIns="0" rIns="0" bIns="0">
            <a:spAutoFit/>
          </a:bodyPr>
          <a:lstStyle/>
          <a:p>
            <a:pPr algn="l">
              <a:spcAft>
                <a:spcPts val="300"/>
              </a:spcAft>
            </a:pPr>
            <a:r>
              <a:rPr sz="1300" b="0" i="0">
                <a:solidFill>
                  <a:srgbClr val="202020"/>
                </a:solidFill>
                <a:latin typeface="Calibri"/>
              </a:rPr>
              <a:t>The ECG is a widely used non-invasive tool for detecting cardiac arrhythmias, and automating its interpretation is an active research area.</a:t>
            </a:r>
          </a:p>
          <a:p>
            <a:pPr algn="l">
              <a:spcAft>
                <a:spcPts val="300"/>
              </a:spcAft>
            </a:pPr>
            <a:r>
              <a:rPr sz="1300" b="0" i="0">
                <a:solidFill>
                  <a:srgbClr val="202020"/>
                </a:solidFill>
                <a:latin typeface="Calibri"/>
              </a:rPr>
              <a:t>• CNNs are used in 58.7% of 368 studies reviewed by Xiao et al. [1] and in 62% of 119 studies reviewed by Kulkarni et al. [2].</a:t>
            </a:r>
          </a:p>
          <a:p>
            <a:pPr algn="l">
              <a:spcAft>
                <a:spcPts val="300"/>
              </a:spcAft>
            </a:pPr>
            <a:r>
              <a:rPr sz="1300" b="0" i="0">
                <a:solidFill>
                  <a:srgbClr val="202020"/>
                </a:solidFill>
                <a:latin typeface="Calibri"/>
              </a:rPr>
              <a:t>• Hybrid CNN-recurrent and Transformer-based models are increasingly common [1], [2].</a:t>
            </a:r>
          </a:p>
        </p:txBody>
      </p:sp>
      <p:sp>
        <p:nvSpPr>
          <p:cNvPr id="17" name="TextBox 16"/>
          <p:cNvSpPr txBox="1"/>
          <p:nvPr/>
        </p:nvSpPr>
        <p:spPr>
          <a:xfrm>
            <a:off x="502920" y="3063240"/>
            <a:ext cx="8138160" cy="320040"/>
          </a:xfrm>
          <a:prstGeom prst="rect">
            <a:avLst/>
          </a:prstGeom>
          <a:noFill/>
        </p:spPr>
        <p:txBody>
          <a:bodyPr wrap="square" lIns="0" tIns="0" rIns="0" bIns="0">
            <a:spAutoFit/>
          </a:bodyPr>
          <a:lstStyle/>
          <a:p>
            <a:pPr algn="l"/>
            <a:r>
              <a:rPr sz="1500" b="1" i="0">
                <a:solidFill>
                  <a:srgbClr val="202020"/>
                </a:solidFill>
                <a:latin typeface="Calibri"/>
              </a:rPr>
              <a:t>Significance of the Problem: three issues limit clinical usefulness</a:t>
            </a:r>
          </a:p>
        </p:txBody>
      </p:sp>
      <p:sp>
        <p:nvSpPr>
          <p:cNvPr id="18" name="Rectangle 17"/>
          <p:cNvSpPr/>
          <p:nvPr/>
        </p:nvSpPr>
        <p:spPr>
          <a:xfrm>
            <a:off x="502920" y="3566160"/>
            <a:ext cx="64008" cy="17373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611879"/>
            <a:ext cx="2423160" cy="320040"/>
          </a:xfrm>
          <a:prstGeom prst="rect">
            <a:avLst/>
          </a:prstGeom>
          <a:noFill/>
        </p:spPr>
        <p:txBody>
          <a:bodyPr wrap="square" lIns="0" tIns="0" rIns="0" bIns="0">
            <a:spAutoFit/>
          </a:bodyPr>
          <a:lstStyle/>
          <a:p>
            <a:pPr algn="l"/>
            <a:r>
              <a:rPr sz="1300" b="1" i="0">
                <a:solidFill>
                  <a:srgbClr val="1F3864"/>
                </a:solidFill>
                <a:latin typeface="Calibri"/>
              </a:rPr>
              <a:t>Evaluation protocol</a:t>
            </a:r>
          </a:p>
        </p:txBody>
      </p:sp>
      <p:sp>
        <p:nvSpPr>
          <p:cNvPr id="20" name="TextBox 19"/>
          <p:cNvSpPr txBox="1"/>
          <p:nvPr/>
        </p:nvSpPr>
        <p:spPr>
          <a:xfrm>
            <a:off x="667512" y="3950208"/>
            <a:ext cx="2423160" cy="132588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F1 fell from 95.52% (intra-patient) to 83.89% (inter-patient) [1]; only 30.3% of 122 reviewed articles followed the inter-patient paradigm [4].</a:t>
            </a:r>
          </a:p>
        </p:txBody>
      </p:sp>
      <p:sp>
        <p:nvSpPr>
          <p:cNvPr id="21" name="Rectangle 20"/>
          <p:cNvSpPr/>
          <p:nvPr/>
        </p:nvSpPr>
        <p:spPr>
          <a:xfrm>
            <a:off x="3291840" y="3566160"/>
            <a:ext cx="64008" cy="17373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6432" y="3611879"/>
            <a:ext cx="2423160" cy="320040"/>
          </a:xfrm>
          <a:prstGeom prst="rect">
            <a:avLst/>
          </a:prstGeom>
          <a:noFill/>
        </p:spPr>
        <p:txBody>
          <a:bodyPr wrap="square" lIns="0" tIns="0" rIns="0" bIns="0">
            <a:spAutoFit/>
          </a:bodyPr>
          <a:lstStyle/>
          <a:p>
            <a:pPr algn="l"/>
            <a:r>
              <a:rPr sz="1300" b="1" i="0">
                <a:solidFill>
                  <a:srgbClr val="ED7D31"/>
                </a:solidFill>
                <a:latin typeface="Calibri"/>
              </a:rPr>
              <a:t>Black-box models</a:t>
            </a:r>
          </a:p>
        </p:txBody>
      </p:sp>
      <p:sp>
        <p:nvSpPr>
          <p:cNvPr id="23" name="TextBox 22"/>
          <p:cNvSpPr txBox="1"/>
          <p:nvPr/>
        </p:nvSpPr>
        <p:spPr>
          <a:xfrm>
            <a:off x="3456432" y="3950208"/>
            <a:ext cx="2423160" cy="132588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SHAP and saliency methods are increasingly used, but fewer than 10% of studies validated explanation maps against clinically meaningful ECG structures [2].</a:t>
            </a:r>
          </a:p>
        </p:txBody>
      </p:sp>
      <p:sp>
        <p:nvSpPr>
          <p:cNvPr id="24" name="Rectangle 23"/>
          <p:cNvSpPr/>
          <p:nvPr/>
        </p:nvSpPr>
        <p:spPr>
          <a:xfrm>
            <a:off x="6080760" y="3566160"/>
            <a:ext cx="64008" cy="173736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5352" y="3611879"/>
            <a:ext cx="2423160" cy="320040"/>
          </a:xfrm>
          <a:prstGeom prst="rect">
            <a:avLst/>
          </a:prstGeom>
          <a:noFill/>
        </p:spPr>
        <p:txBody>
          <a:bodyPr wrap="square" lIns="0" tIns="0" rIns="0" bIns="0">
            <a:spAutoFit/>
          </a:bodyPr>
          <a:lstStyle/>
          <a:p>
            <a:pPr algn="l"/>
            <a:r>
              <a:rPr sz="1300" b="1" i="0">
                <a:solidFill>
                  <a:srgbClr val="548235"/>
                </a:solidFill>
                <a:latin typeface="Calibri"/>
              </a:rPr>
              <a:t>Narrow robustness tests</a:t>
            </a:r>
          </a:p>
        </p:txBody>
      </p:sp>
      <p:sp>
        <p:nvSpPr>
          <p:cNvPr id="26" name="TextBox 25"/>
          <p:cNvSpPr txBox="1"/>
          <p:nvPr/>
        </p:nvSpPr>
        <p:spPr>
          <a:xfrm>
            <a:off x="6245352" y="3950208"/>
            <a:ext cx="2423160" cy="132588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Robustness to realistic noise is tested narrowly, often with additive white Gaussian noise only [5].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Problem Statement &amp; Objectives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1097280"/>
            <a:ext cx="64008" cy="96012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143000"/>
            <a:ext cx="7955279" cy="914400"/>
          </a:xfrm>
          <a:prstGeom prst="rect">
            <a:avLst/>
          </a:prstGeom>
          <a:noFill/>
        </p:spPr>
        <p:txBody>
          <a:bodyPr wrap="square" lIns="0" tIns="0" rIns="0" bIns="0">
            <a:spAutoFit/>
          </a:bodyPr>
          <a:lstStyle/>
          <a:p>
            <a:pPr algn="l">
              <a:spcAft>
                <a:spcPts val="300"/>
              </a:spcAft>
            </a:pPr>
            <a:r>
              <a:rPr sz="1400" b="0" i="0">
                <a:solidFill>
                  <a:srgbClr val="202020"/>
                </a:solidFill>
                <a:latin typeface="Calibri"/>
              </a:rPr>
              <a:t>There is a need for an ECG arrhythmia classification framework whose performance is measured on unseen patients, whose explanations are checked for consistency and clinical plausibility, and whose predictions and explanations are evaluated for robustness under realistic noise.</a:t>
            </a:r>
          </a:p>
        </p:txBody>
      </p:sp>
      <p:sp>
        <p:nvSpPr>
          <p:cNvPr id="17" name="TextBox 16"/>
          <p:cNvSpPr txBox="1"/>
          <p:nvPr/>
        </p:nvSpPr>
        <p:spPr>
          <a:xfrm>
            <a:off x="502920" y="2423160"/>
            <a:ext cx="640080" cy="457200"/>
          </a:xfrm>
          <a:prstGeom prst="rect">
            <a:avLst/>
          </a:prstGeom>
          <a:noFill/>
        </p:spPr>
        <p:txBody>
          <a:bodyPr wrap="square" lIns="0" tIns="0" rIns="0" bIns="0">
            <a:spAutoFit/>
          </a:bodyPr>
          <a:lstStyle/>
          <a:p>
            <a:pPr algn="l"/>
            <a:r>
              <a:rPr sz="2600" b="1" i="0">
                <a:solidFill>
                  <a:srgbClr val="ED7D31"/>
                </a:solidFill>
                <a:latin typeface="Calibri"/>
              </a:rPr>
              <a:t>01</a:t>
            </a:r>
          </a:p>
        </p:txBody>
      </p:sp>
      <p:sp>
        <p:nvSpPr>
          <p:cNvPr id="18" name="TextBox 17"/>
          <p:cNvSpPr txBox="1"/>
          <p:nvPr/>
        </p:nvSpPr>
        <p:spPr>
          <a:xfrm>
            <a:off x="1234440" y="2423160"/>
            <a:ext cx="7406640" cy="320040"/>
          </a:xfrm>
          <a:prstGeom prst="rect">
            <a:avLst/>
          </a:prstGeom>
          <a:noFill/>
        </p:spPr>
        <p:txBody>
          <a:bodyPr wrap="square" lIns="0" tIns="0" rIns="0" bIns="0">
            <a:spAutoFit/>
          </a:bodyPr>
          <a:lstStyle/>
          <a:p>
            <a:pPr algn="l"/>
            <a:r>
              <a:rPr sz="1400" b="1" i="0">
                <a:solidFill>
                  <a:srgbClr val="1F3864"/>
                </a:solidFill>
                <a:latin typeface="Calibri"/>
              </a:rPr>
              <a:t>Objective 1: Patient-independent baseline</a:t>
            </a:r>
          </a:p>
        </p:txBody>
      </p:sp>
      <p:sp>
        <p:nvSpPr>
          <p:cNvPr id="19" name="TextBox 18"/>
          <p:cNvSpPr txBox="1"/>
          <p:nvPr/>
        </p:nvSpPr>
        <p:spPr>
          <a:xfrm>
            <a:off x="1234440" y="2788920"/>
            <a:ext cx="7406640" cy="91440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Develop a hybrid deep learning arrhythmia classifier evaluated under a strict inter-patient protocol (MIT-BIH DS1/DS2) with external testing on a second database, reporting per-class and macro F1 alongside accuracy.</a:t>
            </a:r>
          </a:p>
        </p:txBody>
      </p:sp>
      <p:sp>
        <p:nvSpPr>
          <p:cNvPr id="20" name="TextBox 19"/>
          <p:cNvSpPr txBox="1"/>
          <p:nvPr/>
        </p:nvSpPr>
        <p:spPr>
          <a:xfrm>
            <a:off x="502920" y="3794760"/>
            <a:ext cx="640080" cy="457200"/>
          </a:xfrm>
          <a:prstGeom prst="rect">
            <a:avLst/>
          </a:prstGeom>
          <a:noFill/>
        </p:spPr>
        <p:txBody>
          <a:bodyPr wrap="square" lIns="0" tIns="0" rIns="0" bIns="0">
            <a:spAutoFit/>
          </a:bodyPr>
          <a:lstStyle/>
          <a:p>
            <a:pPr algn="l"/>
            <a:r>
              <a:rPr sz="2600" b="1" i="0">
                <a:solidFill>
                  <a:srgbClr val="ED7D31"/>
                </a:solidFill>
                <a:latin typeface="Calibri"/>
              </a:rPr>
              <a:t>02</a:t>
            </a:r>
          </a:p>
        </p:txBody>
      </p:sp>
      <p:sp>
        <p:nvSpPr>
          <p:cNvPr id="21" name="TextBox 20"/>
          <p:cNvSpPr txBox="1"/>
          <p:nvPr/>
        </p:nvSpPr>
        <p:spPr>
          <a:xfrm>
            <a:off x="1234440" y="3794760"/>
            <a:ext cx="7406640" cy="320040"/>
          </a:xfrm>
          <a:prstGeom prst="rect">
            <a:avLst/>
          </a:prstGeom>
          <a:noFill/>
        </p:spPr>
        <p:txBody>
          <a:bodyPr wrap="square" lIns="0" tIns="0" rIns="0" bIns="0">
            <a:spAutoFit/>
          </a:bodyPr>
          <a:lstStyle/>
          <a:p>
            <a:pPr algn="l"/>
            <a:r>
              <a:rPr sz="1400" b="1" i="0">
                <a:solidFill>
                  <a:srgbClr val="1F3864"/>
                </a:solidFill>
                <a:latin typeface="Calibri"/>
              </a:rPr>
              <a:t>Objective 2: Validated explanations</a:t>
            </a:r>
          </a:p>
        </p:txBody>
      </p:sp>
      <p:sp>
        <p:nvSpPr>
          <p:cNvPr id="22" name="TextBox 21"/>
          <p:cNvSpPr txBox="1"/>
          <p:nvPr/>
        </p:nvSpPr>
        <p:spPr>
          <a:xfrm>
            <a:off x="1234440" y="4160520"/>
            <a:ext cx="7406640" cy="91440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Apply post-hoc XAI methods (e.g. SHAP and Grad-CAM) to the patient-independent model and measure the within-class consistency of explanations and their agreement with recognised ECG features (P wave, QRS complex, RR interval).</a:t>
            </a:r>
          </a:p>
        </p:txBody>
      </p:sp>
      <p:sp>
        <p:nvSpPr>
          <p:cNvPr id="23" name="TextBox 22"/>
          <p:cNvSpPr txBox="1"/>
          <p:nvPr/>
        </p:nvSpPr>
        <p:spPr>
          <a:xfrm>
            <a:off x="502920" y="5166360"/>
            <a:ext cx="640080" cy="457200"/>
          </a:xfrm>
          <a:prstGeom prst="rect">
            <a:avLst/>
          </a:prstGeom>
          <a:noFill/>
        </p:spPr>
        <p:txBody>
          <a:bodyPr wrap="square" lIns="0" tIns="0" rIns="0" bIns="0">
            <a:spAutoFit/>
          </a:bodyPr>
          <a:lstStyle/>
          <a:p>
            <a:pPr algn="l"/>
            <a:r>
              <a:rPr sz="2600" b="1" i="0">
                <a:solidFill>
                  <a:srgbClr val="ED7D31"/>
                </a:solidFill>
                <a:latin typeface="Calibri"/>
              </a:rPr>
              <a:t>03</a:t>
            </a:r>
          </a:p>
        </p:txBody>
      </p:sp>
      <p:sp>
        <p:nvSpPr>
          <p:cNvPr id="24" name="TextBox 23"/>
          <p:cNvSpPr txBox="1"/>
          <p:nvPr/>
        </p:nvSpPr>
        <p:spPr>
          <a:xfrm>
            <a:off x="1234440" y="5166360"/>
            <a:ext cx="7406640" cy="320040"/>
          </a:xfrm>
          <a:prstGeom prst="rect">
            <a:avLst/>
          </a:prstGeom>
          <a:noFill/>
        </p:spPr>
        <p:txBody>
          <a:bodyPr wrap="square" lIns="0" tIns="0" rIns="0" bIns="0">
            <a:spAutoFit/>
          </a:bodyPr>
          <a:lstStyle/>
          <a:p>
            <a:pPr algn="l"/>
            <a:r>
              <a:rPr sz="1400" b="1" i="0">
                <a:solidFill>
                  <a:srgbClr val="1F3864"/>
                </a:solidFill>
                <a:latin typeface="Calibri"/>
              </a:rPr>
              <a:t>Objective 3: Robustness of predictions and explanations</a:t>
            </a:r>
          </a:p>
        </p:txBody>
      </p:sp>
      <p:sp>
        <p:nvSpPr>
          <p:cNvPr id="25" name="TextBox 24"/>
          <p:cNvSpPr txBox="1"/>
          <p:nvPr/>
        </p:nvSpPr>
        <p:spPr>
          <a:xfrm>
            <a:off x="1234440" y="5532120"/>
            <a:ext cx="7406640" cy="91440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Assess how classification performance and explanation stability degrade under realistic NSTDB noise (baseline wander, muscle artefact, electrode motion) at graded SNRs, using uncertainty estimates to flag unreliable predictions.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Literature Review</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24128"/>
            <a:ext cx="8138160" cy="274320"/>
          </a:xfrm>
          <a:prstGeom prst="rect">
            <a:avLst/>
          </a:prstGeom>
          <a:noFill/>
        </p:spPr>
        <p:txBody>
          <a:bodyPr wrap="square" lIns="0" tIns="0" rIns="0" bIns="0">
            <a:spAutoFit/>
          </a:bodyPr>
          <a:lstStyle/>
          <a:p>
            <a:pPr algn="l"/>
            <a:r>
              <a:rPr sz="1200" b="0" i="1">
                <a:solidFill>
                  <a:srgbClr val="595959"/>
                </a:solidFill>
                <a:latin typeface="Calibri"/>
              </a:rPr>
              <a:t>A literature survey of 36 papers (5 reviews and 31 original studies) on deep learning and explainable AI for ECG arrhythmia classification, grouped into four themes.</a:t>
            </a:r>
          </a:p>
        </p:txBody>
      </p:sp>
      <p:sp>
        <p:nvSpPr>
          <p:cNvPr id="16" name="Rectangle 15"/>
          <p:cNvSpPr/>
          <p:nvPr/>
        </p:nvSpPr>
        <p:spPr>
          <a:xfrm>
            <a:off x="502920" y="1508760"/>
            <a:ext cx="64008" cy="23317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1554480"/>
            <a:ext cx="3794759" cy="320040"/>
          </a:xfrm>
          <a:prstGeom prst="rect">
            <a:avLst/>
          </a:prstGeom>
          <a:noFill/>
        </p:spPr>
        <p:txBody>
          <a:bodyPr wrap="square" lIns="0" tIns="0" rIns="0" bIns="0">
            <a:spAutoFit/>
          </a:bodyPr>
          <a:lstStyle/>
          <a:p>
            <a:pPr algn="l"/>
            <a:r>
              <a:rPr sz="1300" b="1" i="0">
                <a:solidFill>
                  <a:srgbClr val="1F3864"/>
                </a:solidFill>
                <a:latin typeface="Calibri"/>
              </a:rPr>
              <a:t>Architectures</a:t>
            </a:r>
          </a:p>
        </p:txBody>
      </p:sp>
      <p:sp>
        <p:nvSpPr>
          <p:cNvPr id="18" name="TextBox 17"/>
          <p:cNvSpPr txBox="1"/>
          <p:nvPr/>
        </p:nvSpPr>
        <p:spPr>
          <a:xfrm>
            <a:off x="667512" y="1892807"/>
            <a:ext cx="3794759" cy="1920239"/>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CNNs remain dominant [1], [2]; hybrids pair a CNN front end with a recurrent or attention module (CNN-LSTM [8], CNN-BiLSTM [11]).</a:t>
            </a:r>
          </a:p>
          <a:p>
            <a:pPr algn="l">
              <a:spcAft>
                <a:spcPts val="300"/>
              </a:spcAft>
            </a:pPr>
            <a:r>
              <a:rPr sz="1100" b="0" i="0">
                <a:solidFill>
                  <a:srgbClr val="202020"/>
                </a:solidFill>
                <a:latin typeface="Calibri"/>
              </a:rPr>
              <a:t>• Attention/Transformer models gain 0.845% over 1D-CNNs, at higher cost beyond ~1 M parameters [2].</a:t>
            </a:r>
          </a:p>
          <a:p>
            <a:pPr algn="l">
              <a:spcAft>
                <a:spcPts val="300"/>
              </a:spcAft>
            </a:pPr>
            <a:r>
              <a:rPr sz="1100" b="0" i="0">
                <a:solidFill>
                  <a:srgbClr val="202020"/>
                </a:solidFill>
                <a:latin typeface="Calibri"/>
              </a:rPr>
              <a:t>• Lightweight designs stay competitive: a 0.16 MB CNN-LSTM ran at 5.127 ms per rhythm on a Raspberry Pi [8].</a:t>
            </a:r>
          </a:p>
        </p:txBody>
      </p:sp>
      <p:sp>
        <p:nvSpPr>
          <p:cNvPr id="19" name="Rectangle 18"/>
          <p:cNvSpPr/>
          <p:nvPr/>
        </p:nvSpPr>
        <p:spPr>
          <a:xfrm>
            <a:off x="4663440" y="1508760"/>
            <a:ext cx="64008" cy="233172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28031" y="1554480"/>
            <a:ext cx="3794759" cy="320040"/>
          </a:xfrm>
          <a:prstGeom prst="rect">
            <a:avLst/>
          </a:prstGeom>
          <a:noFill/>
        </p:spPr>
        <p:txBody>
          <a:bodyPr wrap="square" lIns="0" tIns="0" rIns="0" bIns="0">
            <a:spAutoFit/>
          </a:bodyPr>
          <a:lstStyle/>
          <a:p>
            <a:pPr algn="l"/>
            <a:r>
              <a:rPr sz="1300" b="1" i="0">
                <a:solidFill>
                  <a:srgbClr val="ED7D31"/>
                </a:solidFill>
                <a:latin typeface="Calibri"/>
              </a:rPr>
              <a:t>Explainable AI methods</a:t>
            </a:r>
          </a:p>
        </p:txBody>
      </p:sp>
      <p:sp>
        <p:nvSpPr>
          <p:cNvPr id="21" name="TextBox 20"/>
          <p:cNvSpPr txBox="1"/>
          <p:nvPr/>
        </p:nvSpPr>
        <p:spPr>
          <a:xfrm>
            <a:off x="4828031" y="1892807"/>
            <a:ext cx="3794759" cy="1920239"/>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SHAP is the most widely used method [8], [3]; then Grad-CAM and class activation maps.</a:t>
            </a:r>
          </a:p>
          <a:p>
            <a:pPr algn="l">
              <a:spcAft>
                <a:spcPts val="300"/>
              </a:spcAft>
            </a:pPr>
            <a:r>
              <a:rPr sz="1100" b="0" i="0">
                <a:solidFill>
                  <a:srgbClr val="202020"/>
                </a:solidFill>
                <a:latin typeface="Calibri"/>
              </a:rPr>
              <a:t>• Explanations for APB and PVC beats were inconsistent within a class and not validated by medical professionals [3].</a:t>
            </a:r>
          </a:p>
          <a:p>
            <a:pPr algn="l">
              <a:spcAft>
                <a:spcPts val="300"/>
              </a:spcAft>
            </a:pPr>
            <a:r>
              <a:rPr sz="1100" b="0" i="0">
                <a:solidFill>
                  <a:srgbClr val="202020"/>
                </a:solidFill>
                <a:latin typeface="Calibri"/>
              </a:rPr>
              <a:t>• Fewer than 10% of studies validated maps against clinical ECG structures [2].</a:t>
            </a:r>
          </a:p>
        </p:txBody>
      </p:sp>
      <p:sp>
        <p:nvSpPr>
          <p:cNvPr id="22" name="Rectangle 21"/>
          <p:cNvSpPr/>
          <p:nvPr/>
        </p:nvSpPr>
        <p:spPr>
          <a:xfrm>
            <a:off x="502920" y="3977639"/>
            <a:ext cx="64008" cy="233172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023359"/>
            <a:ext cx="3794759" cy="320040"/>
          </a:xfrm>
          <a:prstGeom prst="rect">
            <a:avLst/>
          </a:prstGeom>
          <a:noFill/>
        </p:spPr>
        <p:txBody>
          <a:bodyPr wrap="square" lIns="0" tIns="0" rIns="0" bIns="0">
            <a:spAutoFit/>
          </a:bodyPr>
          <a:lstStyle/>
          <a:p>
            <a:pPr algn="l"/>
            <a:r>
              <a:rPr sz="1300" b="1" i="0">
                <a:solidFill>
                  <a:srgbClr val="548235"/>
                </a:solidFill>
                <a:latin typeface="Calibri"/>
              </a:rPr>
              <a:t>Datasets and evaluation</a:t>
            </a:r>
          </a:p>
        </p:txBody>
      </p:sp>
      <p:sp>
        <p:nvSpPr>
          <p:cNvPr id="24" name="TextBox 23"/>
          <p:cNvSpPr txBox="1"/>
          <p:nvPr/>
        </p:nvSpPr>
        <p:spPr>
          <a:xfrm>
            <a:off x="667512" y="4361688"/>
            <a:ext cx="3794759" cy="1920239"/>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MIT-BIH dominates: used in 61% [1] and 78.7% [4] of reviewed studies.</a:t>
            </a:r>
          </a:p>
          <a:p>
            <a:pPr algn="l">
              <a:spcAft>
                <a:spcPts val="300"/>
              </a:spcAft>
            </a:pPr>
            <a:r>
              <a:rPr sz="1100" b="0" i="0">
                <a:solidFill>
                  <a:srgbClr val="202020"/>
                </a:solidFill>
                <a:latin typeface="Calibri"/>
              </a:rPr>
              <a:t>• One study: 99.00% accuracy beat-wise but 91.69% patient-wise, with Fusion recall 0.021 [11].</a:t>
            </a:r>
          </a:p>
          <a:p>
            <a:pPr algn="l">
              <a:spcAft>
                <a:spcPts val="300"/>
              </a:spcAft>
            </a:pPr>
            <a:r>
              <a:rPr sz="1100" b="0" i="0">
                <a:solidFill>
                  <a:srgbClr val="202020"/>
                </a:solidFill>
                <a:latin typeface="Calibri"/>
              </a:rPr>
              <a:t>• External validation in only 18.5% of studies, with a mean accuracy drop of 8.7% [2].</a:t>
            </a:r>
          </a:p>
        </p:txBody>
      </p:sp>
      <p:sp>
        <p:nvSpPr>
          <p:cNvPr id="25" name="Rectangle 24"/>
          <p:cNvSpPr/>
          <p:nvPr/>
        </p:nvSpPr>
        <p:spPr>
          <a:xfrm>
            <a:off x="4663440" y="3977639"/>
            <a:ext cx="64008" cy="2331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031" y="4023359"/>
            <a:ext cx="3794759" cy="320040"/>
          </a:xfrm>
          <a:prstGeom prst="rect">
            <a:avLst/>
          </a:prstGeom>
          <a:noFill/>
        </p:spPr>
        <p:txBody>
          <a:bodyPr wrap="square" lIns="0" tIns="0" rIns="0" bIns="0">
            <a:spAutoFit/>
          </a:bodyPr>
          <a:lstStyle/>
          <a:p>
            <a:pPr algn="l"/>
            <a:r>
              <a:rPr sz="1300" b="1" i="0">
                <a:solidFill>
                  <a:srgbClr val="2E75B6"/>
                </a:solidFill>
                <a:latin typeface="Calibri"/>
              </a:rPr>
              <a:t>Robustness</a:t>
            </a:r>
          </a:p>
        </p:txBody>
      </p:sp>
      <p:sp>
        <p:nvSpPr>
          <p:cNvPr id="27" name="TextBox 26"/>
          <p:cNvSpPr txBox="1"/>
          <p:nvPr/>
        </p:nvSpPr>
        <p:spPr>
          <a:xfrm>
            <a:off x="4828031" y="4361688"/>
            <a:ext cx="3794759" cy="1920239"/>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Often only AWGN tested: F1 fell to 32.46% at 5 dB [5].</a:t>
            </a:r>
          </a:p>
          <a:p>
            <a:pPr algn="l">
              <a:spcAft>
                <a:spcPts val="300"/>
              </a:spcAft>
            </a:pPr>
            <a:r>
              <a:rPr sz="1100" b="0" i="0">
                <a:solidFill>
                  <a:srgbClr val="202020"/>
                </a:solidFill>
                <a:latin typeface="Calibri"/>
              </a:rPr>
              <a:t>• Uncertainty-aware fusion was more robust under NSTDB noise from 15 to 0 dB [30].</a:t>
            </a:r>
          </a:p>
          <a:p>
            <a:pPr algn="l">
              <a:spcAft>
                <a:spcPts val="300"/>
              </a:spcAft>
            </a:pPr>
            <a:r>
              <a:rPr sz="1100" b="0" i="0">
                <a:solidFill>
                  <a:srgbClr val="202020"/>
                </a:solidFill>
                <a:latin typeface="Calibri"/>
              </a:rPr>
              <a:t>• Rejecting high-uncertainty predictions raised macro F1 from 0.6635 to 0.8688 [33].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Comparison of Key Studies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24128"/>
            <a:ext cx="8138160" cy="274320"/>
          </a:xfrm>
          <a:prstGeom prst="rect">
            <a:avLst/>
          </a:prstGeom>
          <a:noFill/>
        </p:spPr>
        <p:txBody>
          <a:bodyPr wrap="square" lIns="0" tIns="0" rIns="0" bIns="0">
            <a:spAutoFit/>
          </a:bodyPr>
          <a:lstStyle/>
          <a:p>
            <a:pPr algn="l"/>
            <a:r>
              <a:rPr sz="1200" b="0" i="1">
                <a:solidFill>
                  <a:srgbClr val="595959"/>
                </a:solidFill>
                <a:latin typeface="Calibri"/>
              </a:rPr>
              <a:t>Surveyed papers most relevant to this project (report Table 1).</a:t>
            </a:r>
          </a:p>
        </p:txBody>
      </p:sp>
      <p:graphicFrame>
        <p:nvGraphicFramePr>
          <p:cNvPr id="16" name="Table 15"/>
          <p:cNvGraphicFramePr>
            <a:graphicFrameLocks noGrp="1"/>
          </p:cNvGraphicFramePr>
          <p:nvPr/>
        </p:nvGraphicFramePr>
        <p:xfrm>
          <a:off x="502920" y="1417320"/>
          <a:ext cx="8138160" cy="3520440"/>
        </p:xfrm>
        <a:graphic>
          <a:graphicData uri="http://schemas.openxmlformats.org/drawingml/2006/table">
            <a:tbl>
              <a:tblPr firstRow="1" bandRow="1">
                <a:tableStyleId>{5C22544A-7EE6-4342-B048-85BDC9FD1C3A}</a:tableStyleId>
              </a:tblPr>
              <a:tblGrid>
                <a:gridCol w="502920"/>
                <a:gridCol w="1600200"/>
                <a:gridCol w="1600200"/>
                <a:gridCol w="1051560"/>
                <a:gridCol w="1188720"/>
                <a:gridCol w="2194560"/>
              </a:tblGrid>
              <a:tr h="502920">
                <a:tc>
                  <a:txBody>
                    <a:bodyPr/>
                    <a:lstStyle/>
                    <a:p>
                      <a:pPr algn="l"/>
                      <a:r>
                        <a:rPr sz="1100" b="1">
                          <a:solidFill>
                            <a:srgbClr val="FFFFFF"/>
                          </a:solidFill>
                          <a:latin typeface="Calibri"/>
                        </a:rPr>
                        <a:t>Ref.</a:t>
                      </a:r>
                    </a:p>
                  </a:txBody>
                  <a:tcPr marT="27432" marB="27432" marL="54864" marR="54864">
                    <a:solidFill>
                      <a:srgbClr val="1F3864"/>
                    </a:solidFill>
                  </a:tcPr>
                </a:tc>
                <a:tc>
                  <a:txBody>
                    <a:bodyPr/>
                    <a:lstStyle/>
                    <a:p>
                      <a:pPr algn="l"/>
                      <a:r>
                        <a:rPr sz="1100" b="1">
                          <a:solidFill>
                            <a:srgbClr val="FFFFFF"/>
                          </a:solidFill>
                          <a:latin typeface="Calibri"/>
                        </a:rPr>
                        <a:t>Dataset(s)</a:t>
                      </a:r>
                    </a:p>
                  </a:txBody>
                  <a:tcPr marT="27432" marB="27432" marL="54864" marR="54864">
                    <a:solidFill>
                      <a:srgbClr val="1F3864"/>
                    </a:solidFill>
                  </a:tcPr>
                </a:tc>
                <a:tc>
                  <a:txBody>
                    <a:bodyPr/>
                    <a:lstStyle/>
                    <a:p>
                      <a:pPr algn="l"/>
                      <a:r>
                        <a:rPr sz="1100" b="1">
                          <a:solidFill>
                            <a:srgbClr val="FFFFFF"/>
                          </a:solidFill>
                          <a:latin typeface="Calibri"/>
                        </a:rPr>
                        <a:t>Model</a:t>
                      </a:r>
                    </a:p>
                  </a:txBody>
                  <a:tcPr marT="27432" marB="27432" marL="54864" marR="54864">
                    <a:solidFill>
                      <a:srgbClr val="1F3864"/>
                    </a:solidFill>
                  </a:tcPr>
                </a:tc>
                <a:tc>
                  <a:txBody>
                    <a:bodyPr/>
                    <a:lstStyle/>
                    <a:p>
                      <a:pPr algn="ctr"/>
                      <a:r>
                        <a:rPr sz="1100" b="1">
                          <a:solidFill>
                            <a:srgbClr val="FFFFFF"/>
                          </a:solidFill>
                          <a:latin typeface="Calibri"/>
                        </a:rPr>
                        <a:t>XAI</a:t>
                      </a:r>
                    </a:p>
                  </a:txBody>
                  <a:tcPr marT="27432" marB="27432" marL="54864" marR="54864">
                    <a:solidFill>
                      <a:srgbClr val="1F3864"/>
                    </a:solidFill>
                  </a:tcPr>
                </a:tc>
                <a:tc>
                  <a:txBody>
                    <a:bodyPr/>
                    <a:lstStyle/>
                    <a:p>
                      <a:pPr algn="ctr"/>
                      <a:r>
                        <a:rPr sz="1100" b="1">
                          <a:solidFill>
                            <a:srgbClr val="FFFFFF"/>
                          </a:solidFill>
                          <a:latin typeface="Calibri"/>
                        </a:rPr>
                        <a:t>Split</a:t>
                      </a:r>
                    </a:p>
                  </a:txBody>
                  <a:tcPr marT="27432" marB="27432" marL="54864" marR="54864">
                    <a:solidFill>
                      <a:srgbClr val="1F3864"/>
                    </a:solidFill>
                  </a:tcPr>
                </a:tc>
                <a:tc>
                  <a:txBody>
                    <a:bodyPr/>
                    <a:lstStyle/>
                    <a:p>
                      <a:pPr algn="l"/>
                      <a:r>
                        <a:rPr sz="1100" b="1">
                          <a:solidFill>
                            <a:srgbClr val="FFFFFF"/>
                          </a:solidFill>
                          <a:latin typeface="Calibri"/>
                        </a:rPr>
                        <a:t>Key result</a:t>
                      </a:r>
                    </a:p>
                  </a:txBody>
                  <a:tcPr marT="27432" marB="27432" marL="54864" marR="54864">
                    <a:solidFill>
                      <a:srgbClr val="1F3864"/>
                    </a:solidFill>
                  </a:tcPr>
                </a:tc>
              </a:tr>
              <a:tr h="502920">
                <a:tc>
                  <a:txBody>
                    <a:bodyPr/>
                    <a:lstStyle/>
                    <a:p>
                      <a:pPr algn="l"/>
                      <a:r>
                        <a:rPr sz="1100" b="1">
                          <a:solidFill>
                            <a:srgbClr val="202020"/>
                          </a:solidFill>
                          <a:latin typeface="Calibri"/>
                        </a:rPr>
                        <a:t>[8]</a:t>
                      </a:r>
                    </a:p>
                  </a:txBody>
                  <a:tcPr marT="27432" marB="27432" marL="54864" marR="54864">
                    <a:solidFill>
                      <a:srgbClr val="F2F2F2"/>
                    </a:solidFill>
                  </a:tcPr>
                </a:tc>
                <a:tc>
                  <a:txBody>
                    <a:bodyPr/>
                    <a:lstStyle/>
                    <a:p>
                      <a:pPr algn="l"/>
                      <a:r>
                        <a:rPr sz="1100" b="0">
                          <a:solidFill>
                            <a:srgbClr val="202020"/>
                          </a:solidFill>
                          <a:latin typeface="Calibri"/>
                        </a:rPr>
                        <a:t>MIT-BIH + LTAF</a:t>
                      </a:r>
                    </a:p>
                  </a:txBody>
                  <a:tcPr marT="27432" marB="27432" marL="54864" marR="54864">
                    <a:solidFill>
                      <a:srgbClr val="F2F2F2"/>
                    </a:solidFill>
                  </a:tcPr>
                </a:tc>
                <a:tc>
                  <a:txBody>
                    <a:bodyPr/>
                    <a:lstStyle/>
                    <a:p>
                      <a:pPr algn="l"/>
                      <a:r>
                        <a:rPr sz="1100" b="0">
                          <a:solidFill>
                            <a:srgbClr val="202020"/>
                          </a:solidFill>
                          <a:latin typeface="Calibri"/>
                        </a:rPr>
                        <a:t>Lightweight CNN-LSTM</a:t>
                      </a:r>
                    </a:p>
                  </a:txBody>
                  <a:tcPr marT="27432" marB="27432" marL="54864" marR="54864">
                    <a:solidFill>
                      <a:srgbClr val="F2F2F2"/>
                    </a:solidFill>
                  </a:tcPr>
                </a:tc>
                <a:tc>
                  <a:txBody>
                    <a:bodyPr/>
                    <a:lstStyle/>
                    <a:p>
                      <a:pPr algn="ctr"/>
                      <a:r>
                        <a:rPr sz="1100" b="0">
                          <a:solidFill>
                            <a:srgbClr val="202020"/>
                          </a:solidFill>
                          <a:latin typeface="Calibri"/>
                        </a:rPr>
                        <a:t>SHAP</a:t>
                      </a:r>
                    </a:p>
                  </a:txBody>
                  <a:tcPr marT="27432" marB="27432" marL="54864" marR="54864">
                    <a:solidFill>
                      <a:srgbClr val="F2F2F2"/>
                    </a:solidFill>
                  </a:tcPr>
                </a:tc>
                <a:tc>
                  <a:txBody>
                    <a:bodyPr/>
                    <a:lstStyle/>
                    <a:p>
                      <a:pPr algn="ctr"/>
                      <a:r>
                        <a:rPr sz="1100" b="0">
                          <a:solidFill>
                            <a:srgbClr val="202020"/>
                          </a:solidFill>
                          <a:latin typeface="Calibri"/>
                        </a:rPr>
                        <a:t>Not stated (85/15)</a:t>
                      </a:r>
                    </a:p>
                  </a:txBody>
                  <a:tcPr marT="27432" marB="27432" marL="54864" marR="54864">
                    <a:solidFill>
                      <a:srgbClr val="F2F2F2"/>
                    </a:solidFill>
                  </a:tcPr>
                </a:tc>
                <a:tc>
                  <a:txBody>
                    <a:bodyPr/>
                    <a:lstStyle/>
                    <a:p>
                      <a:pPr algn="l"/>
                      <a:r>
                        <a:rPr sz="1100" b="0">
                          <a:solidFill>
                            <a:srgbClr val="202020"/>
                          </a:solidFill>
                          <a:latin typeface="Calibri"/>
                        </a:rPr>
                        <a:t>Acc 98.24%, Se 86.1%; 0.16 MB</a:t>
                      </a:r>
                    </a:p>
                  </a:txBody>
                  <a:tcPr marT="27432" marB="27432" marL="54864" marR="54864">
                    <a:solidFill>
                      <a:srgbClr val="F2F2F2"/>
                    </a:solidFill>
                  </a:tcPr>
                </a:tc>
              </a:tr>
              <a:tr h="502920">
                <a:tc>
                  <a:txBody>
                    <a:bodyPr/>
                    <a:lstStyle/>
                    <a:p>
                      <a:pPr algn="l"/>
                      <a:r>
                        <a:rPr sz="1100" b="1">
                          <a:solidFill>
                            <a:srgbClr val="202020"/>
                          </a:solidFill>
                          <a:latin typeface="Calibri"/>
                        </a:rPr>
                        <a:t>[3]</a:t>
                      </a:r>
                    </a:p>
                  </a:txBody>
                  <a:tcPr marT="27432" marB="27432" marL="54864" marR="54864">
                    <a:solidFill>
                      <a:srgbClr val="FFFFFF"/>
                    </a:solidFill>
                  </a:tcPr>
                </a:tc>
                <a:tc>
                  <a:txBody>
                    <a:bodyPr/>
                    <a:lstStyle/>
                    <a:p>
                      <a:pPr algn="l"/>
                      <a:r>
                        <a:rPr sz="1100" b="0">
                          <a:solidFill>
                            <a:srgbClr val="202020"/>
                          </a:solidFill>
                          <a:latin typeface="Calibri"/>
                        </a:rPr>
                        <a:t>MIT-BIH + 12-lead (Zheng et al.)</a:t>
                      </a:r>
                    </a:p>
                  </a:txBody>
                  <a:tcPr marT="27432" marB="27432" marL="54864" marR="54864">
                    <a:solidFill>
                      <a:srgbClr val="FFFFFF"/>
                    </a:solidFill>
                  </a:tcPr>
                </a:tc>
                <a:tc>
                  <a:txBody>
                    <a:bodyPr/>
                    <a:lstStyle/>
                    <a:p>
                      <a:pPr algn="l"/>
                      <a:r>
                        <a:rPr sz="1100" b="0">
                          <a:solidFill>
                            <a:srgbClr val="202020"/>
                          </a:solidFill>
                          <a:latin typeface="Calibri"/>
                        </a:rPr>
                        <a:t>1D CNN</a:t>
                      </a:r>
                    </a:p>
                  </a:txBody>
                  <a:tcPr marT="27432" marB="27432" marL="54864" marR="54864">
                    <a:solidFill>
                      <a:srgbClr val="FFFFFF"/>
                    </a:solidFill>
                  </a:tcPr>
                </a:tc>
                <a:tc>
                  <a:txBody>
                    <a:bodyPr/>
                    <a:lstStyle/>
                    <a:p>
                      <a:pPr algn="ctr"/>
                      <a:r>
                        <a:rPr sz="1100" b="0">
                          <a:solidFill>
                            <a:srgbClr val="202020"/>
                          </a:solidFill>
                          <a:latin typeface="Calibri"/>
                        </a:rPr>
                        <a:t>4 SHAP variants</a:t>
                      </a:r>
                    </a:p>
                  </a:txBody>
                  <a:tcPr marT="27432" marB="27432" marL="54864" marR="54864">
                    <a:solidFill>
                      <a:srgbClr val="FFFFFF"/>
                    </a:solidFill>
                  </a:tcPr>
                </a:tc>
                <a:tc>
                  <a:txBody>
                    <a:bodyPr/>
                    <a:lstStyle/>
                    <a:p>
                      <a:pPr algn="ctr"/>
                      <a:r>
                        <a:rPr sz="1100" b="0">
                          <a:solidFill>
                            <a:srgbClr val="202020"/>
                          </a:solidFill>
                          <a:latin typeface="Calibri"/>
                        </a:rPr>
                        <a:t>Not stated (80/20)</a:t>
                      </a:r>
                    </a:p>
                  </a:txBody>
                  <a:tcPr marT="27432" marB="27432" marL="54864" marR="54864">
                    <a:solidFill>
                      <a:srgbClr val="FFFFFF"/>
                    </a:solidFill>
                  </a:tcPr>
                </a:tc>
                <a:tc>
                  <a:txBody>
                    <a:bodyPr/>
                    <a:lstStyle/>
                    <a:p>
                      <a:pPr algn="l"/>
                      <a:r>
                        <a:rPr sz="1100" b="0">
                          <a:solidFill>
                            <a:srgbClr val="202020"/>
                          </a:solidFill>
                          <a:latin typeface="Calibri"/>
                        </a:rPr>
                        <a:t>Val acc 98.30%; 73.45% on combined data</a:t>
                      </a:r>
                    </a:p>
                  </a:txBody>
                  <a:tcPr marT="27432" marB="27432" marL="54864" marR="54864">
                    <a:solidFill>
                      <a:srgbClr val="FFFFFF"/>
                    </a:solidFill>
                  </a:tcPr>
                </a:tc>
              </a:tr>
              <a:tr h="502920">
                <a:tc>
                  <a:txBody>
                    <a:bodyPr/>
                    <a:lstStyle/>
                    <a:p>
                      <a:pPr algn="l"/>
                      <a:r>
                        <a:rPr sz="1100" b="1">
                          <a:solidFill>
                            <a:srgbClr val="202020"/>
                          </a:solidFill>
                          <a:latin typeface="Calibri"/>
                        </a:rPr>
                        <a:t>[29]</a:t>
                      </a:r>
                    </a:p>
                  </a:txBody>
                  <a:tcPr marT="27432" marB="27432" marL="54864" marR="54864">
                    <a:solidFill>
                      <a:srgbClr val="F2F2F2"/>
                    </a:solidFill>
                  </a:tcPr>
                </a:tc>
                <a:tc>
                  <a:txBody>
                    <a:bodyPr/>
                    <a:lstStyle/>
                    <a:p>
                      <a:pPr algn="l"/>
                      <a:r>
                        <a:rPr sz="1100" b="0">
                          <a:solidFill>
                            <a:srgbClr val="202020"/>
                          </a:solidFill>
                          <a:latin typeface="Calibri"/>
                        </a:rPr>
                        <a:t>MIT-BIH; Chapman-Shaoxing</a:t>
                      </a:r>
                    </a:p>
                  </a:txBody>
                  <a:tcPr marT="27432" marB="27432" marL="54864" marR="54864">
                    <a:solidFill>
                      <a:srgbClr val="F2F2F2"/>
                    </a:solidFill>
                  </a:tcPr>
                </a:tc>
                <a:tc>
                  <a:txBody>
                    <a:bodyPr/>
                    <a:lstStyle/>
                    <a:p>
                      <a:pPr algn="l"/>
                      <a:r>
                        <a:rPr sz="1100" b="0">
                          <a:solidFill>
                            <a:srgbClr val="202020"/>
                          </a:solidFill>
                          <a:latin typeface="Calibri"/>
                        </a:rPr>
                        <a:t>Adversarial SE-ResNet</a:t>
                      </a:r>
                    </a:p>
                  </a:txBody>
                  <a:tcPr marT="27432" marB="27432" marL="54864" marR="54864">
                    <a:solidFill>
                      <a:srgbClr val="F2F2F2"/>
                    </a:solidFill>
                  </a:tcPr>
                </a:tc>
                <a:tc>
                  <a:txBody>
                    <a:bodyPr/>
                    <a:lstStyle/>
                    <a:p>
                      <a:pPr algn="ctr"/>
                      <a:r>
                        <a:rPr sz="1100" b="0">
                          <a:solidFill>
                            <a:srgbClr val="202020"/>
                          </a:solidFill>
                          <a:latin typeface="Calibri"/>
                        </a:rPr>
                        <a:t>Not stated</a:t>
                      </a:r>
                    </a:p>
                  </a:txBody>
                  <a:tcPr marT="27432" marB="27432" marL="54864" marR="54864">
                    <a:solidFill>
                      <a:srgbClr val="F2F2F2"/>
                    </a:solidFill>
                  </a:tcPr>
                </a:tc>
                <a:tc>
                  <a:txBody>
                    <a:bodyPr/>
                    <a:lstStyle/>
                    <a:p>
                      <a:pPr algn="ctr"/>
                      <a:r>
                        <a:rPr sz="1100" b="0">
                          <a:solidFill>
                            <a:srgbClr val="202020"/>
                          </a:solidFill>
                          <a:latin typeface="Calibri"/>
                        </a:rPr>
                        <a:t>Inter-patient</a:t>
                      </a:r>
                    </a:p>
                  </a:txBody>
                  <a:tcPr marT="27432" marB="27432" marL="54864" marR="54864">
                    <a:solidFill>
                      <a:srgbClr val="F2F2F2"/>
                    </a:solidFill>
                  </a:tcPr>
                </a:tc>
                <a:tc>
                  <a:txBody>
                    <a:bodyPr/>
                    <a:lstStyle/>
                    <a:p>
                      <a:pPr algn="l"/>
                      <a:r>
                        <a:rPr sz="1100" b="0">
                          <a:solidFill>
                            <a:srgbClr val="202020"/>
                          </a:solidFill>
                          <a:latin typeface="Calibri"/>
                        </a:rPr>
                        <a:t>AFib F1 77.9% vs 61.0%</a:t>
                      </a:r>
                    </a:p>
                  </a:txBody>
                  <a:tcPr marT="27432" marB="27432" marL="54864" marR="54864">
                    <a:solidFill>
                      <a:srgbClr val="F2F2F2"/>
                    </a:solidFill>
                  </a:tcPr>
                </a:tc>
              </a:tr>
              <a:tr h="502920">
                <a:tc>
                  <a:txBody>
                    <a:bodyPr/>
                    <a:lstStyle/>
                    <a:p>
                      <a:pPr algn="l"/>
                      <a:r>
                        <a:rPr sz="1100" b="1">
                          <a:solidFill>
                            <a:srgbClr val="202020"/>
                          </a:solidFill>
                          <a:latin typeface="Calibri"/>
                        </a:rPr>
                        <a:t>[5]</a:t>
                      </a:r>
                    </a:p>
                  </a:txBody>
                  <a:tcPr marT="27432" marB="27432" marL="54864" marR="54864">
                    <a:solidFill>
                      <a:srgbClr val="FFFFFF"/>
                    </a:solidFill>
                  </a:tcPr>
                </a:tc>
                <a:tc>
                  <a:txBody>
                    <a:bodyPr/>
                    <a:lstStyle/>
                    <a:p>
                      <a:pPr algn="l"/>
                      <a:r>
                        <a:rPr sz="1100" b="0">
                          <a:solidFill>
                            <a:srgbClr val="202020"/>
                          </a:solidFill>
                          <a:latin typeface="Calibri"/>
                        </a:rPr>
                        <a:t>MIT-BIH; INCART, SVDB, PTB</a:t>
                      </a:r>
                    </a:p>
                  </a:txBody>
                  <a:tcPr marT="27432" marB="27432" marL="54864" marR="54864">
                    <a:solidFill>
                      <a:srgbClr val="FFFFFF"/>
                    </a:solidFill>
                  </a:tcPr>
                </a:tc>
                <a:tc>
                  <a:txBody>
                    <a:bodyPr/>
                    <a:lstStyle/>
                    <a:p>
                      <a:pPr algn="l"/>
                      <a:r>
                        <a:rPr sz="1100" b="0">
                          <a:solidFill>
                            <a:srgbClr val="202020"/>
                          </a:solidFill>
                          <a:latin typeface="Calibri"/>
                        </a:rPr>
                        <a:t>CNN-BiLSTM + CapsNet fusion</a:t>
                      </a:r>
                    </a:p>
                  </a:txBody>
                  <a:tcPr marT="27432" marB="27432" marL="54864" marR="54864">
                    <a:solidFill>
                      <a:srgbClr val="FFFFFF"/>
                    </a:solidFill>
                  </a:tcPr>
                </a:tc>
                <a:tc>
                  <a:txBody>
                    <a:bodyPr/>
                    <a:lstStyle/>
                    <a:p>
                      <a:pPr algn="ctr"/>
                      <a:r>
                        <a:rPr sz="1100" b="0">
                          <a:solidFill>
                            <a:srgbClr val="202020"/>
                          </a:solidFill>
                          <a:latin typeface="Calibri"/>
                        </a:rPr>
                        <a:t>Branch weights</a:t>
                      </a:r>
                    </a:p>
                  </a:txBody>
                  <a:tcPr marT="27432" marB="27432" marL="54864" marR="54864">
                    <a:solidFill>
                      <a:srgbClr val="FFFFFF"/>
                    </a:solidFill>
                  </a:tcPr>
                </a:tc>
                <a:tc>
                  <a:txBody>
                    <a:bodyPr/>
                    <a:lstStyle/>
                    <a:p>
                      <a:pPr algn="ctr"/>
                      <a:r>
                        <a:rPr sz="1100" b="0">
                          <a:solidFill>
                            <a:srgbClr val="202020"/>
                          </a:solidFill>
                          <a:latin typeface="Calibri"/>
                        </a:rPr>
                        <a:t>Inter-patient</a:t>
                      </a:r>
                    </a:p>
                  </a:txBody>
                  <a:tcPr marT="27432" marB="27432" marL="54864" marR="54864">
                    <a:solidFill>
                      <a:srgbClr val="FFFFFF"/>
                    </a:solidFill>
                  </a:tcPr>
                </a:tc>
                <a:tc>
                  <a:txBody>
                    <a:bodyPr/>
                    <a:lstStyle/>
                    <a:p>
                      <a:pPr algn="l"/>
                      <a:r>
                        <a:rPr sz="1100" b="0">
                          <a:solidFill>
                            <a:srgbClr val="202020"/>
                          </a:solidFill>
                          <a:latin typeface="Calibri"/>
                        </a:rPr>
                        <a:t>Acc 99.55%; F1 32.46% at 5 dB AWGN</a:t>
                      </a:r>
                    </a:p>
                  </a:txBody>
                  <a:tcPr marT="27432" marB="27432" marL="54864" marR="54864">
                    <a:solidFill>
                      <a:srgbClr val="FFFFFF"/>
                    </a:solidFill>
                  </a:tcPr>
                </a:tc>
              </a:tr>
              <a:tr h="502920">
                <a:tc>
                  <a:txBody>
                    <a:bodyPr/>
                    <a:lstStyle/>
                    <a:p>
                      <a:pPr algn="l"/>
                      <a:r>
                        <a:rPr sz="1100" b="1">
                          <a:solidFill>
                            <a:srgbClr val="202020"/>
                          </a:solidFill>
                          <a:latin typeface="Calibri"/>
                        </a:rPr>
                        <a:t>[11]</a:t>
                      </a:r>
                    </a:p>
                  </a:txBody>
                  <a:tcPr marT="27432" marB="27432" marL="54864" marR="54864">
                    <a:solidFill>
                      <a:srgbClr val="F2F2F2"/>
                    </a:solidFill>
                  </a:tcPr>
                </a:tc>
                <a:tc>
                  <a:txBody>
                    <a:bodyPr/>
                    <a:lstStyle/>
                    <a:p>
                      <a:pPr algn="l"/>
                      <a:r>
                        <a:rPr sz="1100" b="0">
                          <a:solidFill>
                            <a:srgbClr val="202020"/>
                          </a:solidFill>
                          <a:latin typeface="Calibri"/>
                        </a:rPr>
                        <a:t>MIT-BIH</a:t>
                      </a:r>
                    </a:p>
                  </a:txBody>
                  <a:tcPr marT="27432" marB="27432" marL="54864" marR="54864">
                    <a:solidFill>
                      <a:srgbClr val="F2F2F2"/>
                    </a:solidFill>
                  </a:tcPr>
                </a:tc>
                <a:tc>
                  <a:txBody>
                    <a:bodyPr/>
                    <a:lstStyle/>
                    <a:p>
                      <a:pPr algn="l"/>
                      <a:r>
                        <a:rPr sz="1100" b="0">
                          <a:solidFill>
                            <a:srgbClr val="202020"/>
                          </a:solidFill>
                          <a:latin typeface="Calibri"/>
                        </a:rPr>
                        <a:t>CNN-BiLSTM + cGAN</a:t>
                      </a:r>
                    </a:p>
                  </a:txBody>
                  <a:tcPr marT="27432" marB="27432" marL="54864" marR="54864">
                    <a:solidFill>
                      <a:srgbClr val="F2F2F2"/>
                    </a:solidFill>
                  </a:tcPr>
                </a:tc>
                <a:tc>
                  <a:txBody>
                    <a:bodyPr/>
                    <a:lstStyle/>
                    <a:p>
                      <a:pPr algn="ctr"/>
                      <a:r>
                        <a:rPr sz="1100" b="0">
                          <a:solidFill>
                            <a:srgbClr val="202020"/>
                          </a:solidFill>
                          <a:latin typeface="Calibri"/>
                        </a:rPr>
                        <a:t>Not stated</a:t>
                      </a:r>
                    </a:p>
                  </a:txBody>
                  <a:tcPr marT="27432" marB="27432" marL="54864" marR="54864">
                    <a:solidFill>
                      <a:srgbClr val="F2F2F2"/>
                    </a:solidFill>
                  </a:tcPr>
                </a:tc>
                <a:tc>
                  <a:txBody>
                    <a:bodyPr/>
                    <a:lstStyle/>
                    <a:p>
                      <a:pPr algn="ctr"/>
                      <a:r>
                        <a:rPr sz="1100" b="0">
                          <a:solidFill>
                            <a:srgbClr val="202020"/>
                          </a:solidFill>
                          <a:latin typeface="Calibri"/>
                        </a:rPr>
                        <a:t>Both</a:t>
                      </a:r>
                    </a:p>
                  </a:txBody>
                  <a:tcPr marT="27432" marB="27432" marL="54864" marR="54864">
                    <a:solidFill>
                      <a:srgbClr val="F2F2F2"/>
                    </a:solidFill>
                  </a:tcPr>
                </a:tc>
                <a:tc>
                  <a:txBody>
                    <a:bodyPr/>
                    <a:lstStyle/>
                    <a:p>
                      <a:pPr algn="l"/>
                      <a:r>
                        <a:rPr sz="1100" b="0">
                          <a:solidFill>
                            <a:srgbClr val="202020"/>
                          </a:solidFill>
                          <a:latin typeface="Calibri"/>
                        </a:rPr>
                        <a:t>99.00% beat-wise vs 91.69% patient-wise</a:t>
                      </a:r>
                    </a:p>
                  </a:txBody>
                  <a:tcPr marT="27432" marB="27432" marL="54864" marR="54864">
                    <a:solidFill>
                      <a:srgbClr val="F2F2F2"/>
                    </a:solidFill>
                  </a:tcPr>
                </a:tc>
              </a:tr>
              <a:tr h="502920">
                <a:tc>
                  <a:txBody>
                    <a:bodyPr/>
                    <a:lstStyle/>
                    <a:p>
                      <a:pPr algn="l"/>
                      <a:r>
                        <a:rPr sz="1100" b="1">
                          <a:solidFill>
                            <a:srgbClr val="202020"/>
                          </a:solidFill>
                          <a:latin typeface="Calibri"/>
                        </a:rPr>
                        <a:t>[30]</a:t>
                      </a:r>
                    </a:p>
                  </a:txBody>
                  <a:tcPr marT="27432" marB="27432" marL="54864" marR="54864">
                    <a:solidFill>
                      <a:srgbClr val="FFFFFF"/>
                    </a:solidFill>
                  </a:tcPr>
                </a:tc>
                <a:tc>
                  <a:txBody>
                    <a:bodyPr/>
                    <a:lstStyle/>
                    <a:p>
                      <a:pPr algn="l"/>
                      <a:r>
                        <a:rPr sz="1100" b="0">
                          <a:solidFill>
                            <a:srgbClr val="202020"/>
                          </a:solidFill>
                          <a:latin typeface="Calibri"/>
                        </a:rPr>
                        <a:t>MIT-BIH; INCART; NSTDB</a:t>
                      </a:r>
                    </a:p>
                  </a:txBody>
                  <a:tcPr marT="27432" marB="27432" marL="54864" marR="54864">
                    <a:solidFill>
                      <a:srgbClr val="FFFFFF"/>
                    </a:solidFill>
                  </a:tcPr>
                </a:tc>
                <a:tc>
                  <a:txBody>
                    <a:bodyPr/>
                    <a:lstStyle/>
                    <a:p>
                      <a:pPr algn="l"/>
                      <a:r>
                        <a:rPr sz="1100" b="0">
                          <a:solidFill>
                            <a:srgbClr val="202020"/>
                          </a:solidFill>
                          <a:latin typeface="Calibri"/>
                        </a:rPr>
                        <a:t>BiLSTM + ViT, D-S fusion</a:t>
                      </a:r>
                    </a:p>
                  </a:txBody>
                  <a:tcPr marT="27432" marB="27432" marL="54864" marR="54864">
                    <a:solidFill>
                      <a:srgbClr val="FFFFFF"/>
                    </a:solidFill>
                  </a:tcPr>
                </a:tc>
                <a:tc>
                  <a:txBody>
                    <a:bodyPr/>
                    <a:lstStyle/>
                    <a:p>
                      <a:pPr algn="ctr"/>
                      <a:r>
                        <a:rPr sz="1100" b="0">
                          <a:solidFill>
                            <a:srgbClr val="202020"/>
                          </a:solidFill>
                          <a:latin typeface="Calibri"/>
                        </a:rPr>
                        <a:t>Not stated</a:t>
                      </a:r>
                    </a:p>
                  </a:txBody>
                  <a:tcPr marT="27432" marB="27432" marL="54864" marR="54864">
                    <a:solidFill>
                      <a:srgbClr val="FFFFFF"/>
                    </a:solidFill>
                  </a:tcPr>
                </a:tc>
                <a:tc>
                  <a:txBody>
                    <a:bodyPr/>
                    <a:lstStyle/>
                    <a:p>
                      <a:pPr algn="ctr"/>
                      <a:r>
                        <a:rPr sz="1100" b="0">
                          <a:solidFill>
                            <a:srgbClr val="202020"/>
                          </a:solidFill>
                          <a:latin typeface="Calibri"/>
                        </a:rPr>
                        <a:t>Not stated (80/20)</a:t>
                      </a:r>
                    </a:p>
                  </a:txBody>
                  <a:tcPr marT="27432" marB="27432" marL="54864" marR="54864">
                    <a:solidFill>
                      <a:srgbClr val="FFFFFF"/>
                    </a:solidFill>
                  </a:tcPr>
                </a:tc>
                <a:tc>
                  <a:txBody>
                    <a:bodyPr/>
                    <a:lstStyle/>
                    <a:p>
                      <a:pPr algn="l"/>
                      <a:r>
                        <a:rPr sz="1100" b="0">
                          <a:solidFill>
                            <a:srgbClr val="202020"/>
                          </a:solidFill>
                          <a:latin typeface="Calibri"/>
                        </a:rPr>
                        <a:t>Acc 98.8%; robust 15–0 dB noise</a:t>
                      </a:r>
                    </a:p>
                  </a:txBody>
                  <a:tcPr marT="27432" marB="27432" marL="54864" marR="54864">
                    <a:solidFill>
                      <a:srgbClr val="FFFFFF"/>
                    </a:solidFill>
                  </a:tcPr>
                </a:tc>
              </a:tr>
            </a:tbl>
          </a:graphicData>
        </a:graphic>
      </p:graphicFrame>
      <p:sp>
        <p:nvSpPr>
          <p:cNvPr id="17" name="TextBox 16"/>
          <p:cNvSpPr txBox="1"/>
          <p:nvPr/>
        </p:nvSpPr>
        <p:spPr>
          <a:xfrm>
            <a:off x="502920" y="5120640"/>
            <a:ext cx="8138160" cy="1097280"/>
          </a:xfrm>
          <a:prstGeom prst="rect">
            <a:avLst/>
          </a:prstGeom>
          <a:noFill/>
        </p:spPr>
        <p:txBody>
          <a:bodyPr wrap="square" lIns="0" tIns="0" rIns="0" bIns="0">
            <a:spAutoFit/>
          </a:bodyPr>
          <a:lstStyle/>
          <a:p>
            <a:pPr algn="l">
              <a:spcAft>
                <a:spcPts val="300"/>
              </a:spcAft>
            </a:pPr>
            <a:r>
              <a:rPr sz="1200" b="1" i="0">
                <a:solidFill>
                  <a:srgbClr val="202020"/>
                </a:solidFill>
                <a:latin typeface="Calibri"/>
              </a:rPr>
              <a:t>Pattern: </a:t>
            </a:r>
            <a:r>
              <a:rPr sz="1200" b="0" i="0">
                <a:solidFill>
                  <a:srgbClr val="202020"/>
                </a:solidFill>
                <a:latin typeface="Calibri"/>
              </a:rPr>
              <a:t>XAI studies often do not describe patient separation in their splits [8], [3], while strong inter-patient studies often include no XAI [29], [11].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Research Gaps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1280160"/>
            <a:ext cx="64008" cy="1920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1325880"/>
            <a:ext cx="3794759" cy="320040"/>
          </a:xfrm>
          <a:prstGeom prst="rect">
            <a:avLst/>
          </a:prstGeom>
          <a:noFill/>
        </p:spPr>
        <p:txBody>
          <a:bodyPr wrap="square" lIns="0" tIns="0" rIns="0" bIns="0">
            <a:spAutoFit/>
          </a:bodyPr>
          <a:lstStyle/>
          <a:p>
            <a:pPr algn="l"/>
            <a:r>
              <a:rPr sz="1300" b="1" i="0">
                <a:solidFill>
                  <a:srgbClr val="1F3864"/>
                </a:solidFill>
                <a:latin typeface="Calibri"/>
              </a:rPr>
              <a:t>Gap 1 – Explanations rarely validated</a:t>
            </a:r>
          </a:p>
        </p:txBody>
      </p:sp>
      <p:sp>
        <p:nvSpPr>
          <p:cNvPr id="17" name="TextBox 16"/>
          <p:cNvSpPr txBox="1"/>
          <p:nvPr/>
        </p:nvSpPr>
        <p:spPr>
          <a:xfrm>
            <a:off x="667512" y="1664207"/>
            <a:ext cx="3794759" cy="1508760"/>
          </a:xfrm>
          <a:prstGeom prst="rect">
            <a:avLst/>
          </a:prstGeom>
          <a:noFill/>
        </p:spPr>
        <p:txBody>
          <a:bodyPr wrap="square" lIns="0" tIns="0" rIns="0" bIns="0">
            <a:spAutoFit/>
          </a:bodyPr>
          <a:lstStyle/>
          <a:p>
            <a:pPr algn="l">
              <a:spcAft>
                <a:spcPts val="300"/>
              </a:spcAft>
            </a:pPr>
            <a:r>
              <a:rPr sz="1250" b="0" i="0">
                <a:solidFill>
                  <a:srgbClr val="202020"/>
                </a:solidFill>
                <a:latin typeface="Calibri"/>
              </a:rPr>
              <a:t>SHAP and Grad-CAM are widely applied, but fewer than 10% of studies validated maps against clinical ECG structures [2], and explanations were inconsistent within a class [3].</a:t>
            </a:r>
          </a:p>
        </p:txBody>
      </p:sp>
      <p:sp>
        <p:nvSpPr>
          <p:cNvPr id="18" name="Rectangle 17"/>
          <p:cNvSpPr/>
          <p:nvPr/>
        </p:nvSpPr>
        <p:spPr>
          <a:xfrm>
            <a:off x="4663440" y="1280160"/>
            <a:ext cx="64008" cy="192024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1" y="1325880"/>
            <a:ext cx="3794759" cy="320040"/>
          </a:xfrm>
          <a:prstGeom prst="rect">
            <a:avLst/>
          </a:prstGeom>
          <a:noFill/>
        </p:spPr>
        <p:txBody>
          <a:bodyPr wrap="square" lIns="0" tIns="0" rIns="0" bIns="0">
            <a:spAutoFit/>
          </a:bodyPr>
          <a:lstStyle/>
          <a:p>
            <a:pPr algn="l"/>
            <a:r>
              <a:rPr sz="1300" b="1" i="0">
                <a:solidFill>
                  <a:srgbClr val="ED7D31"/>
                </a:solidFill>
                <a:latin typeface="Calibri"/>
              </a:rPr>
              <a:t>Gap 2 – XAI seldom patient-independent</a:t>
            </a:r>
          </a:p>
        </p:txBody>
      </p:sp>
      <p:sp>
        <p:nvSpPr>
          <p:cNvPr id="20" name="TextBox 19"/>
          <p:cNvSpPr txBox="1"/>
          <p:nvPr/>
        </p:nvSpPr>
        <p:spPr>
          <a:xfrm>
            <a:off x="4828031" y="1664207"/>
            <a:ext cx="3794759" cy="1508760"/>
          </a:xfrm>
          <a:prstGeom prst="rect">
            <a:avLst/>
          </a:prstGeom>
          <a:noFill/>
        </p:spPr>
        <p:txBody>
          <a:bodyPr wrap="square" lIns="0" tIns="0" rIns="0" bIns="0">
            <a:spAutoFit/>
          </a:bodyPr>
          <a:lstStyle/>
          <a:p>
            <a:pPr algn="l">
              <a:spcAft>
                <a:spcPts val="300"/>
              </a:spcAft>
            </a:pPr>
            <a:r>
              <a:rPr sz="1250" b="0" i="0">
                <a:solidFill>
                  <a:srgbClr val="202020"/>
                </a:solidFill>
                <a:latin typeface="Calibri"/>
              </a:rPr>
              <a:t>Several XAI studies do not describe patient separation, although inter-patient evaluation substantially lowers performance [1], [11] and is used by only 30.3% of studies [4].</a:t>
            </a:r>
          </a:p>
        </p:txBody>
      </p:sp>
      <p:sp>
        <p:nvSpPr>
          <p:cNvPr id="21" name="Rectangle 20"/>
          <p:cNvSpPr/>
          <p:nvPr/>
        </p:nvSpPr>
        <p:spPr>
          <a:xfrm>
            <a:off x="502920" y="3657600"/>
            <a:ext cx="64008" cy="192024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3703320"/>
            <a:ext cx="3794759" cy="320040"/>
          </a:xfrm>
          <a:prstGeom prst="rect">
            <a:avLst/>
          </a:prstGeom>
          <a:noFill/>
        </p:spPr>
        <p:txBody>
          <a:bodyPr wrap="square" lIns="0" tIns="0" rIns="0" bIns="0">
            <a:spAutoFit/>
          </a:bodyPr>
          <a:lstStyle/>
          <a:p>
            <a:pPr algn="l"/>
            <a:r>
              <a:rPr sz="1300" b="1" i="0">
                <a:solidFill>
                  <a:srgbClr val="548235"/>
                </a:solidFill>
                <a:latin typeface="Calibri"/>
              </a:rPr>
              <a:t>Gap 3 – Narrow noise tests, not linked to XAI</a:t>
            </a:r>
          </a:p>
        </p:txBody>
      </p:sp>
      <p:sp>
        <p:nvSpPr>
          <p:cNvPr id="23" name="TextBox 22"/>
          <p:cNvSpPr txBox="1"/>
          <p:nvPr/>
        </p:nvSpPr>
        <p:spPr>
          <a:xfrm>
            <a:off x="667512" y="4041648"/>
            <a:ext cx="3794759" cy="1508760"/>
          </a:xfrm>
          <a:prstGeom prst="rect">
            <a:avLst/>
          </a:prstGeom>
          <a:noFill/>
        </p:spPr>
        <p:txBody>
          <a:bodyPr wrap="square" lIns="0" tIns="0" rIns="0" bIns="0">
            <a:spAutoFit/>
          </a:bodyPr>
          <a:lstStyle/>
          <a:p>
            <a:pPr algn="l">
              <a:spcAft>
                <a:spcPts val="300"/>
              </a:spcAft>
            </a:pPr>
            <a:r>
              <a:rPr sz="1250" b="0" i="0">
                <a:solidFill>
                  <a:srgbClr val="202020"/>
                </a:solidFill>
                <a:latin typeface="Calibri"/>
              </a:rPr>
              <a:t>Noise tests are limited to AWGN [5] or absent; NSTDB-based work [30] has no explanation analysis; no surveyed paper tests whether explanations stay stable under noise [33].</a:t>
            </a:r>
          </a:p>
        </p:txBody>
      </p:sp>
      <p:sp>
        <p:nvSpPr>
          <p:cNvPr id="24" name="Rectangle 23"/>
          <p:cNvSpPr/>
          <p:nvPr/>
        </p:nvSpPr>
        <p:spPr>
          <a:xfrm>
            <a:off x="4663440" y="3657600"/>
            <a:ext cx="64008" cy="19202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031" y="3703320"/>
            <a:ext cx="3794759" cy="320040"/>
          </a:xfrm>
          <a:prstGeom prst="rect">
            <a:avLst/>
          </a:prstGeom>
          <a:noFill/>
        </p:spPr>
        <p:txBody>
          <a:bodyPr wrap="square" lIns="0" tIns="0" rIns="0" bIns="0">
            <a:spAutoFit/>
          </a:bodyPr>
          <a:lstStyle/>
          <a:p>
            <a:pPr algn="l"/>
            <a:r>
              <a:rPr sz="1300" b="1" i="0">
                <a:solidFill>
                  <a:srgbClr val="2E75B6"/>
                </a:solidFill>
                <a:latin typeface="Calibri"/>
              </a:rPr>
              <a:t>Gap 4 – Weak minority classes and generalisation</a:t>
            </a:r>
          </a:p>
        </p:txBody>
      </p:sp>
      <p:sp>
        <p:nvSpPr>
          <p:cNvPr id="26" name="TextBox 25"/>
          <p:cNvSpPr txBox="1"/>
          <p:nvPr/>
        </p:nvSpPr>
        <p:spPr>
          <a:xfrm>
            <a:off x="4828031" y="4041648"/>
            <a:ext cx="3794759" cy="1508760"/>
          </a:xfrm>
          <a:prstGeom prst="rect">
            <a:avLst/>
          </a:prstGeom>
          <a:noFill/>
        </p:spPr>
        <p:txBody>
          <a:bodyPr wrap="square" lIns="0" tIns="0" rIns="0" bIns="0">
            <a:spAutoFit/>
          </a:bodyPr>
          <a:lstStyle/>
          <a:p>
            <a:pPr algn="l">
              <a:spcAft>
                <a:spcPts val="300"/>
              </a:spcAft>
            </a:pPr>
            <a:r>
              <a:rPr sz="1250" b="0" i="0">
                <a:solidFill>
                  <a:srgbClr val="202020"/>
                </a:solidFill>
                <a:latin typeface="Calibri"/>
              </a:rPr>
              <a:t>Patient-wise Fusion and S recall were only 0.021 and 0.209 [11]; only 18.5% of studies validate externally, with a mean accuracy drop of 8.7% [2].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Methodology: Proposed Framework</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block_diagram.png"/>
          <p:cNvPicPr>
            <a:picLocks noChangeAspect="1"/>
          </p:cNvPicPr>
          <p:nvPr/>
        </p:nvPicPr>
        <p:blipFill>
          <a:blip r:embed="rId2"/>
          <a:stretch>
            <a:fillRect/>
          </a:stretch>
        </p:blipFill>
        <p:spPr>
          <a:xfrm>
            <a:off x="1874519" y="987552"/>
            <a:ext cx="5394960" cy="3374548"/>
          </a:xfrm>
          <a:prstGeom prst="rect">
            <a:avLst/>
          </a:prstGeom>
        </p:spPr>
      </p:pic>
      <p:sp>
        <p:nvSpPr>
          <p:cNvPr id="16" name="TextBox 15"/>
          <p:cNvSpPr txBox="1"/>
          <p:nvPr/>
        </p:nvSpPr>
        <p:spPr>
          <a:xfrm>
            <a:off x="502920" y="4389120"/>
            <a:ext cx="8138160" cy="274320"/>
          </a:xfrm>
          <a:prstGeom prst="rect">
            <a:avLst/>
          </a:prstGeom>
          <a:noFill/>
        </p:spPr>
        <p:txBody>
          <a:bodyPr wrap="square" lIns="0" tIns="0" rIns="0" bIns="0">
            <a:spAutoFit/>
          </a:bodyPr>
          <a:lstStyle/>
          <a:p>
            <a:pPr algn="ctr"/>
            <a:r>
              <a:rPr sz="1000" b="0" i="1">
                <a:solidFill>
                  <a:srgbClr val="595959"/>
                </a:solidFill>
                <a:latin typeface="Calibri"/>
              </a:rPr>
              <a:t>Block diagram of the proposed framework (report Figure 1)</a:t>
            </a:r>
          </a:p>
        </p:txBody>
      </p:sp>
      <p:sp>
        <p:nvSpPr>
          <p:cNvPr id="17" name="TextBox 16"/>
          <p:cNvSpPr txBox="1"/>
          <p:nvPr/>
        </p:nvSpPr>
        <p:spPr>
          <a:xfrm>
            <a:off x="502920" y="4709160"/>
            <a:ext cx="8138160" cy="320040"/>
          </a:xfrm>
          <a:prstGeom prst="rect">
            <a:avLst/>
          </a:prstGeom>
          <a:noFill/>
        </p:spPr>
        <p:txBody>
          <a:bodyPr wrap="square" lIns="0" tIns="0" rIns="0" bIns="0">
            <a:spAutoFit/>
          </a:bodyPr>
          <a:lstStyle/>
          <a:p>
            <a:pPr algn="l"/>
            <a:r>
              <a:rPr sz="1400" b="1" i="0">
                <a:solidFill>
                  <a:srgbClr val="202020"/>
                </a:solidFill>
                <a:latin typeface="Calibri"/>
              </a:rPr>
              <a:t>Datasets</a:t>
            </a:r>
          </a:p>
        </p:txBody>
      </p:sp>
      <p:sp>
        <p:nvSpPr>
          <p:cNvPr id="18" name="TextBox 17"/>
          <p:cNvSpPr txBox="1"/>
          <p:nvPr/>
        </p:nvSpPr>
        <p:spPr>
          <a:xfrm>
            <a:off x="502920" y="5029200"/>
            <a:ext cx="8138160" cy="137160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 MIT-BIH Arrhythmia Database with AAMI classes N, S, V, F, Q and the inter-patient DS1/DS2 split (Objective 1).</a:t>
            </a:r>
          </a:p>
          <a:p>
            <a:pPr algn="l">
              <a:spcAft>
                <a:spcPts val="300"/>
              </a:spcAft>
            </a:pPr>
            <a:r>
              <a:rPr sz="1150" b="0" i="0">
                <a:solidFill>
                  <a:srgbClr val="202020"/>
                </a:solidFill>
                <a:latin typeface="Calibri"/>
              </a:rPr>
              <a:t>• External database for cross-database testing (INCART preferred: beat-level annotations like MIT-BIH); a stretch goal, otherwise future work.</a:t>
            </a:r>
          </a:p>
          <a:p>
            <a:pPr algn="l">
              <a:spcAft>
                <a:spcPts val="300"/>
              </a:spcAft>
            </a:pPr>
            <a:r>
              <a:rPr sz="1150" b="0" i="0">
                <a:solidFill>
                  <a:srgbClr val="202020"/>
                </a:solidFill>
                <a:latin typeface="Calibri"/>
              </a:rPr>
              <a:t>• MIT-BIH Noise Stress Test Database (baseline wander, muscle artefact, electrode motion) for robustness tests (Objective 3), as used in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Classification Model &amp; Training</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24128"/>
            <a:ext cx="8138160" cy="274320"/>
          </a:xfrm>
          <a:prstGeom prst="rect">
            <a:avLst/>
          </a:prstGeom>
          <a:noFill/>
        </p:spPr>
        <p:txBody>
          <a:bodyPr wrap="square" lIns="0" tIns="0" rIns="0" bIns="0">
            <a:spAutoFit/>
          </a:bodyPr>
          <a:lstStyle/>
          <a:p>
            <a:pPr algn="l"/>
            <a:r>
              <a:rPr sz="1200" b="0" i="1">
                <a:solidFill>
                  <a:srgbClr val="595959"/>
                </a:solidFill>
                <a:latin typeface="Calibri"/>
              </a:rPr>
              <a:t>A hybrid model: convolutional front end + recurrent or attention module for temporal context, a design family a recent review judged the most clinically translatable [2].</a:t>
            </a:r>
          </a:p>
        </p:txBody>
      </p:sp>
      <p:sp>
        <p:nvSpPr>
          <p:cNvPr id="16" name="Rectangle 15"/>
          <p:cNvSpPr/>
          <p:nvPr/>
        </p:nvSpPr>
        <p:spPr>
          <a:xfrm>
            <a:off x="502920" y="1600200"/>
            <a:ext cx="64008" cy="1783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1645920"/>
            <a:ext cx="3794759" cy="320040"/>
          </a:xfrm>
          <a:prstGeom prst="rect">
            <a:avLst/>
          </a:prstGeom>
          <a:noFill/>
        </p:spPr>
        <p:txBody>
          <a:bodyPr wrap="square" lIns="0" tIns="0" rIns="0" bIns="0">
            <a:spAutoFit/>
          </a:bodyPr>
          <a:lstStyle/>
          <a:p>
            <a:pPr algn="l"/>
            <a:r>
              <a:rPr sz="1300" b="1" i="0">
                <a:solidFill>
                  <a:srgbClr val="1F3864"/>
                </a:solidFill>
                <a:latin typeface="Calibri"/>
              </a:rPr>
              <a:t>Baseline: 1D CNN</a:t>
            </a:r>
          </a:p>
        </p:txBody>
      </p:sp>
      <p:sp>
        <p:nvSpPr>
          <p:cNvPr id="18" name="TextBox 17"/>
          <p:cNvSpPr txBox="1"/>
          <p:nvPr/>
        </p:nvSpPr>
        <p:spPr>
          <a:xfrm>
            <a:off x="667512" y="1984248"/>
            <a:ext cx="3794759" cy="137160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Three conv blocks (32, 64, 128 filters; kernels 7, 5, 3; each with batch normalisation, ReLU and max-pooling), global average pooling, Dense 64 and softmax (about 44,700 parameters). Already implemented and trained.</a:t>
            </a:r>
          </a:p>
        </p:txBody>
      </p:sp>
      <p:sp>
        <p:nvSpPr>
          <p:cNvPr id="19" name="Rectangle 18"/>
          <p:cNvSpPr/>
          <p:nvPr/>
        </p:nvSpPr>
        <p:spPr>
          <a:xfrm>
            <a:off x="4663440" y="1600200"/>
            <a:ext cx="64008" cy="17830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28031" y="1645920"/>
            <a:ext cx="3794759" cy="320040"/>
          </a:xfrm>
          <a:prstGeom prst="rect">
            <a:avLst/>
          </a:prstGeom>
          <a:noFill/>
        </p:spPr>
        <p:txBody>
          <a:bodyPr wrap="square" lIns="0" tIns="0" rIns="0" bIns="0">
            <a:spAutoFit/>
          </a:bodyPr>
          <a:lstStyle/>
          <a:p>
            <a:pPr algn="l"/>
            <a:r>
              <a:rPr sz="1300" b="1" i="0">
                <a:solidFill>
                  <a:srgbClr val="ED7D31"/>
                </a:solidFill>
                <a:latin typeface="Calibri"/>
              </a:rPr>
              <a:t>Proposed: CNN-LSTM + RR</a:t>
            </a:r>
          </a:p>
        </p:txBody>
      </p:sp>
      <p:sp>
        <p:nvSpPr>
          <p:cNvPr id="21" name="TextBox 20"/>
          <p:cNvSpPr txBox="1"/>
          <p:nvPr/>
        </p:nvSpPr>
        <p:spPr>
          <a:xfrm>
            <a:off x="4828031" y="1984248"/>
            <a:ext cx="3794759" cy="137160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Same conv front end → LSTM (64 units); its last hidden state is concatenated with the previous and next RR intervals (each divided by the record's mean RR) → Dense 64 → softmax over N, S, V, F. A residual CNN is kept as an extra comparison model.</a:t>
            </a:r>
          </a:p>
        </p:txBody>
      </p:sp>
      <p:sp>
        <p:nvSpPr>
          <p:cNvPr id="22" name="Rectangle 21"/>
          <p:cNvSpPr/>
          <p:nvPr/>
        </p:nvSpPr>
        <p:spPr>
          <a:xfrm>
            <a:off x="502920" y="3611880"/>
            <a:ext cx="64008" cy="178308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657600"/>
            <a:ext cx="3794759" cy="320040"/>
          </a:xfrm>
          <a:prstGeom prst="rect">
            <a:avLst/>
          </a:prstGeom>
          <a:noFill/>
        </p:spPr>
        <p:txBody>
          <a:bodyPr wrap="square" lIns="0" tIns="0" rIns="0" bIns="0">
            <a:spAutoFit/>
          </a:bodyPr>
          <a:lstStyle/>
          <a:p>
            <a:pPr algn="l"/>
            <a:r>
              <a:rPr sz="1300" b="1" i="0">
                <a:solidFill>
                  <a:srgbClr val="548235"/>
                </a:solidFill>
                <a:latin typeface="Calibri"/>
              </a:rPr>
              <a:t>Class imbalance</a:t>
            </a:r>
          </a:p>
        </p:txBody>
      </p:sp>
      <p:sp>
        <p:nvSpPr>
          <p:cNvPr id="24" name="TextBox 23"/>
          <p:cNvSpPr txBox="1"/>
          <p:nvPr/>
        </p:nvSpPr>
        <p:spPr>
          <a:xfrm>
            <a:off x="667512" y="3995928"/>
            <a:ext cx="3794759" cy="137160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Class-weighted cross-entropy on the training partition only. Balanced weights (F:N 113:1) caused many false Fusion predictions; square-root weights (10.6:1) gave the best results and are used.</a:t>
            </a:r>
          </a:p>
        </p:txBody>
      </p:sp>
      <p:sp>
        <p:nvSpPr>
          <p:cNvPr id="25" name="Rectangle 24"/>
          <p:cNvSpPr/>
          <p:nvPr/>
        </p:nvSpPr>
        <p:spPr>
          <a:xfrm>
            <a:off x="4663440" y="3611880"/>
            <a:ext cx="64008" cy="17830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031" y="3657600"/>
            <a:ext cx="3794759" cy="320040"/>
          </a:xfrm>
          <a:prstGeom prst="rect">
            <a:avLst/>
          </a:prstGeom>
          <a:noFill/>
        </p:spPr>
        <p:txBody>
          <a:bodyPr wrap="square" lIns="0" tIns="0" rIns="0" bIns="0">
            <a:spAutoFit/>
          </a:bodyPr>
          <a:lstStyle/>
          <a:p>
            <a:pPr algn="l"/>
            <a:r>
              <a:rPr sz="1300" b="1" i="0">
                <a:solidFill>
                  <a:srgbClr val="2E75B6"/>
                </a:solidFill>
                <a:latin typeface="Calibri"/>
              </a:rPr>
              <a:t>Training</a:t>
            </a:r>
          </a:p>
        </p:txBody>
      </p:sp>
      <p:sp>
        <p:nvSpPr>
          <p:cNvPr id="27" name="TextBox 26"/>
          <p:cNvSpPr txBox="1"/>
          <p:nvPr/>
        </p:nvSpPr>
        <p:spPr>
          <a:xfrm>
            <a:off x="4828031" y="3995928"/>
            <a:ext cx="3794759" cy="137160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Adam, batch size 128, at most 30 epochs; best epoch chosen on validation macro F1 rather than validation loss (this alone raised test macro F1 from 76.29% to 83.96%). Learning rate tuned on validation.</a:t>
            </a:r>
          </a:p>
        </p:txBody>
      </p:sp>
      <p:sp>
        <p:nvSpPr>
          <p:cNvPr id="28" name="TextBox 27"/>
          <p:cNvSpPr txBox="1"/>
          <p:nvPr/>
        </p:nvSpPr>
        <p:spPr>
          <a:xfrm>
            <a:off x="502920" y="5806440"/>
            <a:ext cx="8138160" cy="548640"/>
          </a:xfrm>
          <a:prstGeom prst="rect">
            <a:avLst/>
          </a:prstGeom>
          <a:noFill/>
        </p:spPr>
        <p:txBody>
          <a:bodyPr wrap="square" lIns="0" tIns="0" rIns="0" bIns="0">
            <a:spAutoFit/>
          </a:bodyPr>
          <a:lstStyle/>
          <a:p>
            <a:pPr algn="l">
              <a:spcAft>
                <a:spcPts val="300"/>
              </a:spcAft>
            </a:pPr>
            <a:r>
              <a:rPr sz="1100" b="1" i="0">
                <a:solidFill>
                  <a:srgbClr val="202020"/>
                </a:solidFill>
                <a:latin typeface="Calibri"/>
              </a:rPr>
              <a:t>Tools: </a:t>
            </a:r>
            <a:r>
              <a:rPr sz="1100" b="0" i="0">
                <a:solidFill>
                  <a:srgbClr val="202020"/>
                </a:solidFill>
                <a:latin typeface="Calibri"/>
              </a:rPr>
              <a:t>Python 3, TensorFlow 2.20 / Keras, NumPy, pandas, scikit-learn, Matplotlib, seaborn, wfdb, SHAP, Streamlit; Kaggle notebooks with an NVIDIA Tesla T4 GPU.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Explainability, Robustness &amp; Metrics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51560"/>
            <a:ext cx="8138160" cy="640080"/>
          </a:xfrm>
          <a:prstGeom prst="rect">
            <a:avLst/>
          </a:prstGeom>
          <a:noFill/>
        </p:spPr>
        <p:txBody>
          <a:bodyPr wrap="square" lIns="0" tIns="0" rIns="0" bIns="0">
            <a:spAutoFit/>
          </a:bodyPr>
          <a:lstStyle/>
          <a:p>
            <a:pPr algn="l">
              <a:spcAft>
                <a:spcPts val="300"/>
              </a:spcAft>
            </a:pPr>
            <a:r>
              <a:rPr sz="1250" b="1" i="0">
                <a:solidFill>
                  <a:srgbClr val="202020"/>
                </a:solidFill>
                <a:latin typeface="Calibri"/>
              </a:rPr>
              <a:t>Explainability: </a:t>
            </a:r>
            <a:r>
              <a:rPr sz="1250" b="0" i="0">
                <a:solidFill>
                  <a:srgbClr val="202020"/>
                </a:solidFill>
                <a:latin typeface="Calibri"/>
              </a:rPr>
              <a:t>Grad-CAM [37] (already implemented) and Gradient SHAP [38], evaluated for within-class consistency and agreement with the P wave, QRS complex and RR interval. Three measures:</a:t>
            </a:r>
          </a:p>
        </p:txBody>
      </p:sp>
      <p:sp>
        <p:nvSpPr>
          <p:cNvPr id="16" name="Rectangle 15"/>
          <p:cNvSpPr/>
          <p:nvPr/>
        </p:nvSpPr>
        <p:spPr>
          <a:xfrm>
            <a:off x="502920" y="1874519"/>
            <a:ext cx="64008" cy="1783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1920239"/>
            <a:ext cx="2423160" cy="320040"/>
          </a:xfrm>
          <a:prstGeom prst="rect">
            <a:avLst/>
          </a:prstGeom>
          <a:noFill/>
        </p:spPr>
        <p:txBody>
          <a:bodyPr wrap="square" lIns="0" tIns="0" rIns="0" bIns="0">
            <a:spAutoFit/>
          </a:bodyPr>
          <a:lstStyle/>
          <a:p>
            <a:pPr algn="l"/>
            <a:r>
              <a:rPr sz="1300" b="1" i="0">
                <a:solidFill>
                  <a:srgbClr val="1F3864"/>
                </a:solidFill>
                <a:latin typeface="Calibri"/>
              </a:rPr>
              <a:t>Region share</a:t>
            </a:r>
          </a:p>
        </p:txBody>
      </p:sp>
      <p:sp>
        <p:nvSpPr>
          <p:cNvPr id="18" name="TextBox 17"/>
          <p:cNvSpPr txBox="1"/>
          <p:nvPr/>
        </p:nvSpPr>
        <p:spPr>
          <a:xfrm>
            <a:off x="667512" y="2258568"/>
            <a:ext cx="2423160" cy="137160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Share of total absolute attribution in fixed windows around the R peak: P [−250, −80] ms, QRS [−50, +50] ms, T [+100, +400] ms; averaged per class.</a:t>
            </a:r>
          </a:p>
        </p:txBody>
      </p:sp>
      <p:sp>
        <p:nvSpPr>
          <p:cNvPr id="19" name="Rectangle 18"/>
          <p:cNvSpPr/>
          <p:nvPr/>
        </p:nvSpPr>
        <p:spPr>
          <a:xfrm>
            <a:off x="3291839" y="1874519"/>
            <a:ext cx="64008" cy="17830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56432" y="1920239"/>
            <a:ext cx="2423160" cy="320040"/>
          </a:xfrm>
          <a:prstGeom prst="rect">
            <a:avLst/>
          </a:prstGeom>
          <a:noFill/>
        </p:spPr>
        <p:txBody>
          <a:bodyPr wrap="square" lIns="0" tIns="0" rIns="0" bIns="0">
            <a:spAutoFit/>
          </a:bodyPr>
          <a:lstStyle/>
          <a:p>
            <a:pPr algn="l"/>
            <a:r>
              <a:rPr sz="1300" b="1" i="0">
                <a:solidFill>
                  <a:srgbClr val="ED7D31"/>
                </a:solidFill>
                <a:latin typeface="Calibri"/>
              </a:rPr>
              <a:t>Deletion test</a:t>
            </a:r>
          </a:p>
        </p:txBody>
      </p:sp>
      <p:sp>
        <p:nvSpPr>
          <p:cNvPr id="21" name="TextBox 20"/>
          <p:cNvSpPr txBox="1"/>
          <p:nvPr/>
        </p:nvSpPr>
        <p:spPr>
          <a:xfrm>
            <a:off x="3456432" y="2258568"/>
            <a:ext cx="2423160" cy="137160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Zero the 10% highest-attribution samples; compare the drop in predicted-class probability with removing 10% at random. A faithful map gives a much larger drop.</a:t>
            </a:r>
          </a:p>
        </p:txBody>
      </p:sp>
      <p:sp>
        <p:nvSpPr>
          <p:cNvPr id="22" name="Rectangle 21"/>
          <p:cNvSpPr/>
          <p:nvPr/>
        </p:nvSpPr>
        <p:spPr>
          <a:xfrm>
            <a:off x="6080759" y="1874519"/>
            <a:ext cx="64008" cy="178308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5351" y="1920239"/>
            <a:ext cx="2423160" cy="320040"/>
          </a:xfrm>
          <a:prstGeom prst="rect">
            <a:avLst/>
          </a:prstGeom>
          <a:noFill/>
        </p:spPr>
        <p:txBody>
          <a:bodyPr wrap="square" lIns="0" tIns="0" rIns="0" bIns="0">
            <a:spAutoFit/>
          </a:bodyPr>
          <a:lstStyle/>
          <a:p>
            <a:pPr algn="l"/>
            <a:r>
              <a:rPr sz="1300" b="1" i="0">
                <a:solidFill>
                  <a:srgbClr val="548235"/>
                </a:solidFill>
                <a:latin typeface="Calibri"/>
              </a:rPr>
              <a:t>Stability</a:t>
            </a:r>
          </a:p>
        </p:txBody>
      </p:sp>
      <p:sp>
        <p:nvSpPr>
          <p:cNvPr id="24" name="TextBox 23"/>
          <p:cNvSpPr txBox="1"/>
          <p:nvPr/>
        </p:nvSpPr>
        <p:spPr>
          <a:xfrm>
            <a:off x="6245351" y="2258568"/>
            <a:ext cx="2423160" cy="137160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Pearson correlation between the attribution map of a clean beat and of the same beat with noise added (used in the robustness study).</a:t>
            </a:r>
          </a:p>
        </p:txBody>
      </p:sp>
      <p:sp>
        <p:nvSpPr>
          <p:cNvPr id="25" name="TextBox 24"/>
          <p:cNvSpPr txBox="1"/>
          <p:nvPr/>
        </p:nvSpPr>
        <p:spPr>
          <a:xfrm>
            <a:off x="502920" y="4069080"/>
            <a:ext cx="3977639" cy="320040"/>
          </a:xfrm>
          <a:prstGeom prst="rect">
            <a:avLst/>
          </a:prstGeom>
          <a:noFill/>
        </p:spPr>
        <p:txBody>
          <a:bodyPr wrap="square" lIns="0" tIns="0" rIns="0" bIns="0">
            <a:spAutoFit/>
          </a:bodyPr>
          <a:lstStyle/>
          <a:p>
            <a:pPr algn="l"/>
            <a:r>
              <a:rPr sz="1400" b="1" i="0">
                <a:solidFill>
                  <a:srgbClr val="202020"/>
                </a:solidFill>
                <a:latin typeface="Calibri"/>
              </a:rPr>
              <a:t>Robustness and uncertainty</a:t>
            </a:r>
          </a:p>
        </p:txBody>
      </p:sp>
      <p:sp>
        <p:nvSpPr>
          <p:cNvPr id="26" name="TextBox 25"/>
          <p:cNvSpPr txBox="1"/>
          <p:nvPr/>
        </p:nvSpPr>
        <p:spPr>
          <a:xfrm>
            <a:off x="502920" y="4434840"/>
            <a:ext cx="3977639" cy="182880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 NSTDB muscle-artefact ('ma') record scaled and added to test beats at SNR = 18, 6 and 0 dB, SNR = 10·log10(P_signal / P_noise).</a:t>
            </a:r>
          </a:p>
          <a:p>
            <a:pPr algn="l">
              <a:spcAft>
                <a:spcPts val="300"/>
              </a:spcAft>
            </a:pPr>
            <a:r>
              <a:rPr sz="1150" b="0" i="0">
                <a:solidFill>
                  <a:srgbClr val="202020"/>
                </a:solidFill>
                <a:latin typeface="Calibri"/>
              </a:rPr>
              <a:t>• Macro F1 plotted against SNR for both models.</a:t>
            </a:r>
          </a:p>
          <a:p>
            <a:pPr algn="l">
              <a:spcAft>
                <a:spcPts val="300"/>
              </a:spcAft>
            </a:pPr>
            <a:r>
              <a:rPr sz="1150" b="0" i="0">
                <a:solidFill>
                  <a:srgbClr val="202020"/>
                </a:solidFill>
                <a:latin typeface="Calibri"/>
              </a:rPr>
              <a:t>• Monte Carlo dropout [33] to flag unreliable predictions if time permits; otherwise future work.</a:t>
            </a:r>
          </a:p>
        </p:txBody>
      </p:sp>
      <p:sp>
        <p:nvSpPr>
          <p:cNvPr id="27" name="TextBox 26"/>
          <p:cNvSpPr txBox="1"/>
          <p:nvPr/>
        </p:nvSpPr>
        <p:spPr>
          <a:xfrm>
            <a:off x="4663440" y="4069080"/>
            <a:ext cx="3977639" cy="320040"/>
          </a:xfrm>
          <a:prstGeom prst="rect">
            <a:avLst/>
          </a:prstGeom>
          <a:noFill/>
        </p:spPr>
        <p:txBody>
          <a:bodyPr wrap="square" lIns="0" tIns="0" rIns="0" bIns="0">
            <a:spAutoFit/>
          </a:bodyPr>
          <a:lstStyle/>
          <a:p>
            <a:pPr algn="l"/>
            <a:r>
              <a:rPr sz="1400" b="1" i="0">
                <a:solidFill>
                  <a:srgbClr val="202020"/>
                </a:solidFill>
                <a:latin typeface="Calibri"/>
              </a:rPr>
              <a:t>Evaluation metrics</a:t>
            </a:r>
          </a:p>
        </p:txBody>
      </p:sp>
      <p:sp>
        <p:nvSpPr>
          <p:cNvPr id="28" name="TextBox 27"/>
          <p:cNvSpPr txBox="1"/>
          <p:nvPr/>
        </p:nvSpPr>
        <p:spPr>
          <a:xfrm>
            <a:off x="4663440" y="4434840"/>
            <a:ext cx="3977639" cy="182880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 Accuracy, per-class precision, recall and F1, and macro F1.</a:t>
            </a:r>
          </a:p>
          <a:p>
            <a:pPr algn="l">
              <a:spcAft>
                <a:spcPts val="300"/>
              </a:spcAft>
            </a:pPr>
            <a:r>
              <a:rPr sz="1150" b="0" i="0">
                <a:solidFill>
                  <a:srgbClr val="202020"/>
                </a:solidFill>
                <a:latin typeface="Calibri"/>
              </a:rPr>
              <a:t>• Overall accuracy alone can hide poor minority-class performance [1], so macro F1 is the main metric.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Work Done Till Mid-Semester</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51560"/>
            <a:ext cx="3931920" cy="320040"/>
          </a:xfrm>
          <a:prstGeom prst="rect">
            <a:avLst/>
          </a:prstGeom>
          <a:noFill/>
        </p:spPr>
        <p:txBody>
          <a:bodyPr wrap="square" lIns="0" tIns="0" rIns="0" bIns="0">
            <a:spAutoFit/>
          </a:bodyPr>
          <a:lstStyle/>
          <a:p>
            <a:pPr algn="l"/>
            <a:r>
              <a:rPr sz="1500" b="1" i="0">
                <a:solidFill>
                  <a:srgbClr val="202020"/>
                </a:solidFill>
                <a:latin typeface="Calibri"/>
              </a:rPr>
              <a:t>Completed Tasks</a:t>
            </a:r>
          </a:p>
        </p:txBody>
      </p:sp>
      <p:sp>
        <p:nvSpPr>
          <p:cNvPr id="16" name="TextBox 15"/>
          <p:cNvSpPr txBox="1"/>
          <p:nvPr/>
        </p:nvSpPr>
        <p:spPr>
          <a:xfrm>
            <a:off x="502920" y="1417320"/>
            <a:ext cx="3931920" cy="228600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 Literature survey and identification of the research gaps.</a:t>
            </a:r>
          </a:p>
          <a:p>
            <a:pPr algn="l">
              <a:spcAft>
                <a:spcPts val="300"/>
              </a:spcAft>
            </a:pPr>
            <a:r>
              <a:rPr sz="1150" b="0" i="0">
                <a:solidFill>
                  <a:srgbClr val="202020"/>
                </a:solidFill>
                <a:latin typeface="Calibri"/>
              </a:rPr>
              <a:t>• Framework design: AAMI class mapping, intra- and inter-patient (DS1/DS2) protocols, explanation metrics and noise test settings.</a:t>
            </a:r>
          </a:p>
          <a:p>
            <a:pPr algn="l">
              <a:spcAft>
                <a:spcPts val="300"/>
              </a:spcAft>
            </a:pPr>
            <a:r>
              <a:rPr sz="1150" b="0" i="0">
                <a:solidFill>
                  <a:srgbClr val="202020"/>
                </a:solidFill>
                <a:latin typeface="Calibri"/>
              </a:rPr>
              <a:t>• V1: baseline 1D CNN with class-weighted loss, full test-set evaluation and Grad-CAM for each class.</a:t>
            </a:r>
          </a:p>
          <a:p>
            <a:pPr algn="l">
              <a:spcAft>
                <a:spcPts val="300"/>
              </a:spcAft>
            </a:pPr>
            <a:r>
              <a:rPr sz="1150" b="0" i="0">
                <a:solidFill>
                  <a:srgbClr val="202020"/>
                </a:solidFill>
                <a:latin typeface="Calibri"/>
              </a:rPr>
              <a:t>• V2: five controlled experiments (E1–E5) + threshold tuning: test macro F1 </a:t>
            </a:r>
            <a:r>
              <a:rPr sz="1150" b="1" i="0">
                <a:solidFill>
                  <a:srgbClr val="202020"/>
                </a:solidFill>
                <a:latin typeface="Calibri"/>
              </a:rPr>
              <a:t>76.29% → 91.10%</a:t>
            </a:r>
            <a:r>
              <a:rPr sz="1150" b="0" i="0">
                <a:solidFill>
                  <a:srgbClr val="202020"/>
                </a:solidFill>
                <a:latin typeface="Calibri"/>
              </a:rPr>
              <a:t>, then Grad-CAM on the final model.</a:t>
            </a:r>
          </a:p>
        </p:txBody>
      </p:sp>
      <p:sp>
        <p:nvSpPr>
          <p:cNvPr id="17" name="TextBox 16"/>
          <p:cNvSpPr txBox="1"/>
          <p:nvPr/>
        </p:nvSpPr>
        <p:spPr>
          <a:xfrm>
            <a:off x="4663440" y="1051560"/>
            <a:ext cx="3977639" cy="320040"/>
          </a:xfrm>
          <a:prstGeom prst="rect">
            <a:avLst/>
          </a:prstGeom>
          <a:noFill/>
        </p:spPr>
        <p:txBody>
          <a:bodyPr wrap="square" lIns="0" tIns="0" rIns="0" bIns="0">
            <a:spAutoFit/>
          </a:bodyPr>
          <a:lstStyle/>
          <a:p>
            <a:pPr algn="l"/>
            <a:r>
              <a:rPr sz="1500" b="1" i="0">
                <a:solidFill>
                  <a:srgbClr val="202020"/>
                </a:solidFill>
                <a:latin typeface="Calibri"/>
              </a:rPr>
              <a:t>Dataset used in the preliminary experiments</a:t>
            </a:r>
          </a:p>
        </p:txBody>
      </p:sp>
      <p:sp>
        <p:nvSpPr>
          <p:cNvPr id="18" name="TextBox 17"/>
          <p:cNvSpPr txBox="1"/>
          <p:nvPr/>
        </p:nvSpPr>
        <p:spPr>
          <a:xfrm>
            <a:off x="4663440" y="1417320"/>
            <a:ext cx="3977639" cy="228600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Pre-segmented MIT-BIH heartbeat dataset of Kachuee et al. [35]: 187-sample beats (1.5 s at 125 Hz), scaled to [0, 1], zero-padded, five AAMI classes (N, S, V, F, Q).</a:t>
            </a:r>
          </a:p>
          <a:p>
            <a:pPr algn="l">
              <a:spcAft>
                <a:spcPts val="300"/>
              </a:spcAft>
            </a:pPr>
            <a:r>
              <a:rPr sz="1150" b="0" i="0">
                <a:solidFill>
                  <a:srgbClr val="202020"/>
                </a:solidFill>
                <a:latin typeface="Calibri"/>
              </a:rPr>
              <a:t>Used to develop and debug the pipeline before building our own pre-processing.</a:t>
            </a:r>
          </a:p>
        </p:txBody>
      </p:sp>
      <p:graphicFrame>
        <p:nvGraphicFramePr>
          <p:cNvPr id="19" name="Table 18"/>
          <p:cNvGraphicFramePr>
            <a:graphicFrameLocks noGrp="1"/>
          </p:cNvGraphicFramePr>
          <p:nvPr/>
        </p:nvGraphicFramePr>
        <p:xfrm>
          <a:off x="502920" y="3794760"/>
          <a:ext cx="8138160" cy="1728216"/>
        </p:xfrm>
        <a:graphic>
          <a:graphicData uri="http://schemas.openxmlformats.org/drawingml/2006/table">
            <a:tbl>
              <a:tblPr firstRow="1" bandRow="1">
                <a:tableStyleId>{5C22544A-7EE6-4342-B048-85BDC9FD1C3A}</a:tableStyleId>
              </a:tblPr>
              <a:tblGrid>
                <a:gridCol w="3017520"/>
                <a:gridCol w="1463040"/>
                <a:gridCol w="914400"/>
                <a:gridCol w="1463040"/>
                <a:gridCol w="1280160"/>
              </a:tblGrid>
              <a:tr h="246888">
                <a:tc>
                  <a:txBody>
                    <a:bodyPr/>
                    <a:lstStyle/>
                    <a:p>
                      <a:pPr algn="l"/>
                      <a:r>
                        <a:rPr sz="1100" b="1">
                          <a:solidFill>
                            <a:srgbClr val="FFFFFF"/>
                          </a:solidFill>
                          <a:latin typeface="Calibri"/>
                        </a:rPr>
                        <a:t>Class</a:t>
                      </a:r>
                    </a:p>
                  </a:txBody>
                  <a:tcPr marT="27432" marB="27432" marL="54864" marR="54864">
                    <a:solidFill>
                      <a:srgbClr val="1F3864"/>
                    </a:solidFill>
                  </a:tcPr>
                </a:tc>
                <a:tc>
                  <a:txBody>
                    <a:bodyPr/>
                    <a:lstStyle/>
                    <a:p>
                      <a:pPr algn="ctr"/>
                      <a:r>
                        <a:rPr sz="1100" b="1">
                          <a:solidFill>
                            <a:srgbClr val="FFFFFF"/>
                          </a:solidFill>
                          <a:latin typeface="Calibri"/>
                        </a:rPr>
                        <a:t>Training file</a:t>
                      </a:r>
                    </a:p>
                  </a:txBody>
                  <a:tcPr marT="27432" marB="27432" marL="54864" marR="54864">
                    <a:solidFill>
                      <a:srgbClr val="1F3864"/>
                    </a:solidFill>
                  </a:tcPr>
                </a:tc>
                <a:tc>
                  <a:txBody>
                    <a:bodyPr/>
                    <a:lstStyle/>
                    <a:p>
                      <a:pPr algn="ctr"/>
                      <a:r>
                        <a:rPr sz="1100" b="1">
                          <a:solidFill>
                            <a:srgbClr val="FFFFFF"/>
                          </a:solidFill>
                          <a:latin typeface="Calibri"/>
                        </a:rPr>
                        <a:t>%</a:t>
                      </a:r>
                    </a:p>
                  </a:txBody>
                  <a:tcPr marT="27432" marB="27432" marL="54864" marR="54864">
                    <a:solidFill>
                      <a:srgbClr val="1F3864"/>
                    </a:solidFill>
                  </a:tcPr>
                </a:tc>
                <a:tc>
                  <a:txBody>
                    <a:bodyPr/>
                    <a:lstStyle/>
                    <a:p>
                      <a:pPr algn="ctr"/>
                      <a:r>
                        <a:rPr sz="1100" b="1">
                          <a:solidFill>
                            <a:srgbClr val="FFFFFF"/>
                          </a:solidFill>
                          <a:latin typeface="Calibri"/>
                        </a:rPr>
                        <a:t>Test file</a:t>
                      </a:r>
                    </a:p>
                  </a:txBody>
                  <a:tcPr marT="27432" marB="27432" marL="54864" marR="54864">
                    <a:solidFill>
                      <a:srgbClr val="1F3864"/>
                    </a:solidFill>
                  </a:tcPr>
                </a:tc>
                <a:tc>
                  <a:txBody>
                    <a:bodyPr/>
                    <a:lstStyle/>
                    <a:p>
                      <a:pPr algn="ctr"/>
                      <a:r>
                        <a:rPr sz="1100" b="1">
                          <a:solidFill>
                            <a:srgbClr val="FFFFFF"/>
                          </a:solidFill>
                          <a:latin typeface="Calibri"/>
                        </a:rPr>
                        <a:t>%</a:t>
                      </a:r>
                    </a:p>
                  </a:txBody>
                  <a:tcPr marT="27432" marB="27432" marL="54864" marR="54864">
                    <a:solidFill>
                      <a:srgbClr val="1F3864"/>
                    </a:solidFill>
                  </a:tcPr>
                </a:tc>
              </a:tr>
              <a:tr h="246888">
                <a:tc>
                  <a:txBody>
                    <a:bodyPr/>
                    <a:lstStyle/>
                    <a:p>
                      <a:pPr algn="l"/>
                      <a:r>
                        <a:rPr sz="1100" b="1">
                          <a:solidFill>
                            <a:srgbClr val="202020"/>
                          </a:solidFill>
                          <a:latin typeface="Calibri"/>
                        </a:rPr>
                        <a:t>N – Normal</a:t>
                      </a:r>
                    </a:p>
                  </a:txBody>
                  <a:tcPr marT="27432" marB="27432" marL="54864" marR="54864">
                    <a:solidFill>
                      <a:srgbClr val="F2F2F2"/>
                    </a:solidFill>
                  </a:tcPr>
                </a:tc>
                <a:tc>
                  <a:txBody>
                    <a:bodyPr/>
                    <a:lstStyle/>
                    <a:p>
                      <a:pPr algn="ctr"/>
                      <a:r>
                        <a:rPr sz="1100" b="0">
                          <a:solidFill>
                            <a:srgbClr val="202020"/>
                          </a:solidFill>
                          <a:latin typeface="Calibri"/>
                        </a:rPr>
                        <a:t>72,471</a:t>
                      </a:r>
                    </a:p>
                  </a:txBody>
                  <a:tcPr marT="27432" marB="27432" marL="54864" marR="54864">
                    <a:solidFill>
                      <a:srgbClr val="F2F2F2"/>
                    </a:solidFill>
                  </a:tcPr>
                </a:tc>
                <a:tc>
                  <a:txBody>
                    <a:bodyPr/>
                    <a:lstStyle/>
                    <a:p>
                      <a:pPr algn="ctr"/>
                      <a:r>
                        <a:rPr sz="1100" b="0">
                          <a:solidFill>
                            <a:srgbClr val="202020"/>
                          </a:solidFill>
                          <a:latin typeface="Calibri"/>
                        </a:rPr>
                        <a:t>82.77</a:t>
                      </a:r>
                    </a:p>
                  </a:txBody>
                  <a:tcPr marT="27432" marB="27432" marL="54864" marR="54864">
                    <a:solidFill>
                      <a:srgbClr val="F2F2F2"/>
                    </a:solidFill>
                  </a:tcPr>
                </a:tc>
                <a:tc>
                  <a:txBody>
                    <a:bodyPr/>
                    <a:lstStyle/>
                    <a:p>
                      <a:pPr algn="ctr"/>
                      <a:r>
                        <a:rPr sz="1100" b="0">
                          <a:solidFill>
                            <a:srgbClr val="202020"/>
                          </a:solidFill>
                          <a:latin typeface="Calibri"/>
                        </a:rPr>
                        <a:t>18,118</a:t>
                      </a:r>
                    </a:p>
                  </a:txBody>
                  <a:tcPr marT="27432" marB="27432" marL="54864" marR="54864">
                    <a:solidFill>
                      <a:srgbClr val="F2F2F2"/>
                    </a:solidFill>
                  </a:tcPr>
                </a:tc>
                <a:tc>
                  <a:txBody>
                    <a:bodyPr/>
                    <a:lstStyle/>
                    <a:p>
                      <a:pPr algn="ctr"/>
                      <a:r>
                        <a:rPr sz="1100" b="0">
                          <a:solidFill>
                            <a:srgbClr val="202020"/>
                          </a:solidFill>
                          <a:latin typeface="Calibri"/>
                        </a:rPr>
                        <a:t>82.76</a:t>
                      </a:r>
                    </a:p>
                  </a:txBody>
                  <a:tcPr marT="27432" marB="27432" marL="54864" marR="54864">
                    <a:solidFill>
                      <a:srgbClr val="F2F2F2"/>
                    </a:solidFill>
                  </a:tcPr>
                </a:tc>
              </a:tr>
              <a:tr h="246888">
                <a:tc>
                  <a:txBody>
                    <a:bodyPr/>
                    <a:lstStyle/>
                    <a:p>
                      <a:pPr algn="l"/>
                      <a:r>
                        <a:rPr sz="1100" b="1">
                          <a:solidFill>
                            <a:srgbClr val="202020"/>
                          </a:solidFill>
                          <a:latin typeface="Calibri"/>
                        </a:rPr>
                        <a:t>S – Supraventricular ectopic</a:t>
                      </a:r>
                    </a:p>
                  </a:txBody>
                  <a:tcPr marT="27432" marB="27432" marL="54864" marR="54864">
                    <a:solidFill>
                      <a:srgbClr val="FFFFFF"/>
                    </a:solidFill>
                  </a:tcPr>
                </a:tc>
                <a:tc>
                  <a:txBody>
                    <a:bodyPr/>
                    <a:lstStyle/>
                    <a:p>
                      <a:pPr algn="ctr"/>
                      <a:r>
                        <a:rPr sz="1100" b="0">
                          <a:solidFill>
                            <a:srgbClr val="202020"/>
                          </a:solidFill>
                          <a:latin typeface="Calibri"/>
                        </a:rPr>
                        <a:t>2,223</a:t>
                      </a:r>
                    </a:p>
                  </a:txBody>
                  <a:tcPr marT="27432" marB="27432" marL="54864" marR="54864">
                    <a:solidFill>
                      <a:srgbClr val="FFFFFF"/>
                    </a:solidFill>
                  </a:tcPr>
                </a:tc>
                <a:tc>
                  <a:txBody>
                    <a:bodyPr/>
                    <a:lstStyle/>
                    <a:p>
                      <a:pPr algn="ctr"/>
                      <a:r>
                        <a:rPr sz="1100" b="0">
                          <a:solidFill>
                            <a:srgbClr val="202020"/>
                          </a:solidFill>
                          <a:latin typeface="Calibri"/>
                        </a:rPr>
                        <a:t>2.54</a:t>
                      </a:r>
                    </a:p>
                  </a:txBody>
                  <a:tcPr marT="27432" marB="27432" marL="54864" marR="54864">
                    <a:solidFill>
                      <a:srgbClr val="FFFFFF"/>
                    </a:solidFill>
                  </a:tcPr>
                </a:tc>
                <a:tc>
                  <a:txBody>
                    <a:bodyPr/>
                    <a:lstStyle/>
                    <a:p>
                      <a:pPr algn="ctr"/>
                      <a:r>
                        <a:rPr sz="1100" b="0">
                          <a:solidFill>
                            <a:srgbClr val="202020"/>
                          </a:solidFill>
                          <a:latin typeface="Calibri"/>
                        </a:rPr>
                        <a:t>556</a:t>
                      </a:r>
                    </a:p>
                  </a:txBody>
                  <a:tcPr marT="27432" marB="27432" marL="54864" marR="54864">
                    <a:solidFill>
                      <a:srgbClr val="FFFFFF"/>
                    </a:solidFill>
                  </a:tcPr>
                </a:tc>
                <a:tc>
                  <a:txBody>
                    <a:bodyPr/>
                    <a:lstStyle/>
                    <a:p>
                      <a:pPr algn="ctr"/>
                      <a:r>
                        <a:rPr sz="1100" b="0">
                          <a:solidFill>
                            <a:srgbClr val="202020"/>
                          </a:solidFill>
                          <a:latin typeface="Calibri"/>
                        </a:rPr>
                        <a:t>2.54</a:t>
                      </a:r>
                    </a:p>
                  </a:txBody>
                  <a:tcPr marT="27432" marB="27432" marL="54864" marR="54864">
                    <a:solidFill>
                      <a:srgbClr val="FFFFFF"/>
                    </a:solidFill>
                  </a:tcPr>
                </a:tc>
              </a:tr>
              <a:tr h="246888">
                <a:tc>
                  <a:txBody>
                    <a:bodyPr/>
                    <a:lstStyle/>
                    <a:p>
                      <a:pPr algn="l"/>
                      <a:r>
                        <a:rPr sz="1100" b="1">
                          <a:solidFill>
                            <a:srgbClr val="202020"/>
                          </a:solidFill>
                          <a:latin typeface="Calibri"/>
                        </a:rPr>
                        <a:t>V – Ventricular ectopic</a:t>
                      </a:r>
                    </a:p>
                  </a:txBody>
                  <a:tcPr marT="27432" marB="27432" marL="54864" marR="54864">
                    <a:solidFill>
                      <a:srgbClr val="F2F2F2"/>
                    </a:solidFill>
                  </a:tcPr>
                </a:tc>
                <a:tc>
                  <a:txBody>
                    <a:bodyPr/>
                    <a:lstStyle/>
                    <a:p>
                      <a:pPr algn="ctr"/>
                      <a:r>
                        <a:rPr sz="1100" b="0">
                          <a:solidFill>
                            <a:srgbClr val="202020"/>
                          </a:solidFill>
                          <a:latin typeface="Calibri"/>
                        </a:rPr>
                        <a:t>5,788</a:t>
                      </a:r>
                    </a:p>
                  </a:txBody>
                  <a:tcPr marT="27432" marB="27432" marL="54864" marR="54864">
                    <a:solidFill>
                      <a:srgbClr val="F2F2F2"/>
                    </a:solidFill>
                  </a:tcPr>
                </a:tc>
                <a:tc>
                  <a:txBody>
                    <a:bodyPr/>
                    <a:lstStyle/>
                    <a:p>
                      <a:pPr algn="ctr"/>
                      <a:r>
                        <a:rPr sz="1100" b="0">
                          <a:solidFill>
                            <a:srgbClr val="202020"/>
                          </a:solidFill>
                          <a:latin typeface="Calibri"/>
                        </a:rPr>
                        <a:t>6.61</a:t>
                      </a:r>
                    </a:p>
                  </a:txBody>
                  <a:tcPr marT="27432" marB="27432" marL="54864" marR="54864">
                    <a:solidFill>
                      <a:srgbClr val="F2F2F2"/>
                    </a:solidFill>
                  </a:tcPr>
                </a:tc>
                <a:tc>
                  <a:txBody>
                    <a:bodyPr/>
                    <a:lstStyle/>
                    <a:p>
                      <a:pPr algn="ctr"/>
                      <a:r>
                        <a:rPr sz="1100" b="0">
                          <a:solidFill>
                            <a:srgbClr val="202020"/>
                          </a:solidFill>
                          <a:latin typeface="Calibri"/>
                        </a:rPr>
                        <a:t>1,448</a:t>
                      </a:r>
                    </a:p>
                  </a:txBody>
                  <a:tcPr marT="27432" marB="27432" marL="54864" marR="54864">
                    <a:solidFill>
                      <a:srgbClr val="F2F2F2"/>
                    </a:solidFill>
                  </a:tcPr>
                </a:tc>
                <a:tc>
                  <a:txBody>
                    <a:bodyPr/>
                    <a:lstStyle/>
                    <a:p>
                      <a:pPr algn="ctr"/>
                      <a:r>
                        <a:rPr sz="1100" b="0">
                          <a:solidFill>
                            <a:srgbClr val="202020"/>
                          </a:solidFill>
                          <a:latin typeface="Calibri"/>
                        </a:rPr>
                        <a:t>6.61</a:t>
                      </a:r>
                    </a:p>
                  </a:txBody>
                  <a:tcPr marT="27432" marB="27432" marL="54864" marR="54864">
                    <a:solidFill>
                      <a:srgbClr val="F2F2F2"/>
                    </a:solidFill>
                  </a:tcPr>
                </a:tc>
              </a:tr>
              <a:tr h="246888">
                <a:tc>
                  <a:txBody>
                    <a:bodyPr/>
                    <a:lstStyle/>
                    <a:p>
                      <a:pPr algn="l"/>
                      <a:r>
                        <a:rPr sz="1100" b="1">
                          <a:solidFill>
                            <a:srgbClr val="202020"/>
                          </a:solidFill>
                          <a:latin typeface="Calibri"/>
                        </a:rPr>
                        <a:t>F – Fusion</a:t>
                      </a:r>
                    </a:p>
                  </a:txBody>
                  <a:tcPr marT="27432" marB="27432" marL="54864" marR="54864">
                    <a:solidFill>
                      <a:srgbClr val="FFFFFF"/>
                    </a:solidFill>
                  </a:tcPr>
                </a:tc>
                <a:tc>
                  <a:txBody>
                    <a:bodyPr/>
                    <a:lstStyle/>
                    <a:p>
                      <a:pPr algn="ctr"/>
                      <a:r>
                        <a:rPr sz="1100" b="0">
                          <a:solidFill>
                            <a:srgbClr val="202020"/>
                          </a:solidFill>
                          <a:latin typeface="Calibri"/>
                        </a:rPr>
                        <a:t>641</a:t>
                      </a:r>
                    </a:p>
                  </a:txBody>
                  <a:tcPr marT="27432" marB="27432" marL="54864" marR="54864">
                    <a:solidFill>
                      <a:srgbClr val="FFFFFF"/>
                    </a:solidFill>
                  </a:tcPr>
                </a:tc>
                <a:tc>
                  <a:txBody>
                    <a:bodyPr/>
                    <a:lstStyle/>
                    <a:p>
                      <a:pPr algn="ctr"/>
                      <a:r>
                        <a:rPr sz="1100" b="0">
                          <a:solidFill>
                            <a:srgbClr val="202020"/>
                          </a:solidFill>
                          <a:latin typeface="Calibri"/>
                        </a:rPr>
                        <a:t>0.73</a:t>
                      </a:r>
                    </a:p>
                  </a:txBody>
                  <a:tcPr marT="27432" marB="27432" marL="54864" marR="54864">
                    <a:solidFill>
                      <a:srgbClr val="FFFFFF"/>
                    </a:solidFill>
                  </a:tcPr>
                </a:tc>
                <a:tc>
                  <a:txBody>
                    <a:bodyPr/>
                    <a:lstStyle/>
                    <a:p>
                      <a:pPr algn="ctr"/>
                      <a:r>
                        <a:rPr sz="1100" b="0">
                          <a:solidFill>
                            <a:srgbClr val="202020"/>
                          </a:solidFill>
                          <a:latin typeface="Calibri"/>
                        </a:rPr>
                        <a:t>162</a:t>
                      </a:r>
                    </a:p>
                  </a:txBody>
                  <a:tcPr marT="27432" marB="27432" marL="54864" marR="54864">
                    <a:solidFill>
                      <a:srgbClr val="FFFFFF"/>
                    </a:solidFill>
                  </a:tcPr>
                </a:tc>
                <a:tc>
                  <a:txBody>
                    <a:bodyPr/>
                    <a:lstStyle/>
                    <a:p>
                      <a:pPr algn="ctr"/>
                      <a:r>
                        <a:rPr sz="1100" b="0">
                          <a:solidFill>
                            <a:srgbClr val="202020"/>
                          </a:solidFill>
                          <a:latin typeface="Calibri"/>
                        </a:rPr>
                        <a:t>0.74</a:t>
                      </a:r>
                    </a:p>
                  </a:txBody>
                  <a:tcPr marT="27432" marB="27432" marL="54864" marR="54864">
                    <a:solidFill>
                      <a:srgbClr val="FFFFFF"/>
                    </a:solidFill>
                  </a:tcPr>
                </a:tc>
              </a:tr>
              <a:tr h="246888">
                <a:tc>
                  <a:txBody>
                    <a:bodyPr/>
                    <a:lstStyle/>
                    <a:p>
                      <a:pPr algn="l"/>
                      <a:r>
                        <a:rPr sz="1100" b="1">
                          <a:solidFill>
                            <a:srgbClr val="202020"/>
                          </a:solidFill>
                          <a:latin typeface="Calibri"/>
                        </a:rPr>
                        <a:t>Q – Unknown / paced</a:t>
                      </a:r>
                    </a:p>
                  </a:txBody>
                  <a:tcPr marT="27432" marB="27432" marL="54864" marR="54864">
                    <a:solidFill>
                      <a:srgbClr val="F2F2F2"/>
                    </a:solidFill>
                  </a:tcPr>
                </a:tc>
                <a:tc>
                  <a:txBody>
                    <a:bodyPr/>
                    <a:lstStyle/>
                    <a:p>
                      <a:pPr algn="ctr"/>
                      <a:r>
                        <a:rPr sz="1100" b="0">
                          <a:solidFill>
                            <a:srgbClr val="202020"/>
                          </a:solidFill>
                          <a:latin typeface="Calibri"/>
                        </a:rPr>
                        <a:t>6,431</a:t>
                      </a:r>
                    </a:p>
                  </a:txBody>
                  <a:tcPr marT="27432" marB="27432" marL="54864" marR="54864">
                    <a:solidFill>
                      <a:srgbClr val="F2F2F2"/>
                    </a:solidFill>
                  </a:tcPr>
                </a:tc>
                <a:tc>
                  <a:txBody>
                    <a:bodyPr/>
                    <a:lstStyle/>
                    <a:p>
                      <a:pPr algn="ctr"/>
                      <a:r>
                        <a:rPr sz="1100" b="0">
                          <a:solidFill>
                            <a:srgbClr val="202020"/>
                          </a:solidFill>
                          <a:latin typeface="Calibri"/>
                        </a:rPr>
                        <a:t>7.35</a:t>
                      </a:r>
                    </a:p>
                  </a:txBody>
                  <a:tcPr marT="27432" marB="27432" marL="54864" marR="54864">
                    <a:solidFill>
                      <a:srgbClr val="F2F2F2"/>
                    </a:solidFill>
                  </a:tcPr>
                </a:tc>
                <a:tc>
                  <a:txBody>
                    <a:bodyPr/>
                    <a:lstStyle/>
                    <a:p>
                      <a:pPr algn="ctr"/>
                      <a:r>
                        <a:rPr sz="1100" b="0">
                          <a:solidFill>
                            <a:srgbClr val="202020"/>
                          </a:solidFill>
                          <a:latin typeface="Calibri"/>
                        </a:rPr>
                        <a:t>1,608</a:t>
                      </a:r>
                    </a:p>
                  </a:txBody>
                  <a:tcPr marT="27432" marB="27432" marL="54864" marR="54864">
                    <a:solidFill>
                      <a:srgbClr val="F2F2F2"/>
                    </a:solidFill>
                  </a:tcPr>
                </a:tc>
                <a:tc>
                  <a:txBody>
                    <a:bodyPr/>
                    <a:lstStyle/>
                    <a:p>
                      <a:pPr algn="ctr"/>
                      <a:r>
                        <a:rPr sz="1100" b="0">
                          <a:solidFill>
                            <a:srgbClr val="202020"/>
                          </a:solidFill>
                          <a:latin typeface="Calibri"/>
                        </a:rPr>
                        <a:t>7.35</a:t>
                      </a:r>
                    </a:p>
                  </a:txBody>
                  <a:tcPr marT="27432" marB="27432" marL="54864" marR="54864">
                    <a:solidFill>
                      <a:srgbClr val="F2F2F2"/>
                    </a:solidFill>
                  </a:tcPr>
                </a:tc>
              </a:tr>
              <a:tr h="246888">
                <a:tc>
                  <a:txBody>
                    <a:bodyPr/>
                    <a:lstStyle/>
                    <a:p>
                      <a:pPr algn="l"/>
                      <a:r>
                        <a:rPr sz="1100" b="1">
                          <a:solidFill>
                            <a:srgbClr val="202020"/>
                          </a:solidFill>
                          <a:latin typeface="Calibri"/>
                        </a:rPr>
                        <a:t>Total</a:t>
                      </a:r>
                    </a:p>
                  </a:txBody>
                  <a:tcPr marT="27432" marB="27432" marL="54864" marR="54864">
                    <a:solidFill>
                      <a:srgbClr val="FCE4D6"/>
                    </a:solidFill>
                  </a:tcPr>
                </a:tc>
                <a:tc>
                  <a:txBody>
                    <a:bodyPr/>
                    <a:lstStyle/>
                    <a:p>
                      <a:pPr algn="ctr"/>
                      <a:r>
                        <a:rPr sz="1100" b="1">
                          <a:solidFill>
                            <a:srgbClr val="202020"/>
                          </a:solidFill>
                          <a:latin typeface="Calibri"/>
                        </a:rPr>
                        <a:t>87,554</a:t>
                      </a:r>
                    </a:p>
                  </a:txBody>
                  <a:tcPr marT="27432" marB="27432" marL="54864" marR="54864">
                    <a:solidFill>
                      <a:srgbClr val="FCE4D6"/>
                    </a:solidFill>
                  </a:tcPr>
                </a:tc>
                <a:tc>
                  <a:txBody>
                    <a:bodyPr/>
                    <a:lstStyle/>
                    <a:p>
                      <a:pPr algn="ctr"/>
                      <a:r>
                        <a:rPr sz="1100" b="1">
                          <a:solidFill>
                            <a:srgbClr val="202020"/>
                          </a:solidFill>
                          <a:latin typeface="Calibri"/>
                        </a:rPr>
                        <a:t>100</a:t>
                      </a:r>
                    </a:p>
                  </a:txBody>
                  <a:tcPr marT="27432" marB="27432" marL="54864" marR="54864">
                    <a:solidFill>
                      <a:srgbClr val="FCE4D6"/>
                    </a:solidFill>
                  </a:tcPr>
                </a:tc>
                <a:tc>
                  <a:txBody>
                    <a:bodyPr/>
                    <a:lstStyle/>
                    <a:p>
                      <a:pPr algn="ctr"/>
                      <a:r>
                        <a:rPr sz="1100" b="1">
                          <a:solidFill>
                            <a:srgbClr val="202020"/>
                          </a:solidFill>
                          <a:latin typeface="Calibri"/>
                        </a:rPr>
                        <a:t>21,892</a:t>
                      </a:r>
                    </a:p>
                  </a:txBody>
                  <a:tcPr marT="27432" marB="27432" marL="54864" marR="54864">
                    <a:solidFill>
                      <a:srgbClr val="FCE4D6"/>
                    </a:solidFill>
                  </a:tcPr>
                </a:tc>
                <a:tc>
                  <a:txBody>
                    <a:bodyPr/>
                    <a:lstStyle/>
                    <a:p>
                      <a:pPr algn="ctr"/>
                      <a:r>
                        <a:rPr sz="1100" b="1">
                          <a:solidFill>
                            <a:srgbClr val="202020"/>
                          </a:solidFill>
                          <a:latin typeface="Calibri"/>
                        </a:rPr>
                        <a:t>100</a:t>
                      </a:r>
                    </a:p>
                  </a:txBody>
                  <a:tcPr marT="27432" marB="27432" marL="54864" marR="54864">
                    <a:solidFill>
                      <a:srgbClr val="FCE4D6"/>
                    </a:solidFill>
                  </a:tcPr>
                </a:tc>
              </a:tr>
            </a:tbl>
          </a:graphicData>
        </a:graphic>
      </p:graphicFrame>
      <p:sp>
        <p:nvSpPr>
          <p:cNvPr id="20" name="TextBox 19"/>
          <p:cNvSpPr txBox="1"/>
          <p:nvPr/>
        </p:nvSpPr>
        <p:spPr>
          <a:xfrm>
            <a:off x="502920" y="5623560"/>
            <a:ext cx="8138160" cy="274320"/>
          </a:xfrm>
          <a:prstGeom prst="rect">
            <a:avLst/>
          </a:prstGeom>
          <a:noFill/>
        </p:spPr>
        <p:txBody>
          <a:bodyPr wrap="square" lIns="0" tIns="0" rIns="0" bIns="0">
            <a:spAutoFit/>
          </a:bodyPr>
          <a:lstStyle/>
          <a:p>
            <a:pPr algn="l"/>
            <a:r>
              <a:rPr sz="1100" b="0" i="1">
                <a:solidFill>
                  <a:srgbClr val="595959"/>
                </a:solidFill>
                <a:latin typeface="Calibri"/>
              </a:rPr>
              <a:t>A model that always predicts N would already exceed 80% accuracy, so macro F1 is the main metric. The split is by beat, so all preliminary results are intra-patient.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Preliminary Data: Split and Example Beats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502920" y="1024128"/>
          <a:ext cx="8138160" cy="1024128"/>
        </p:xfrm>
        <a:graphic>
          <a:graphicData uri="http://schemas.openxmlformats.org/drawingml/2006/table">
            <a:tbl>
              <a:tblPr firstRow="1" bandRow="1">
                <a:tableStyleId>{5C22544A-7EE6-4342-B048-85BDC9FD1C3A}</a:tableStyleId>
              </a:tblPr>
              <a:tblGrid>
                <a:gridCol w="1097280"/>
                <a:gridCol w="822960"/>
                <a:gridCol w="1005840"/>
                <a:gridCol w="2743200"/>
                <a:gridCol w="2468880"/>
              </a:tblGrid>
              <a:tr h="256032">
                <a:tc>
                  <a:txBody>
                    <a:bodyPr/>
                    <a:lstStyle/>
                    <a:p>
                      <a:pPr algn="l"/>
                      <a:r>
                        <a:rPr sz="1100" b="1">
                          <a:solidFill>
                            <a:srgbClr val="FFFFFF"/>
                          </a:solidFill>
                          <a:latin typeface="Calibri"/>
                        </a:rPr>
                        <a:t>Set</a:t>
                      </a:r>
                    </a:p>
                  </a:txBody>
                  <a:tcPr marT="27432" marB="27432" marL="54864" marR="54864">
                    <a:solidFill>
                      <a:srgbClr val="1F3864"/>
                    </a:solidFill>
                  </a:tcPr>
                </a:tc>
                <a:tc>
                  <a:txBody>
                    <a:bodyPr/>
                    <a:lstStyle/>
                    <a:p>
                      <a:pPr algn="ctr"/>
                      <a:r>
                        <a:rPr sz="1100" b="1">
                          <a:solidFill>
                            <a:srgbClr val="FFFFFF"/>
                          </a:solidFill>
                          <a:latin typeface="Calibri"/>
                        </a:rPr>
                        <a:t>Beats</a:t>
                      </a:r>
                    </a:p>
                  </a:txBody>
                  <a:tcPr marT="27432" marB="27432" marL="54864" marR="54864">
                    <a:solidFill>
                      <a:srgbClr val="1F3864"/>
                    </a:solidFill>
                  </a:tcPr>
                </a:tc>
                <a:tc>
                  <a:txBody>
                    <a:bodyPr/>
                    <a:lstStyle/>
                    <a:p>
                      <a:pPr algn="ctr"/>
                      <a:r>
                        <a:rPr sz="1100" b="1">
                          <a:solidFill>
                            <a:srgbClr val="FFFFFF"/>
                          </a:solidFill>
                          <a:latin typeface="Calibri"/>
                        </a:rPr>
                        <a:t>Input shape</a:t>
                      </a:r>
                    </a:p>
                  </a:txBody>
                  <a:tcPr marT="27432" marB="27432" marL="54864" marR="54864">
                    <a:solidFill>
                      <a:srgbClr val="1F3864"/>
                    </a:solidFill>
                  </a:tcPr>
                </a:tc>
                <a:tc>
                  <a:txBody>
                    <a:bodyPr/>
                    <a:lstStyle/>
                    <a:p>
                      <a:pPr algn="ctr"/>
                      <a:r>
                        <a:rPr sz="1100" b="1">
                          <a:solidFill>
                            <a:srgbClr val="FFFFFF"/>
                          </a:solidFill>
                          <a:latin typeface="Calibri"/>
                        </a:rPr>
                        <a:t>Source</a:t>
                      </a:r>
                    </a:p>
                  </a:txBody>
                  <a:tcPr marT="27432" marB="27432" marL="54864" marR="54864">
                    <a:solidFill>
                      <a:srgbClr val="1F3864"/>
                    </a:solidFill>
                  </a:tcPr>
                </a:tc>
                <a:tc>
                  <a:txBody>
                    <a:bodyPr/>
                    <a:lstStyle/>
                    <a:p>
                      <a:pPr algn="ctr"/>
                      <a:r>
                        <a:rPr sz="1100" b="1">
                          <a:solidFill>
                            <a:srgbClr val="FFFFFF"/>
                          </a:solidFill>
                          <a:latin typeface="Calibri"/>
                        </a:rPr>
                        <a:t>Used for</a:t>
                      </a:r>
                    </a:p>
                  </a:txBody>
                  <a:tcPr marT="27432" marB="27432" marL="54864" marR="54864">
                    <a:solidFill>
                      <a:srgbClr val="1F3864"/>
                    </a:solidFill>
                  </a:tcPr>
                </a:tc>
              </a:tr>
              <a:tr h="256032">
                <a:tc>
                  <a:txBody>
                    <a:bodyPr/>
                    <a:lstStyle/>
                    <a:p>
                      <a:pPr algn="l"/>
                      <a:r>
                        <a:rPr sz="1100" b="1">
                          <a:solidFill>
                            <a:srgbClr val="202020"/>
                          </a:solidFill>
                          <a:latin typeface="Calibri"/>
                        </a:rPr>
                        <a:t>Training</a:t>
                      </a:r>
                    </a:p>
                  </a:txBody>
                  <a:tcPr marT="27432" marB="27432" marL="54864" marR="54864">
                    <a:solidFill>
                      <a:srgbClr val="F2F2F2"/>
                    </a:solidFill>
                  </a:tcPr>
                </a:tc>
                <a:tc>
                  <a:txBody>
                    <a:bodyPr/>
                    <a:lstStyle/>
                    <a:p>
                      <a:pPr algn="ctr"/>
                      <a:r>
                        <a:rPr sz="1100" b="0">
                          <a:solidFill>
                            <a:srgbClr val="202020"/>
                          </a:solidFill>
                          <a:latin typeface="Calibri"/>
                        </a:rPr>
                        <a:t>70,043</a:t>
                      </a:r>
                    </a:p>
                  </a:txBody>
                  <a:tcPr marT="27432" marB="27432" marL="54864" marR="54864">
                    <a:solidFill>
                      <a:srgbClr val="F2F2F2"/>
                    </a:solidFill>
                  </a:tcPr>
                </a:tc>
                <a:tc>
                  <a:txBody>
                    <a:bodyPr/>
                    <a:lstStyle/>
                    <a:p>
                      <a:pPr algn="ctr"/>
                      <a:r>
                        <a:rPr sz="1100" b="0">
                          <a:solidFill>
                            <a:srgbClr val="202020"/>
                          </a:solidFill>
                          <a:latin typeface="Calibri"/>
                        </a:rPr>
                        <a:t>(187, 1)</a:t>
                      </a:r>
                    </a:p>
                  </a:txBody>
                  <a:tcPr marT="27432" marB="27432" marL="54864" marR="54864">
                    <a:solidFill>
                      <a:srgbClr val="F2F2F2"/>
                    </a:solidFill>
                  </a:tcPr>
                </a:tc>
                <a:tc>
                  <a:txBody>
                    <a:bodyPr/>
                    <a:lstStyle/>
                    <a:p>
                      <a:pPr algn="ctr"/>
                      <a:r>
                        <a:rPr sz="1100" b="0">
                          <a:solidFill>
                            <a:srgbClr val="202020"/>
                          </a:solidFill>
                          <a:latin typeface="Calibri"/>
                        </a:rPr>
                        <a:t>80% of training file (stratified, seed 42)</a:t>
                      </a:r>
                    </a:p>
                  </a:txBody>
                  <a:tcPr marT="27432" marB="27432" marL="54864" marR="54864">
                    <a:solidFill>
                      <a:srgbClr val="F2F2F2"/>
                    </a:solidFill>
                  </a:tcPr>
                </a:tc>
                <a:tc>
                  <a:txBody>
                    <a:bodyPr/>
                    <a:lstStyle/>
                    <a:p>
                      <a:pPr algn="ctr"/>
                      <a:r>
                        <a:rPr sz="1100" b="0">
                          <a:solidFill>
                            <a:srgbClr val="202020"/>
                          </a:solidFill>
                          <a:latin typeface="Calibri"/>
                        </a:rPr>
                        <a:t>Fitting the weights</a:t>
                      </a:r>
                    </a:p>
                  </a:txBody>
                  <a:tcPr marT="27432" marB="27432" marL="54864" marR="54864">
                    <a:solidFill>
                      <a:srgbClr val="F2F2F2"/>
                    </a:solidFill>
                  </a:tcPr>
                </a:tc>
              </a:tr>
              <a:tr h="256032">
                <a:tc>
                  <a:txBody>
                    <a:bodyPr/>
                    <a:lstStyle/>
                    <a:p>
                      <a:pPr algn="l"/>
                      <a:r>
                        <a:rPr sz="1100" b="1">
                          <a:solidFill>
                            <a:srgbClr val="202020"/>
                          </a:solidFill>
                          <a:latin typeface="Calibri"/>
                        </a:rPr>
                        <a:t>Validation</a:t>
                      </a:r>
                    </a:p>
                  </a:txBody>
                  <a:tcPr marT="27432" marB="27432" marL="54864" marR="54864">
                    <a:solidFill>
                      <a:srgbClr val="FFFFFF"/>
                    </a:solidFill>
                  </a:tcPr>
                </a:tc>
                <a:tc>
                  <a:txBody>
                    <a:bodyPr/>
                    <a:lstStyle/>
                    <a:p>
                      <a:pPr algn="ctr"/>
                      <a:r>
                        <a:rPr sz="1100" b="0">
                          <a:solidFill>
                            <a:srgbClr val="202020"/>
                          </a:solidFill>
                          <a:latin typeface="Calibri"/>
                        </a:rPr>
                        <a:t>17,511</a:t>
                      </a:r>
                    </a:p>
                  </a:txBody>
                  <a:tcPr marT="27432" marB="27432" marL="54864" marR="54864">
                    <a:solidFill>
                      <a:srgbClr val="FFFFFF"/>
                    </a:solidFill>
                  </a:tcPr>
                </a:tc>
                <a:tc>
                  <a:txBody>
                    <a:bodyPr/>
                    <a:lstStyle/>
                    <a:p>
                      <a:pPr algn="ctr"/>
                      <a:r>
                        <a:rPr sz="1100" b="0">
                          <a:solidFill>
                            <a:srgbClr val="202020"/>
                          </a:solidFill>
                          <a:latin typeface="Calibri"/>
                        </a:rPr>
                        <a:t>(187, 1)</a:t>
                      </a:r>
                    </a:p>
                  </a:txBody>
                  <a:tcPr marT="27432" marB="27432" marL="54864" marR="54864">
                    <a:solidFill>
                      <a:srgbClr val="FFFFFF"/>
                    </a:solidFill>
                  </a:tcPr>
                </a:tc>
                <a:tc>
                  <a:txBody>
                    <a:bodyPr/>
                    <a:lstStyle/>
                    <a:p>
                      <a:pPr algn="ctr"/>
                      <a:r>
                        <a:rPr sz="1100" b="0">
                          <a:solidFill>
                            <a:srgbClr val="202020"/>
                          </a:solidFill>
                          <a:latin typeface="Calibri"/>
                        </a:rPr>
                        <a:t>20% of training file</a:t>
                      </a:r>
                    </a:p>
                  </a:txBody>
                  <a:tcPr marT="27432" marB="27432" marL="54864" marR="54864">
                    <a:solidFill>
                      <a:srgbClr val="FFFFFF"/>
                    </a:solidFill>
                  </a:tcPr>
                </a:tc>
                <a:tc>
                  <a:txBody>
                    <a:bodyPr/>
                    <a:lstStyle/>
                    <a:p>
                      <a:pPr algn="ctr"/>
                      <a:r>
                        <a:rPr sz="1100" b="0">
                          <a:solidFill>
                            <a:srgbClr val="202020"/>
                          </a:solidFill>
                          <a:latin typeface="Calibri"/>
                        </a:rPr>
                        <a:t>Epoch, model and threshold selection</a:t>
                      </a:r>
                    </a:p>
                  </a:txBody>
                  <a:tcPr marT="27432" marB="27432" marL="54864" marR="54864">
                    <a:solidFill>
                      <a:srgbClr val="FFFFFF"/>
                    </a:solidFill>
                  </a:tcPr>
                </a:tc>
              </a:tr>
              <a:tr h="256032">
                <a:tc>
                  <a:txBody>
                    <a:bodyPr/>
                    <a:lstStyle/>
                    <a:p>
                      <a:pPr algn="l"/>
                      <a:r>
                        <a:rPr sz="1100" b="1">
                          <a:solidFill>
                            <a:srgbClr val="202020"/>
                          </a:solidFill>
                          <a:latin typeface="Calibri"/>
                        </a:rPr>
                        <a:t>Test</a:t>
                      </a:r>
                    </a:p>
                  </a:txBody>
                  <a:tcPr marT="27432" marB="27432" marL="54864" marR="54864">
                    <a:solidFill>
                      <a:srgbClr val="F2F2F2"/>
                    </a:solidFill>
                  </a:tcPr>
                </a:tc>
                <a:tc>
                  <a:txBody>
                    <a:bodyPr/>
                    <a:lstStyle/>
                    <a:p>
                      <a:pPr algn="ctr"/>
                      <a:r>
                        <a:rPr sz="1100" b="0">
                          <a:solidFill>
                            <a:srgbClr val="202020"/>
                          </a:solidFill>
                          <a:latin typeface="Calibri"/>
                        </a:rPr>
                        <a:t>21,892</a:t>
                      </a:r>
                    </a:p>
                  </a:txBody>
                  <a:tcPr marT="27432" marB="27432" marL="54864" marR="54864">
                    <a:solidFill>
                      <a:srgbClr val="F2F2F2"/>
                    </a:solidFill>
                  </a:tcPr>
                </a:tc>
                <a:tc>
                  <a:txBody>
                    <a:bodyPr/>
                    <a:lstStyle/>
                    <a:p>
                      <a:pPr algn="ctr"/>
                      <a:r>
                        <a:rPr sz="1100" b="0">
                          <a:solidFill>
                            <a:srgbClr val="202020"/>
                          </a:solidFill>
                          <a:latin typeface="Calibri"/>
                        </a:rPr>
                        <a:t>(187, 1)</a:t>
                      </a:r>
                    </a:p>
                  </a:txBody>
                  <a:tcPr marT="27432" marB="27432" marL="54864" marR="54864">
                    <a:solidFill>
                      <a:srgbClr val="F2F2F2"/>
                    </a:solidFill>
                  </a:tcPr>
                </a:tc>
                <a:tc>
                  <a:txBody>
                    <a:bodyPr/>
                    <a:lstStyle/>
                    <a:p>
                      <a:pPr algn="ctr"/>
                      <a:r>
                        <a:rPr sz="1100" b="0">
                          <a:solidFill>
                            <a:srgbClr val="202020"/>
                          </a:solidFill>
                          <a:latin typeface="Calibri"/>
                        </a:rPr>
                        <a:t>Provided test file</a:t>
                      </a:r>
                    </a:p>
                  </a:txBody>
                  <a:tcPr marT="27432" marB="27432" marL="54864" marR="54864">
                    <a:solidFill>
                      <a:srgbClr val="F2F2F2"/>
                    </a:solidFill>
                  </a:tcPr>
                </a:tc>
                <a:tc>
                  <a:txBody>
                    <a:bodyPr/>
                    <a:lstStyle/>
                    <a:p>
                      <a:pPr algn="ctr"/>
                      <a:r>
                        <a:rPr sz="1100" b="0">
                          <a:solidFill>
                            <a:srgbClr val="202020"/>
                          </a:solidFill>
                          <a:latin typeface="Calibri"/>
                        </a:rPr>
                        <a:t>Final evaluation only</a:t>
                      </a:r>
                    </a:p>
                  </a:txBody>
                  <a:tcPr marT="27432" marB="27432" marL="54864" marR="54864">
                    <a:solidFill>
                      <a:srgbClr val="F2F2F2"/>
                    </a:solidFill>
                  </a:tcPr>
                </a:tc>
              </a:tr>
            </a:tbl>
          </a:graphicData>
        </a:graphic>
      </p:graphicFrame>
      <p:pic>
        <p:nvPicPr>
          <p:cNvPr id="16" name="Picture 15" descr="V1_class_distribution.png"/>
          <p:cNvPicPr>
            <a:picLocks noChangeAspect="1"/>
          </p:cNvPicPr>
          <p:nvPr/>
        </p:nvPicPr>
        <p:blipFill>
          <a:blip r:embed="rId2"/>
          <a:stretch>
            <a:fillRect/>
          </a:stretch>
        </p:blipFill>
        <p:spPr>
          <a:xfrm>
            <a:off x="502920" y="2194560"/>
            <a:ext cx="3566160" cy="2162072"/>
          </a:xfrm>
          <a:prstGeom prst="rect">
            <a:avLst/>
          </a:prstGeom>
        </p:spPr>
      </p:pic>
      <p:sp>
        <p:nvSpPr>
          <p:cNvPr id="17" name="TextBox 16"/>
          <p:cNvSpPr txBox="1"/>
          <p:nvPr/>
        </p:nvSpPr>
        <p:spPr>
          <a:xfrm>
            <a:off x="502920" y="4389120"/>
            <a:ext cx="3566160" cy="274320"/>
          </a:xfrm>
          <a:prstGeom prst="rect">
            <a:avLst/>
          </a:prstGeom>
          <a:noFill/>
        </p:spPr>
        <p:txBody>
          <a:bodyPr wrap="square" lIns="0" tIns="0" rIns="0" bIns="0">
            <a:spAutoFit/>
          </a:bodyPr>
          <a:lstStyle/>
          <a:p>
            <a:pPr algn="ctr"/>
            <a:r>
              <a:rPr sz="1000" b="0" i="1">
                <a:solidFill>
                  <a:srgbClr val="595959"/>
                </a:solidFill>
                <a:latin typeface="Calibri"/>
              </a:rPr>
              <a:t>Class distribution of the training file</a:t>
            </a:r>
          </a:p>
        </p:txBody>
      </p:sp>
      <p:sp>
        <p:nvSpPr>
          <p:cNvPr id="18" name="TextBox 17"/>
          <p:cNvSpPr txBox="1"/>
          <p:nvPr/>
        </p:nvSpPr>
        <p:spPr>
          <a:xfrm>
            <a:off x="4343400" y="2331720"/>
            <a:ext cx="4297680" cy="210312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 Training portion after the split: 57,977 N, 1,778 S, 4,630 V, 513 F and 5,145 Q beats.</a:t>
            </a:r>
          </a:p>
          <a:p>
            <a:pPr algn="l">
              <a:spcAft>
                <a:spcPts val="300"/>
              </a:spcAft>
            </a:pPr>
            <a:r>
              <a:rPr sz="1150" b="0" i="0">
                <a:solidFill>
                  <a:srgbClr val="202020"/>
                </a:solidFill>
                <a:latin typeface="Calibri"/>
              </a:rPr>
              <a:t>• Every beat starts at its R peak, contains a second large peak (most likely the next R peak) and is then zero-padded to 187 samples.</a:t>
            </a:r>
          </a:p>
          <a:p>
            <a:pPr algn="l">
              <a:spcAft>
                <a:spcPts val="300"/>
              </a:spcAft>
            </a:pPr>
            <a:r>
              <a:rPr sz="1150" b="0" i="0">
                <a:solidFill>
                  <a:srgbClr val="202020"/>
                </a:solidFill>
                <a:latin typeface="Calibri"/>
              </a:rPr>
              <a:t>• The notebooks perform no filtering or segmentation of their own; this was done by the dataset authors [35].</a:t>
            </a:r>
          </a:p>
        </p:txBody>
      </p:sp>
      <p:pic>
        <p:nvPicPr>
          <p:cNvPr id="19" name="Picture 18" descr="V1_example_beats.png"/>
          <p:cNvPicPr>
            <a:picLocks noChangeAspect="1"/>
          </p:cNvPicPr>
          <p:nvPr/>
        </p:nvPicPr>
        <p:blipFill>
          <a:blip r:embed="rId3"/>
          <a:stretch>
            <a:fillRect/>
          </a:stretch>
        </p:blipFill>
        <p:spPr>
          <a:xfrm>
            <a:off x="502920" y="4663440"/>
            <a:ext cx="8138160" cy="1319579"/>
          </a:xfrm>
          <a:prstGeom prst="rect">
            <a:avLst/>
          </a:prstGeom>
        </p:spPr>
      </p:pic>
      <p:sp>
        <p:nvSpPr>
          <p:cNvPr id="20" name="TextBox 19"/>
          <p:cNvSpPr txBox="1"/>
          <p:nvPr/>
        </p:nvSpPr>
        <p:spPr>
          <a:xfrm>
            <a:off x="502920" y="6035040"/>
            <a:ext cx="8138160" cy="274320"/>
          </a:xfrm>
          <a:prstGeom prst="rect">
            <a:avLst/>
          </a:prstGeom>
          <a:noFill/>
        </p:spPr>
        <p:txBody>
          <a:bodyPr wrap="square" lIns="0" tIns="0" rIns="0" bIns="0">
            <a:spAutoFit/>
          </a:bodyPr>
          <a:lstStyle/>
          <a:p>
            <a:pPr algn="ctr"/>
            <a:r>
              <a:rPr sz="1000" b="0" i="1">
                <a:solidFill>
                  <a:srgbClr val="595959"/>
                </a:solidFill>
                <a:latin typeface="Calibri"/>
              </a:rPr>
              <a:t>One example beat of each class (187 samples, 125 Hz, zero-padded)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V1: Baseline 1D CNN – Architecture &amp; Training</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502920" y="1024128"/>
          <a:ext cx="8138160" cy="2221992"/>
        </p:xfrm>
        <a:graphic>
          <a:graphicData uri="http://schemas.openxmlformats.org/drawingml/2006/table">
            <a:tbl>
              <a:tblPr firstRow="1" bandRow="1">
                <a:tableStyleId>{5C22544A-7EE6-4342-B048-85BDC9FD1C3A}</a:tableStyleId>
              </a:tblPr>
              <a:tblGrid>
                <a:gridCol w="4846320"/>
                <a:gridCol w="1463040"/>
                <a:gridCol w="1828800"/>
              </a:tblGrid>
              <a:tr h="246888">
                <a:tc>
                  <a:txBody>
                    <a:bodyPr/>
                    <a:lstStyle/>
                    <a:p>
                      <a:pPr algn="l"/>
                      <a:r>
                        <a:rPr sz="1100" b="1">
                          <a:solidFill>
                            <a:srgbClr val="FFFFFF"/>
                          </a:solidFill>
                          <a:latin typeface="Calibri"/>
                        </a:rPr>
                        <a:t>Layer</a:t>
                      </a:r>
                    </a:p>
                  </a:txBody>
                  <a:tcPr marT="27432" marB="27432" marL="54864" marR="54864">
                    <a:solidFill>
                      <a:srgbClr val="1F3864"/>
                    </a:solidFill>
                  </a:tcPr>
                </a:tc>
                <a:tc>
                  <a:txBody>
                    <a:bodyPr/>
                    <a:lstStyle/>
                    <a:p>
                      <a:pPr algn="ctr"/>
                      <a:r>
                        <a:rPr sz="1100" b="1">
                          <a:solidFill>
                            <a:srgbClr val="FFFFFF"/>
                          </a:solidFill>
                          <a:latin typeface="Calibri"/>
                        </a:rPr>
                        <a:t>Output shape</a:t>
                      </a:r>
                    </a:p>
                  </a:txBody>
                  <a:tcPr marT="27432" marB="27432" marL="54864" marR="54864">
                    <a:solidFill>
                      <a:srgbClr val="1F3864"/>
                    </a:solidFill>
                  </a:tcPr>
                </a:tc>
                <a:tc>
                  <a:txBody>
                    <a:bodyPr/>
                    <a:lstStyle/>
                    <a:p>
                      <a:pPr algn="ctr"/>
                      <a:r>
                        <a:rPr sz="1100" b="1">
                          <a:solidFill>
                            <a:srgbClr val="FFFFFF"/>
                          </a:solidFill>
                          <a:latin typeface="Calibri"/>
                        </a:rPr>
                        <a:t>Parameters</a:t>
                      </a:r>
                    </a:p>
                  </a:txBody>
                  <a:tcPr marT="27432" marB="27432" marL="54864" marR="54864">
                    <a:solidFill>
                      <a:srgbClr val="1F3864"/>
                    </a:solidFill>
                  </a:tcPr>
                </a:tc>
              </a:tr>
              <a:tr h="246888">
                <a:tc>
                  <a:txBody>
                    <a:bodyPr/>
                    <a:lstStyle/>
                    <a:p>
                      <a:pPr algn="l"/>
                      <a:r>
                        <a:rPr sz="1100" b="1">
                          <a:solidFill>
                            <a:srgbClr val="202020"/>
                          </a:solidFill>
                          <a:latin typeface="Calibri"/>
                        </a:rPr>
                        <a:t>Input (one beat)</a:t>
                      </a:r>
                    </a:p>
                  </a:txBody>
                  <a:tcPr marT="27432" marB="27432" marL="54864" marR="54864">
                    <a:solidFill>
                      <a:srgbClr val="F2F2F2"/>
                    </a:solidFill>
                  </a:tcPr>
                </a:tc>
                <a:tc>
                  <a:txBody>
                    <a:bodyPr/>
                    <a:lstStyle/>
                    <a:p>
                      <a:pPr algn="ctr"/>
                      <a:r>
                        <a:rPr sz="1100" b="0">
                          <a:solidFill>
                            <a:srgbClr val="202020"/>
                          </a:solidFill>
                          <a:latin typeface="Calibri"/>
                        </a:rPr>
                        <a:t>(187, 1)</a:t>
                      </a:r>
                    </a:p>
                  </a:txBody>
                  <a:tcPr marT="27432" marB="27432" marL="54864" marR="54864">
                    <a:solidFill>
                      <a:srgbClr val="F2F2F2"/>
                    </a:solidFill>
                  </a:tcPr>
                </a:tc>
                <a:tc>
                  <a:txBody>
                    <a:bodyPr/>
                    <a:lstStyle/>
                    <a:p>
                      <a:pPr algn="ctr"/>
                      <a:r>
                        <a:rPr sz="1100" b="0">
                          <a:solidFill>
                            <a:srgbClr val="202020"/>
                          </a:solidFill>
                          <a:latin typeface="Calibri"/>
                        </a:rPr>
                        <a:t>0</a:t>
                      </a:r>
                    </a:p>
                  </a:txBody>
                  <a:tcPr marT="27432" marB="27432" marL="54864" marR="54864">
                    <a:solidFill>
                      <a:srgbClr val="F2F2F2"/>
                    </a:solidFill>
                  </a:tcPr>
                </a:tc>
              </a:tr>
              <a:tr h="246888">
                <a:tc>
                  <a:txBody>
                    <a:bodyPr/>
                    <a:lstStyle/>
                    <a:p>
                      <a:pPr algn="l"/>
                      <a:r>
                        <a:rPr sz="1100" b="1">
                          <a:solidFill>
                            <a:srgbClr val="202020"/>
                          </a:solidFill>
                          <a:latin typeface="Calibri"/>
                        </a:rPr>
                        <a:t>Conv1D 32, k = 7 → BN → ReLU → MaxPool 2</a:t>
                      </a:r>
                    </a:p>
                  </a:txBody>
                  <a:tcPr marT="27432" marB="27432" marL="54864" marR="54864">
                    <a:solidFill>
                      <a:srgbClr val="FFFFFF"/>
                    </a:solidFill>
                  </a:tcPr>
                </a:tc>
                <a:tc>
                  <a:txBody>
                    <a:bodyPr/>
                    <a:lstStyle/>
                    <a:p>
                      <a:pPr algn="ctr"/>
                      <a:r>
                        <a:rPr sz="1100" b="0">
                          <a:solidFill>
                            <a:srgbClr val="202020"/>
                          </a:solidFill>
                          <a:latin typeface="Calibri"/>
                        </a:rPr>
                        <a:t>(93, 32)</a:t>
                      </a:r>
                    </a:p>
                  </a:txBody>
                  <a:tcPr marT="27432" marB="27432" marL="54864" marR="54864">
                    <a:solidFill>
                      <a:srgbClr val="FFFFFF"/>
                    </a:solidFill>
                  </a:tcPr>
                </a:tc>
                <a:tc>
                  <a:txBody>
                    <a:bodyPr/>
                    <a:lstStyle/>
                    <a:p>
                      <a:pPr algn="ctr"/>
                      <a:r>
                        <a:rPr sz="1100" b="0">
                          <a:solidFill>
                            <a:srgbClr val="202020"/>
                          </a:solidFill>
                          <a:latin typeface="Calibri"/>
                        </a:rPr>
                        <a:t>256 + 128</a:t>
                      </a:r>
                    </a:p>
                  </a:txBody>
                  <a:tcPr marT="27432" marB="27432" marL="54864" marR="54864">
                    <a:solidFill>
                      <a:srgbClr val="FFFFFF"/>
                    </a:solidFill>
                  </a:tcPr>
                </a:tc>
              </a:tr>
              <a:tr h="246888">
                <a:tc>
                  <a:txBody>
                    <a:bodyPr/>
                    <a:lstStyle/>
                    <a:p>
                      <a:pPr algn="l"/>
                      <a:r>
                        <a:rPr sz="1100" b="1">
                          <a:solidFill>
                            <a:srgbClr val="202020"/>
                          </a:solidFill>
                          <a:latin typeface="Calibri"/>
                        </a:rPr>
                        <a:t>Conv1D 64, k = 5 → BN → ReLU → MaxPool 2</a:t>
                      </a:r>
                    </a:p>
                  </a:txBody>
                  <a:tcPr marT="27432" marB="27432" marL="54864" marR="54864">
                    <a:solidFill>
                      <a:srgbClr val="F2F2F2"/>
                    </a:solidFill>
                  </a:tcPr>
                </a:tc>
                <a:tc>
                  <a:txBody>
                    <a:bodyPr/>
                    <a:lstStyle/>
                    <a:p>
                      <a:pPr algn="ctr"/>
                      <a:r>
                        <a:rPr sz="1100" b="0">
                          <a:solidFill>
                            <a:srgbClr val="202020"/>
                          </a:solidFill>
                          <a:latin typeface="Calibri"/>
                        </a:rPr>
                        <a:t>(46, 64)</a:t>
                      </a:r>
                    </a:p>
                  </a:txBody>
                  <a:tcPr marT="27432" marB="27432" marL="54864" marR="54864">
                    <a:solidFill>
                      <a:srgbClr val="F2F2F2"/>
                    </a:solidFill>
                  </a:tcPr>
                </a:tc>
                <a:tc>
                  <a:txBody>
                    <a:bodyPr/>
                    <a:lstStyle/>
                    <a:p>
                      <a:pPr algn="ctr"/>
                      <a:r>
                        <a:rPr sz="1100" b="0">
                          <a:solidFill>
                            <a:srgbClr val="202020"/>
                          </a:solidFill>
                          <a:latin typeface="Calibri"/>
                        </a:rPr>
                        <a:t>10,304 + 256</a:t>
                      </a:r>
                    </a:p>
                  </a:txBody>
                  <a:tcPr marT="27432" marB="27432" marL="54864" marR="54864">
                    <a:solidFill>
                      <a:srgbClr val="F2F2F2"/>
                    </a:solidFill>
                  </a:tcPr>
                </a:tc>
              </a:tr>
              <a:tr h="246888">
                <a:tc>
                  <a:txBody>
                    <a:bodyPr/>
                    <a:lstStyle/>
                    <a:p>
                      <a:pPr algn="l"/>
                      <a:r>
                        <a:rPr sz="1100" b="1">
                          <a:solidFill>
                            <a:srgbClr val="202020"/>
                          </a:solidFill>
                          <a:latin typeface="Calibri"/>
                        </a:rPr>
                        <a:t>Conv1D 128, k = 3 → BN → ReLU (Grad-CAM layer) → MaxPool 2</a:t>
                      </a:r>
                    </a:p>
                  </a:txBody>
                  <a:tcPr marT="27432" marB="27432" marL="54864" marR="54864">
                    <a:solidFill>
                      <a:srgbClr val="FFFFFF"/>
                    </a:solidFill>
                  </a:tcPr>
                </a:tc>
                <a:tc>
                  <a:txBody>
                    <a:bodyPr/>
                    <a:lstStyle/>
                    <a:p>
                      <a:pPr algn="ctr"/>
                      <a:r>
                        <a:rPr sz="1100" b="0">
                          <a:solidFill>
                            <a:srgbClr val="202020"/>
                          </a:solidFill>
                          <a:latin typeface="Calibri"/>
                        </a:rPr>
                        <a:t>(23, 128)</a:t>
                      </a:r>
                    </a:p>
                  </a:txBody>
                  <a:tcPr marT="27432" marB="27432" marL="54864" marR="54864">
                    <a:solidFill>
                      <a:srgbClr val="FFFFFF"/>
                    </a:solidFill>
                  </a:tcPr>
                </a:tc>
                <a:tc>
                  <a:txBody>
                    <a:bodyPr/>
                    <a:lstStyle/>
                    <a:p>
                      <a:pPr algn="ctr"/>
                      <a:r>
                        <a:rPr sz="1100" b="0">
                          <a:solidFill>
                            <a:srgbClr val="202020"/>
                          </a:solidFill>
                          <a:latin typeface="Calibri"/>
                        </a:rPr>
                        <a:t>24,704 + 512</a:t>
                      </a:r>
                    </a:p>
                  </a:txBody>
                  <a:tcPr marT="27432" marB="27432" marL="54864" marR="54864">
                    <a:solidFill>
                      <a:srgbClr val="FFFFFF"/>
                    </a:solidFill>
                  </a:tcPr>
                </a:tc>
              </a:tr>
              <a:tr h="246888">
                <a:tc>
                  <a:txBody>
                    <a:bodyPr/>
                    <a:lstStyle/>
                    <a:p>
                      <a:pPr algn="l"/>
                      <a:r>
                        <a:rPr sz="1100" b="1">
                          <a:solidFill>
                            <a:srgbClr val="202020"/>
                          </a:solidFill>
                          <a:latin typeface="Calibri"/>
                        </a:rPr>
                        <a:t>Global average pooling</a:t>
                      </a:r>
                    </a:p>
                  </a:txBody>
                  <a:tcPr marT="27432" marB="27432" marL="54864" marR="54864">
                    <a:solidFill>
                      <a:srgbClr val="F2F2F2"/>
                    </a:solidFill>
                  </a:tcPr>
                </a:tc>
                <a:tc>
                  <a:txBody>
                    <a:bodyPr/>
                    <a:lstStyle/>
                    <a:p>
                      <a:pPr algn="ctr"/>
                      <a:r>
                        <a:rPr sz="1100" b="0">
                          <a:solidFill>
                            <a:srgbClr val="202020"/>
                          </a:solidFill>
                          <a:latin typeface="Calibri"/>
                        </a:rPr>
                        <a:t>(128)</a:t>
                      </a:r>
                    </a:p>
                  </a:txBody>
                  <a:tcPr marT="27432" marB="27432" marL="54864" marR="54864">
                    <a:solidFill>
                      <a:srgbClr val="F2F2F2"/>
                    </a:solidFill>
                  </a:tcPr>
                </a:tc>
                <a:tc>
                  <a:txBody>
                    <a:bodyPr/>
                    <a:lstStyle/>
                    <a:p>
                      <a:pPr algn="ctr"/>
                      <a:r>
                        <a:rPr sz="1100" b="0">
                          <a:solidFill>
                            <a:srgbClr val="202020"/>
                          </a:solidFill>
                          <a:latin typeface="Calibri"/>
                        </a:rPr>
                        <a:t>0</a:t>
                      </a:r>
                    </a:p>
                  </a:txBody>
                  <a:tcPr marT="27432" marB="27432" marL="54864" marR="54864">
                    <a:solidFill>
                      <a:srgbClr val="F2F2F2"/>
                    </a:solidFill>
                  </a:tcPr>
                </a:tc>
              </a:tr>
              <a:tr h="246888">
                <a:tc>
                  <a:txBody>
                    <a:bodyPr/>
                    <a:lstStyle/>
                    <a:p>
                      <a:pPr algn="l"/>
                      <a:r>
                        <a:rPr sz="1100" b="1">
                          <a:solidFill>
                            <a:srgbClr val="202020"/>
                          </a:solidFill>
                          <a:latin typeface="Calibri"/>
                        </a:rPr>
                        <a:t>Dense 64, ReLU → Dropout 0.3</a:t>
                      </a:r>
                    </a:p>
                  </a:txBody>
                  <a:tcPr marT="27432" marB="27432" marL="54864" marR="54864">
                    <a:solidFill>
                      <a:srgbClr val="FFFFFF"/>
                    </a:solidFill>
                  </a:tcPr>
                </a:tc>
                <a:tc>
                  <a:txBody>
                    <a:bodyPr/>
                    <a:lstStyle/>
                    <a:p>
                      <a:pPr algn="ctr"/>
                      <a:r>
                        <a:rPr sz="1100" b="0">
                          <a:solidFill>
                            <a:srgbClr val="202020"/>
                          </a:solidFill>
                          <a:latin typeface="Calibri"/>
                        </a:rPr>
                        <a:t>(64)</a:t>
                      </a:r>
                    </a:p>
                  </a:txBody>
                  <a:tcPr marT="27432" marB="27432" marL="54864" marR="54864">
                    <a:solidFill>
                      <a:srgbClr val="FFFFFF"/>
                    </a:solidFill>
                  </a:tcPr>
                </a:tc>
                <a:tc>
                  <a:txBody>
                    <a:bodyPr/>
                    <a:lstStyle/>
                    <a:p>
                      <a:pPr algn="ctr"/>
                      <a:r>
                        <a:rPr sz="1100" b="0">
                          <a:solidFill>
                            <a:srgbClr val="202020"/>
                          </a:solidFill>
                          <a:latin typeface="Calibri"/>
                        </a:rPr>
                        <a:t>8,256</a:t>
                      </a:r>
                    </a:p>
                  </a:txBody>
                  <a:tcPr marT="27432" marB="27432" marL="54864" marR="54864">
                    <a:solidFill>
                      <a:srgbClr val="FFFFFF"/>
                    </a:solidFill>
                  </a:tcPr>
                </a:tc>
              </a:tr>
              <a:tr h="246888">
                <a:tc>
                  <a:txBody>
                    <a:bodyPr/>
                    <a:lstStyle/>
                    <a:p>
                      <a:pPr algn="l"/>
                      <a:r>
                        <a:rPr sz="1100" b="1">
                          <a:solidFill>
                            <a:srgbClr val="202020"/>
                          </a:solidFill>
                          <a:latin typeface="Calibri"/>
                        </a:rPr>
                        <a:t>Dense 5, softmax</a:t>
                      </a:r>
                    </a:p>
                  </a:txBody>
                  <a:tcPr marT="27432" marB="27432" marL="54864" marR="54864">
                    <a:solidFill>
                      <a:srgbClr val="F2F2F2"/>
                    </a:solidFill>
                  </a:tcPr>
                </a:tc>
                <a:tc>
                  <a:txBody>
                    <a:bodyPr/>
                    <a:lstStyle/>
                    <a:p>
                      <a:pPr algn="ctr"/>
                      <a:r>
                        <a:rPr sz="1100" b="0">
                          <a:solidFill>
                            <a:srgbClr val="202020"/>
                          </a:solidFill>
                          <a:latin typeface="Calibri"/>
                        </a:rPr>
                        <a:t>(5)</a:t>
                      </a:r>
                    </a:p>
                  </a:txBody>
                  <a:tcPr marT="27432" marB="27432" marL="54864" marR="54864">
                    <a:solidFill>
                      <a:srgbClr val="F2F2F2"/>
                    </a:solidFill>
                  </a:tcPr>
                </a:tc>
                <a:tc>
                  <a:txBody>
                    <a:bodyPr/>
                    <a:lstStyle/>
                    <a:p>
                      <a:pPr algn="ctr"/>
                      <a:r>
                        <a:rPr sz="1100" b="0">
                          <a:solidFill>
                            <a:srgbClr val="202020"/>
                          </a:solidFill>
                          <a:latin typeface="Calibri"/>
                        </a:rPr>
                        <a:t>325</a:t>
                      </a:r>
                    </a:p>
                  </a:txBody>
                  <a:tcPr marT="27432" marB="27432" marL="54864" marR="54864">
                    <a:solidFill>
                      <a:srgbClr val="F2F2F2"/>
                    </a:solidFill>
                  </a:tcPr>
                </a:tc>
              </a:tr>
              <a:tr h="246888">
                <a:tc>
                  <a:txBody>
                    <a:bodyPr/>
                    <a:lstStyle/>
                    <a:p>
                      <a:pPr algn="l"/>
                      <a:r>
                        <a:rPr sz="1100" b="1">
                          <a:solidFill>
                            <a:srgbClr val="202020"/>
                          </a:solidFill>
                          <a:latin typeface="Calibri"/>
                        </a:rPr>
                        <a:t>Total (trainable / non-trainable)</a:t>
                      </a:r>
                    </a:p>
                  </a:txBody>
                  <a:tcPr marT="27432" marB="27432" marL="54864" marR="54864">
                    <a:solidFill>
                      <a:srgbClr val="FCE4D6"/>
                    </a:solidFill>
                  </a:tcPr>
                </a:tc>
                <a:tc>
                  <a:txBody>
                    <a:bodyPr/>
                    <a:lstStyle/>
                    <a:p>
                      <a:pPr algn="ctr"/>
                      <a:r>
                        <a:rPr sz="1100" b="1">
                          <a:solidFill>
                            <a:srgbClr val="202020"/>
                          </a:solidFill>
                          <a:latin typeface="Calibri"/>
                        </a:rPr>
                        <a:t/>
                      </a:r>
                    </a:p>
                  </a:txBody>
                  <a:tcPr marT="27432" marB="27432" marL="54864" marR="54864">
                    <a:solidFill>
                      <a:srgbClr val="FCE4D6"/>
                    </a:solidFill>
                  </a:tcPr>
                </a:tc>
                <a:tc>
                  <a:txBody>
                    <a:bodyPr/>
                    <a:lstStyle/>
                    <a:p>
                      <a:pPr algn="ctr"/>
                      <a:r>
                        <a:rPr sz="1100" b="1">
                          <a:solidFill>
                            <a:srgbClr val="202020"/>
                          </a:solidFill>
                          <a:latin typeface="Calibri"/>
                        </a:rPr>
                        <a:t>44,741 (44,293 / 448)</a:t>
                      </a:r>
                    </a:p>
                  </a:txBody>
                  <a:tcPr marT="27432" marB="27432" marL="54864" marR="54864">
                    <a:solidFill>
                      <a:srgbClr val="FCE4D6"/>
                    </a:solidFill>
                  </a:tcPr>
                </a:tc>
              </a:tr>
            </a:tbl>
          </a:graphicData>
        </a:graphic>
      </p:graphicFrame>
      <p:graphicFrame>
        <p:nvGraphicFramePr>
          <p:cNvPr id="16" name="Table 15"/>
          <p:cNvGraphicFramePr>
            <a:graphicFrameLocks noGrp="1"/>
          </p:cNvGraphicFramePr>
          <p:nvPr/>
        </p:nvGraphicFramePr>
        <p:xfrm>
          <a:off x="502920" y="3429000"/>
          <a:ext cx="8138160" cy="1975104"/>
        </p:xfrm>
        <a:graphic>
          <a:graphicData uri="http://schemas.openxmlformats.org/drawingml/2006/table">
            <a:tbl>
              <a:tblPr firstRow="1" bandRow="1">
                <a:tableStyleId>{5C22544A-7EE6-4342-B048-85BDC9FD1C3A}</a:tableStyleId>
              </a:tblPr>
              <a:tblGrid>
                <a:gridCol w="2651760"/>
                <a:gridCol w="5486400"/>
              </a:tblGrid>
              <a:tr h="246888">
                <a:tc>
                  <a:txBody>
                    <a:bodyPr/>
                    <a:lstStyle/>
                    <a:p>
                      <a:pPr algn="l"/>
                      <a:r>
                        <a:rPr sz="1100" b="1">
                          <a:solidFill>
                            <a:srgbClr val="FFFFFF"/>
                          </a:solidFill>
                          <a:latin typeface="Calibri"/>
                        </a:rPr>
                        <a:t>Setting</a:t>
                      </a:r>
                    </a:p>
                  </a:txBody>
                  <a:tcPr marT="27432" marB="27432" marL="54864" marR="54864">
                    <a:solidFill>
                      <a:srgbClr val="1F3864"/>
                    </a:solidFill>
                  </a:tcPr>
                </a:tc>
                <a:tc>
                  <a:txBody>
                    <a:bodyPr/>
                    <a:lstStyle/>
                    <a:p>
                      <a:pPr algn="ctr"/>
                      <a:r>
                        <a:rPr sz="1100" b="1">
                          <a:solidFill>
                            <a:srgbClr val="FFFFFF"/>
                          </a:solidFill>
                          <a:latin typeface="Calibri"/>
                        </a:rPr>
                        <a:t>Value</a:t>
                      </a:r>
                    </a:p>
                  </a:txBody>
                  <a:tcPr marT="27432" marB="27432" marL="54864" marR="54864">
                    <a:solidFill>
                      <a:srgbClr val="1F3864"/>
                    </a:solidFill>
                  </a:tcPr>
                </a:tc>
              </a:tr>
              <a:tr h="246888">
                <a:tc>
                  <a:txBody>
                    <a:bodyPr/>
                    <a:lstStyle/>
                    <a:p>
                      <a:pPr algn="l"/>
                      <a:r>
                        <a:rPr sz="1100" b="1">
                          <a:solidFill>
                            <a:srgbClr val="202020"/>
                          </a:solidFill>
                          <a:latin typeface="Calibri"/>
                        </a:rPr>
                        <a:t>Optimiser / learning rate</a:t>
                      </a:r>
                    </a:p>
                  </a:txBody>
                  <a:tcPr marT="27432" marB="27432" marL="54864" marR="54864">
                    <a:solidFill>
                      <a:srgbClr val="F2F2F2"/>
                    </a:solidFill>
                  </a:tcPr>
                </a:tc>
                <a:tc>
                  <a:txBody>
                    <a:bodyPr/>
                    <a:lstStyle/>
                    <a:p>
                      <a:pPr algn="ctr"/>
                      <a:r>
                        <a:rPr sz="1100" b="0">
                          <a:solidFill>
                            <a:srgbClr val="202020"/>
                          </a:solidFill>
                          <a:latin typeface="Calibri"/>
                        </a:rPr>
                        <a:t>Adam, 10⁻³</a:t>
                      </a:r>
                    </a:p>
                  </a:txBody>
                  <a:tcPr marT="27432" marB="27432" marL="54864" marR="54864">
                    <a:solidFill>
                      <a:srgbClr val="F2F2F2"/>
                    </a:solidFill>
                  </a:tcPr>
                </a:tc>
              </a:tr>
              <a:tr h="246888">
                <a:tc>
                  <a:txBody>
                    <a:bodyPr/>
                    <a:lstStyle/>
                    <a:p>
                      <a:pPr algn="l"/>
                      <a:r>
                        <a:rPr sz="1100" b="1">
                          <a:solidFill>
                            <a:srgbClr val="202020"/>
                          </a:solidFill>
                          <a:latin typeface="Calibri"/>
                        </a:rPr>
                        <a:t>Loss</a:t>
                      </a:r>
                    </a:p>
                  </a:txBody>
                  <a:tcPr marT="27432" marB="27432" marL="54864" marR="54864">
                    <a:solidFill>
                      <a:srgbClr val="FFFFFF"/>
                    </a:solidFill>
                  </a:tcPr>
                </a:tc>
                <a:tc>
                  <a:txBody>
                    <a:bodyPr/>
                    <a:lstStyle/>
                    <a:p>
                      <a:pPr algn="ctr"/>
                      <a:r>
                        <a:rPr sz="1100" b="0">
                          <a:solidFill>
                            <a:srgbClr val="202020"/>
                          </a:solidFill>
                          <a:latin typeface="Calibri"/>
                        </a:rPr>
                        <a:t>Sparse categorical cross-entropy with balanced class weights</a:t>
                      </a:r>
                    </a:p>
                  </a:txBody>
                  <a:tcPr marT="27432" marB="27432" marL="54864" marR="54864">
                    <a:solidFill>
                      <a:srgbClr val="FFFFFF"/>
                    </a:solidFill>
                  </a:tcPr>
                </a:tc>
              </a:tr>
              <a:tr h="246888">
                <a:tc>
                  <a:txBody>
                    <a:bodyPr/>
                    <a:lstStyle/>
                    <a:p>
                      <a:pPr algn="l"/>
                      <a:r>
                        <a:rPr sz="1100" b="1">
                          <a:solidFill>
                            <a:srgbClr val="202020"/>
                          </a:solidFill>
                          <a:latin typeface="Calibri"/>
                        </a:rPr>
                        <a:t>Class weights (N, S, V, F, Q)</a:t>
                      </a:r>
                    </a:p>
                  </a:txBody>
                  <a:tcPr marT="27432" marB="27432" marL="54864" marR="54864">
                    <a:solidFill>
                      <a:srgbClr val="F2F2F2"/>
                    </a:solidFill>
                  </a:tcPr>
                </a:tc>
                <a:tc>
                  <a:txBody>
                    <a:bodyPr/>
                    <a:lstStyle/>
                    <a:p>
                      <a:pPr algn="ctr"/>
                      <a:r>
                        <a:rPr sz="1100" b="0">
                          <a:solidFill>
                            <a:srgbClr val="202020"/>
                          </a:solidFill>
                          <a:latin typeface="Calibri"/>
                        </a:rPr>
                        <a:t>0.24, 7.88, 3.03, 27.31, 2.72 (F:N ≈ 113:1)</a:t>
                      </a:r>
                    </a:p>
                  </a:txBody>
                  <a:tcPr marT="27432" marB="27432" marL="54864" marR="54864">
                    <a:solidFill>
                      <a:srgbClr val="F2F2F2"/>
                    </a:solidFill>
                  </a:tcPr>
                </a:tc>
              </a:tr>
              <a:tr h="246888">
                <a:tc>
                  <a:txBody>
                    <a:bodyPr/>
                    <a:lstStyle/>
                    <a:p>
                      <a:pPr algn="l"/>
                      <a:r>
                        <a:rPr sz="1100" b="1">
                          <a:solidFill>
                            <a:srgbClr val="202020"/>
                          </a:solidFill>
                          <a:latin typeface="Calibri"/>
                        </a:rPr>
                        <a:t>Batch size / maximum epochs</a:t>
                      </a:r>
                    </a:p>
                  </a:txBody>
                  <a:tcPr marT="27432" marB="27432" marL="54864" marR="54864">
                    <a:solidFill>
                      <a:srgbClr val="FFFFFF"/>
                    </a:solidFill>
                  </a:tcPr>
                </a:tc>
                <a:tc>
                  <a:txBody>
                    <a:bodyPr/>
                    <a:lstStyle/>
                    <a:p>
                      <a:pPr algn="ctr"/>
                      <a:r>
                        <a:rPr sz="1100" b="0">
                          <a:solidFill>
                            <a:srgbClr val="202020"/>
                          </a:solidFill>
                          <a:latin typeface="Calibri"/>
                        </a:rPr>
                        <a:t>128 / 30</a:t>
                      </a:r>
                    </a:p>
                  </a:txBody>
                  <a:tcPr marT="27432" marB="27432" marL="54864" marR="54864">
                    <a:solidFill>
                      <a:srgbClr val="FFFFFF"/>
                    </a:solidFill>
                  </a:tcPr>
                </a:tc>
              </a:tr>
              <a:tr h="246888">
                <a:tc>
                  <a:txBody>
                    <a:bodyPr/>
                    <a:lstStyle/>
                    <a:p>
                      <a:pPr algn="l"/>
                      <a:r>
                        <a:rPr sz="1100" b="1">
                          <a:solidFill>
                            <a:srgbClr val="202020"/>
                          </a:solidFill>
                          <a:latin typeface="Calibri"/>
                        </a:rPr>
                        <a:t>Early stopping</a:t>
                      </a:r>
                    </a:p>
                  </a:txBody>
                  <a:tcPr marT="27432" marB="27432" marL="54864" marR="54864">
                    <a:solidFill>
                      <a:srgbClr val="F2F2F2"/>
                    </a:solidFill>
                  </a:tcPr>
                </a:tc>
                <a:tc>
                  <a:txBody>
                    <a:bodyPr/>
                    <a:lstStyle/>
                    <a:p>
                      <a:pPr algn="ctr"/>
                      <a:r>
                        <a:rPr sz="1100" b="0">
                          <a:solidFill>
                            <a:srgbClr val="202020"/>
                          </a:solidFill>
                          <a:latin typeface="Calibri"/>
                        </a:rPr>
                        <a:t>Validation loss, patience 6, best weights restored</a:t>
                      </a:r>
                    </a:p>
                  </a:txBody>
                  <a:tcPr marT="27432" marB="27432" marL="54864" marR="54864">
                    <a:solidFill>
                      <a:srgbClr val="F2F2F2"/>
                    </a:solidFill>
                  </a:tcPr>
                </a:tc>
              </a:tr>
              <a:tr h="246888">
                <a:tc>
                  <a:txBody>
                    <a:bodyPr/>
                    <a:lstStyle/>
                    <a:p>
                      <a:pPr algn="l"/>
                      <a:r>
                        <a:rPr sz="1100" b="1">
                          <a:solidFill>
                            <a:srgbClr val="202020"/>
                          </a:solidFill>
                          <a:latin typeface="Calibri"/>
                        </a:rPr>
                        <a:t>Learning-rate schedule</a:t>
                      </a:r>
                    </a:p>
                  </a:txBody>
                  <a:tcPr marT="27432" marB="27432" marL="54864" marR="54864">
                    <a:solidFill>
                      <a:srgbClr val="FFFFFF"/>
                    </a:solidFill>
                  </a:tcPr>
                </a:tc>
                <a:tc>
                  <a:txBody>
                    <a:bodyPr/>
                    <a:lstStyle/>
                    <a:p>
                      <a:pPr algn="ctr"/>
                      <a:r>
                        <a:rPr sz="1100" b="0">
                          <a:solidFill>
                            <a:srgbClr val="202020"/>
                          </a:solidFill>
                          <a:latin typeface="Calibri"/>
                        </a:rPr>
                        <a:t>ReduceLROnPlateau on validation loss, factor 0.5, patience 3, min 10⁻⁵</a:t>
                      </a:r>
                    </a:p>
                  </a:txBody>
                  <a:tcPr marT="27432" marB="27432" marL="54864" marR="54864">
                    <a:solidFill>
                      <a:srgbClr val="FFFFFF"/>
                    </a:solidFill>
                  </a:tcPr>
                </a:tc>
              </a:tr>
              <a:tr h="246888">
                <a:tc>
                  <a:txBody>
                    <a:bodyPr/>
                    <a:lstStyle/>
                    <a:p>
                      <a:pPr algn="l"/>
                      <a:r>
                        <a:rPr sz="1100" b="1">
                          <a:solidFill>
                            <a:srgbClr val="202020"/>
                          </a:solidFill>
                          <a:latin typeface="Calibri"/>
                        </a:rPr>
                        <a:t>Augmentation / random seed</a:t>
                      </a:r>
                    </a:p>
                  </a:txBody>
                  <a:tcPr marT="27432" marB="27432" marL="54864" marR="54864">
                    <a:solidFill>
                      <a:srgbClr val="F2F2F2"/>
                    </a:solidFill>
                  </a:tcPr>
                </a:tc>
                <a:tc>
                  <a:txBody>
                    <a:bodyPr/>
                    <a:lstStyle/>
                    <a:p>
                      <a:pPr algn="ctr"/>
                      <a:r>
                        <a:rPr sz="1100" b="0">
                          <a:solidFill>
                            <a:srgbClr val="202020"/>
                          </a:solidFill>
                          <a:latin typeface="Calibri"/>
                        </a:rPr>
                        <a:t>None / 42 (Python, NumPy, TensorFlow)</a:t>
                      </a:r>
                    </a:p>
                  </a:txBody>
                  <a:tcPr marT="27432" marB="27432" marL="54864" marR="54864">
                    <a:solidFill>
                      <a:srgbClr val="F2F2F2"/>
                    </a:solidFill>
                  </a:tcPr>
                </a:tc>
              </a:tr>
            </a:tbl>
          </a:graphicData>
        </a:graphic>
      </p:graphicFrame>
      <p:sp>
        <p:nvSpPr>
          <p:cNvPr id="17" name="TextBox 16"/>
          <p:cNvSpPr txBox="1"/>
          <p:nvPr/>
        </p:nvSpPr>
        <p:spPr>
          <a:xfrm>
            <a:off x="502920" y="5532120"/>
            <a:ext cx="8138160" cy="274320"/>
          </a:xfrm>
          <a:prstGeom prst="rect">
            <a:avLst/>
          </a:prstGeom>
          <a:noFill/>
        </p:spPr>
        <p:txBody>
          <a:bodyPr wrap="square" lIns="0" tIns="0" rIns="0" bIns="0">
            <a:spAutoFit/>
          </a:bodyPr>
          <a:lstStyle/>
          <a:p>
            <a:pPr algn="l"/>
            <a:r>
              <a:rPr sz="1100" b="0" i="1">
                <a:solidFill>
                  <a:srgbClr val="595959"/>
                </a:solidFill>
                <a:latin typeface="Calibri"/>
              </a:rPr>
              <a:t>Class weights w_c = N / (K·n_c). Training stopped after 17 epochs and the weights of epoch 11 were restored.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V1 Result: Baseline 1D CNN</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2"/>
          <a:stretch>
            <a:fillRect/>
          </a:stretch>
        </p:blipFill>
        <p:spPr>
          <a:xfrm>
            <a:off x="822960" y="1005840"/>
            <a:ext cx="7498079" cy="2919236"/>
          </a:xfrm>
          <a:prstGeom prst="rect">
            <a:avLst/>
          </a:prstGeom>
        </p:spPr>
      </p:pic>
      <p:graphicFrame>
        <p:nvGraphicFramePr>
          <p:cNvPr id="16" name="Table 15"/>
          <p:cNvGraphicFramePr>
            <a:graphicFrameLocks noGrp="1"/>
          </p:cNvGraphicFramePr>
          <p:nvPr/>
        </p:nvGraphicFramePr>
        <p:xfrm>
          <a:off x="502920" y="4069080"/>
          <a:ext cx="4023360" cy="1728216"/>
        </p:xfrm>
        <a:graphic>
          <a:graphicData uri="http://schemas.openxmlformats.org/drawingml/2006/table">
            <a:tbl>
              <a:tblPr firstRow="1" bandRow="1">
                <a:tableStyleId>{5C22544A-7EE6-4342-B048-85BDC9FD1C3A}</a:tableStyleId>
              </a:tblPr>
              <a:tblGrid>
                <a:gridCol w="731520"/>
                <a:gridCol w="822960"/>
                <a:gridCol w="822960"/>
                <a:gridCol w="822960"/>
                <a:gridCol w="822960"/>
              </a:tblGrid>
              <a:tr h="246888">
                <a:tc>
                  <a:txBody>
                    <a:bodyPr/>
                    <a:lstStyle/>
                    <a:p>
                      <a:pPr algn="l"/>
                      <a:r>
                        <a:rPr sz="1100" b="1">
                          <a:solidFill>
                            <a:srgbClr val="FFFFFF"/>
                          </a:solidFill>
                          <a:latin typeface="Calibri"/>
                        </a:rPr>
                        <a:t>Class</a:t>
                      </a:r>
                    </a:p>
                  </a:txBody>
                  <a:tcPr marT="27432" marB="27432" marL="54864" marR="54864">
                    <a:solidFill>
                      <a:srgbClr val="1F3864"/>
                    </a:solidFill>
                  </a:tcPr>
                </a:tc>
                <a:tc>
                  <a:txBody>
                    <a:bodyPr/>
                    <a:lstStyle/>
                    <a:p>
                      <a:pPr algn="ctr"/>
                      <a:r>
                        <a:rPr sz="1100" b="1">
                          <a:solidFill>
                            <a:srgbClr val="FFFFFF"/>
                          </a:solidFill>
                          <a:latin typeface="Calibri"/>
                        </a:rPr>
                        <a:t>Precision</a:t>
                      </a:r>
                    </a:p>
                  </a:txBody>
                  <a:tcPr marT="27432" marB="27432" marL="54864" marR="54864">
                    <a:solidFill>
                      <a:srgbClr val="1F3864"/>
                    </a:solidFill>
                  </a:tcPr>
                </a:tc>
                <a:tc>
                  <a:txBody>
                    <a:bodyPr/>
                    <a:lstStyle/>
                    <a:p>
                      <a:pPr algn="ctr"/>
                      <a:r>
                        <a:rPr sz="1100" b="1">
                          <a:solidFill>
                            <a:srgbClr val="FFFFFF"/>
                          </a:solidFill>
                          <a:latin typeface="Calibri"/>
                        </a:rPr>
                        <a:t>Recall</a:t>
                      </a:r>
                    </a:p>
                  </a:txBody>
                  <a:tcPr marT="27432" marB="27432" marL="54864" marR="54864">
                    <a:solidFill>
                      <a:srgbClr val="1F3864"/>
                    </a:solidFill>
                  </a:tcPr>
                </a:tc>
                <a:tc>
                  <a:txBody>
                    <a:bodyPr/>
                    <a:lstStyle/>
                    <a:p>
                      <a:pPr algn="ctr"/>
                      <a:r>
                        <a:rPr sz="1100" b="1">
                          <a:solidFill>
                            <a:srgbClr val="FFFFFF"/>
                          </a:solidFill>
                          <a:latin typeface="Calibri"/>
                        </a:rPr>
                        <a:t>F1</a:t>
                      </a:r>
                    </a:p>
                  </a:txBody>
                  <a:tcPr marT="27432" marB="27432" marL="54864" marR="54864">
                    <a:solidFill>
                      <a:srgbClr val="1F3864"/>
                    </a:solidFill>
                  </a:tcPr>
                </a:tc>
                <a:tc>
                  <a:txBody>
                    <a:bodyPr/>
                    <a:lstStyle/>
                    <a:p>
                      <a:pPr algn="ctr"/>
                      <a:r>
                        <a:rPr sz="1100" b="1">
                          <a:solidFill>
                            <a:srgbClr val="FFFFFF"/>
                          </a:solidFill>
                          <a:latin typeface="Calibri"/>
                        </a:rPr>
                        <a:t>Beats</a:t>
                      </a:r>
                    </a:p>
                  </a:txBody>
                  <a:tcPr marT="27432" marB="27432" marL="54864" marR="54864">
                    <a:solidFill>
                      <a:srgbClr val="1F3864"/>
                    </a:solidFill>
                  </a:tcPr>
                </a:tc>
              </a:tr>
              <a:tr h="246888">
                <a:tc>
                  <a:txBody>
                    <a:bodyPr/>
                    <a:lstStyle/>
                    <a:p>
                      <a:pPr algn="l"/>
                      <a:r>
                        <a:rPr sz="1100" b="1">
                          <a:solidFill>
                            <a:srgbClr val="202020"/>
                          </a:solidFill>
                          <a:latin typeface="Calibri"/>
                        </a:rPr>
                        <a:t>N</a:t>
                      </a:r>
                    </a:p>
                  </a:txBody>
                  <a:tcPr marT="27432" marB="27432" marL="54864" marR="54864">
                    <a:solidFill>
                      <a:srgbClr val="F2F2F2"/>
                    </a:solidFill>
                  </a:tcPr>
                </a:tc>
                <a:tc>
                  <a:txBody>
                    <a:bodyPr/>
                    <a:lstStyle/>
                    <a:p>
                      <a:pPr algn="ctr"/>
                      <a:r>
                        <a:rPr sz="1100" b="0">
                          <a:solidFill>
                            <a:srgbClr val="202020"/>
                          </a:solidFill>
                          <a:latin typeface="Calibri"/>
                        </a:rPr>
                        <a:t>0.9813</a:t>
                      </a:r>
                    </a:p>
                  </a:txBody>
                  <a:tcPr marT="27432" marB="27432" marL="54864" marR="54864">
                    <a:solidFill>
                      <a:srgbClr val="F2F2F2"/>
                    </a:solidFill>
                  </a:tcPr>
                </a:tc>
                <a:tc>
                  <a:txBody>
                    <a:bodyPr/>
                    <a:lstStyle/>
                    <a:p>
                      <a:pPr algn="ctr"/>
                      <a:r>
                        <a:rPr sz="1100" b="0">
                          <a:solidFill>
                            <a:srgbClr val="202020"/>
                          </a:solidFill>
                          <a:latin typeface="Calibri"/>
                        </a:rPr>
                        <a:t>0.9594</a:t>
                      </a:r>
                    </a:p>
                  </a:txBody>
                  <a:tcPr marT="27432" marB="27432" marL="54864" marR="54864">
                    <a:solidFill>
                      <a:srgbClr val="F2F2F2"/>
                    </a:solidFill>
                  </a:tcPr>
                </a:tc>
                <a:tc>
                  <a:txBody>
                    <a:bodyPr/>
                    <a:lstStyle/>
                    <a:p>
                      <a:pPr algn="ctr"/>
                      <a:r>
                        <a:rPr sz="1100" b="0">
                          <a:solidFill>
                            <a:srgbClr val="202020"/>
                          </a:solidFill>
                          <a:latin typeface="Calibri"/>
                        </a:rPr>
                        <a:t>0.9702</a:t>
                      </a:r>
                    </a:p>
                  </a:txBody>
                  <a:tcPr marT="27432" marB="27432" marL="54864" marR="54864">
                    <a:solidFill>
                      <a:srgbClr val="F2F2F2"/>
                    </a:solidFill>
                  </a:tcPr>
                </a:tc>
                <a:tc>
                  <a:txBody>
                    <a:bodyPr/>
                    <a:lstStyle/>
                    <a:p>
                      <a:pPr algn="ctr"/>
                      <a:r>
                        <a:rPr sz="1100" b="0">
                          <a:solidFill>
                            <a:srgbClr val="202020"/>
                          </a:solidFill>
                          <a:latin typeface="Calibri"/>
                        </a:rPr>
                        <a:t>18,118</a:t>
                      </a:r>
                    </a:p>
                  </a:txBody>
                  <a:tcPr marT="27432" marB="27432" marL="54864" marR="54864">
                    <a:solidFill>
                      <a:srgbClr val="F2F2F2"/>
                    </a:solidFill>
                  </a:tcPr>
                </a:tc>
              </a:tr>
              <a:tr h="246888">
                <a:tc>
                  <a:txBody>
                    <a:bodyPr/>
                    <a:lstStyle/>
                    <a:p>
                      <a:pPr algn="l"/>
                      <a:r>
                        <a:rPr sz="1100" b="1">
                          <a:solidFill>
                            <a:srgbClr val="202020"/>
                          </a:solidFill>
                          <a:latin typeface="Calibri"/>
                        </a:rPr>
                        <a:t>S</a:t>
                      </a:r>
                    </a:p>
                  </a:txBody>
                  <a:tcPr marT="27432" marB="27432" marL="54864" marR="54864">
                    <a:solidFill>
                      <a:srgbClr val="FFFFFF"/>
                    </a:solidFill>
                  </a:tcPr>
                </a:tc>
                <a:tc>
                  <a:txBody>
                    <a:bodyPr/>
                    <a:lstStyle/>
                    <a:p>
                      <a:pPr algn="ctr"/>
                      <a:r>
                        <a:rPr sz="1100" b="0">
                          <a:solidFill>
                            <a:srgbClr val="202020"/>
                          </a:solidFill>
                          <a:latin typeface="Calibri"/>
                        </a:rPr>
                        <a:t>0.5586</a:t>
                      </a:r>
                    </a:p>
                  </a:txBody>
                  <a:tcPr marT="27432" marB="27432" marL="54864" marR="54864">
                    <a:solidFill>
                      <a:srgbClr val="FFFFFF"/>
                    </a:solidFill>
                  </a:tcPr>
                </a:tc>
                <a:tc>
                  <a:txBody>
                    <a:bodyPr/>
                    <a:lstStyle/>
                    <a:p>
                      <a:pPr algn="ctr"/>
                      <a:r>
                        <a:rPr sz="1100" b="0">
                          <a:solidFill>
                            <a:srgbClr val="202020"/>
                          </a:solidFill>
                          <a:latin typeface="Calibri"/>
                        </a:rPr>
                        <a:t>0.6691</a:t>
                      </a:r>
                    </a:p>
                  </a:txBody>
                  <a:tcPr marT="27432" marB="27432" marL="54864" marR="54864">
                    <a:solidFill>
                      <a:srgbClr val="FFFFFF"/>
                    </a:solidFill>
                  </a:tcPr>
                </a:tc>
                <a:tc>
                  <a:txBody>
                    <a:bodyPr/>
                    <a:lstStyle/>
                    <a:p>
                      <a:pPr algn="ctr"/>
                      <a:r>
                        <a:rPr sz="1100" b="0">
                          <a:solidFill>
                            <a:srgbClr val="202020"/>
                          </a:solidFill>
                          <a:latin typeface="Calibri"/>
                        </a:rPr>
                        <a:t>0.6088</a:t>
                      </a:r>
                    </a:p>
                  </a:txBody>
                  <a:tcPr marT="27432" marB="27432" marL="54864" marR="54864">
                    <a:solidFill>
                      <a:srgbClr val="FFFFFF"/>
                    </a:solidFill>
                  </a:tcPr>
                </a:tc>
                <a:tc>
                  <a:txBody>
                    <a:bodyPr/>
                    <a:lstStyle/>
                    <a:p>
                      <a:pPr algn="ctr"/>
                      <a:r>
                        <a:rPr sz="1100" b="0">
                          <a:solidFill>
                            <a:srgbClr val="202020"/>
                          </a:solidFill>
                          <a:latin typeface="Calibri"/>
                        </a:rPr>
                        <a:t>556</a:t>
                      </a:r>
                    </a:p>
                  </a:txBody>
                  <a:tcPr marT="27432" marB="27432" marL="54864" marR="54864">
                    <a:solidFill>
                      <a:srgbClr val="FFFFFF"/>
                    </a:solidFill>
                  </a:tcPr>
                </a:tc>
              </a:tr>
              <a:tr h="246888">
                <a:tc>
                  <a:txBody>
                    <a:bodyPr/>
                    <a:lstStyle/>
                    <a:p>
                      <a:pPr algn="l"/>
                      <a:r>
                        <a:rPr sz="1100" b="1">
                          <a:solidFill>
                            <a:srgbClr val="202020"/>
                          </a:solidFill>
                          <a:latin typeface="Calibri"/>
                        </a:rPr>
                        <a:t>V</a:t>
                      </a:r>
                    </a:p>
                  </a:txBody>
                  <a:tcPr marT="27432" marB="27432" marL="54864" marR="54864">
                    <a:solidFill>
                      <a:srgbClr val="F2F2F2"/>
                    </a:solidFill>
                  </a:tcPr>
                </a:tc>
                <a:tc>
                  <a:txBody>
                    <a:bodyPr/>
                    <a:lstStyle/>
                    <a:p>
                      <a:pPr algn="ctr"/>
                      <a:r>
                        <a:rPr sz="1100" b="0">
                          <a:solidFill>
                            <a:srgbClr val="202020"/>
                          </a:solidFill>
                          <a:latin typeface="Calibri"/>
                        </a:rPr>
                        <a:t>0.8713</a:t>
                      </a:r>
                    </a:p>
                  </a:txBody>
                  <a:tcPr marT="27432" marB="27432" marL="54864" marR="54864">
                    <a:solidFill>
                      <a:srgbClr val="F2F2F2"/>
                    </a:solidFill>
                  </a:tcPr>
                </a:tc>
                <a:tc>
                  <a:txBody>
                    <a:bodyPr/>
                    <a:lstStyle/>
                    <a:p>
                      <a:pPr algn="ctr"/>
                      <a:r>
                        <a:rPr sz="1100" b="0">
                          <a:solidFill>
                            <a:srgbClr val="202020"/>
                          </a:solidFill>
                          <a:latin typeface="Calibri"/>
                        </a:rPr>
                        <a:t>0.8605</a:t>
                      </a:r>
                    </a:p>
                  </a:txBody>
                  <a:tcPr marT="27432" marB="27432" marL="54864" marR="54864">
                    <a:solidFill>
                      <a:srgbClr val="F2F2F2"/>
                    </a:solidFill>
                  </a:tcPr>
                </a:tc>
                <a:tc>
                  <a:txBody>
                    <a:bodyPr/>
                    <a:lstStyle/>
                    <a:p>
                      <a:pPr algn="ctr"/>
                      <a:r>
                        <a:rPr sz="1100" b="0">
                          <a:solidFill>
                            <a:srgbClr val="202020"/>
                          </a:solidFill>
                          <a:latin typeface="Calibri"/>
                        </a:rPr>
                        <a:t>0.8659</a:t>
                      </a:r>
                    </a:p>
                  </a:txBody>
                  <a:tcPr marT="27432" marB="27432" marL="54864" marR="54864">
                    <a:solidFill>
                      <a:srgbClr val="F2F2F2"/>
                    </a:solidFill>
                  </a:tcPr>
                </a:tc>
                <a:tc>
                  <a:txBody>
                    <a:bodyPr/>
                    <a:lstStyle/>
                    <a:p>
                      <a:pPr algn="ctr"/>
                      <a:r>
                        <a:rPr sz="1100" b="0">
                          <a:solidFill>
                            <a:srgbClr val="202020"/>
                          </a:solidFill>
                          <a:latin typeface="Calibri"/>
                        </a:rPr>
                        <a:t>1,448</a:t>
                      </a:r>
                    </a:p>
                  </a:txBody>
                  <a:tcPr marT="27432" marB="27432" marL="54864" marR="54864">
                    <a:solidFill>
                      <a:srgbClr val="F2F2F2"/>
                    </a:solidFill>
                  </a:tcPr>
                </a:tc>
              </a:tr>
              <a:tr h="246888">
                <a:tc>
                  <a:txBody>
                    <a:bodyPr/>
                    <a:lstStyle/>
                    <a:p>
                      <a:pPr algn="l"/>
                      <a:r>
                        <a:rPr sz="1100" b="1">
                          <a:solidFill>
                            <a:srgbClr val="202020"/>
                          </a:solidFill>
                          <a:latin typeface="Calibri"/>
                        </a:rPr>
                        <a:t>F</a:t>
                      </a:r>
                    </a:p>
                  </a:txBody>
                  <a:tcPr marT="27432" marB="27432" marL="54864" marR="54864">
                    <a:solidFill>
                      <a:srgbClr val="FFFFFF"/>
                    </a:solidFill>
                  </a:tcPr>
                </a:tc>
                <a:tc>
                  <a:txBody>
                    <a:bodyPr/>
                    <a:lstStyle/>
                    <a:p>
                      <a:pPr algn="ctr"/>
                      <a:r>
                        <a:rPr sz="1100" b="0">
                          <a:solidFill>
                            <a:srgbClr val="202020"/>
                          </a:solidFill>
                          <a:latin typeface="Calibri"/>
                        </a:rPr>
                        <a:t>0.2602</a:t>
                      </a:r>
                    </a:p>
                  </a:txBody>
                  <a:tcPr marT="27432" marB="27432" marL="54864" marR="54864">
                    <a:solidFill>
                      <a:srgbClr val="FFFFFF"/>
                    </a:solidFill>
                  </a:tcPr>
                </a:tc>
                <a:tc>
                  <a:txBody>
                    <a:bodyPr/>
                    <a:lstStyle/>
                    <a:p>
                      <a:pPr algn="ctr"/>
                      <a:r>
                        <a:rPr sz="1100" b="0">
                          <a:solidFill>
                            <a:srgbClr val="202020"/>
                          </a:solidFill>
                          <a:latin typeface="Calibri"/>
                        </a:rPr>
                        <a:t>0.8642</a:t>
                      </a:r>
                    </a:p>
                  </a:txBody>
                  <a:tcPr marT="27432" marB="27432" marL="54864" marR="54864">
                    <a:solidFill>
                      <a:srgbClr val="FFFFFF"/>
                    </a:solidFill>
                  </a:tcPr>
                </a:tc>
                <a:tc>
                  <a:txBody>
                    <a:bodyPr/>
                    <a:lstStyle/>
                    <a:p>
                      <a:pPr algn="ctr"/>
                      <a:r>
                        <a:rPr sz="1100" b="0">
                          <a:solidFill>
                            <a:srgbClr val="202020"/>
                          </a:solidFill>
                          <a:latin typeface="Calibri"/>
                        </a:rPr>
                        <a:t>0.4000</a:t>
                      </a:r>
                    </a:p>
                  </a:txBody>
                  <a:tcPr marT="27432" marB="27432" marL="54864" marR="54864">
                    <a:solidFill>
                      <a:srgbClr val="FFFFFF"/>
                    </a:solidFill>
                  </a:tcPr>
                </a:tc>
                <a:tc>
                  <a:txBody>
                    <a:bodyPr/>
                    <a:lstStyle/>
                    <a:p>
                      <a:pPr algn="ctr"/>
                      <a:r>
                        <a:rPr sz="1100" b="0">
                          <a:solidFill>
                            <a:srgbClr val="202020"/>
                          </a:solidFill>
                          <a:latin typeface="Calibri"/>
                        </a:rPr>
                        <a:t>162</a:t>
                      </a:r>
                    </a:p>
                  </a:txBody>
                  <a:tcPr marT="27432" marB="27432" marL="54864" marR="54864">
                    <a:solidFill>
                      <a:srgbClr val="FFFFFF"/>
                    </a:solidFill>
                  </a:tcPr>
                </a:tc>
              </a:tr>
              <a:tr h="246888">
                <a:tc>
                  <a:txBody>
                    <a:bodyPr/>
                    <a:lstStyle/>
                    <a:p>
                      <a:pPr algn="l"/>
                      <a:r>
                        <a:rPr sz="1100" b="1">
                          <a:solidFill>
                            <a:srgbClr val="202020"/>
                          </a:solidFill>
                          <a:latin typeface="Calibri"/>
                        </a:rPr>
                        <a:t>Q</a:t>
                      </a:r>
                    </a:p>
                  </a:txBody>
                  <a:tcPr marT="27432" marB="27432" marL="54864" marR="54864">
                    <a:solidFill>
                      <a:srgbClr val="F2F2F2"/>
                    </a:solidFill>
                  </a:tcPr>
                </a:tc>
                <a:tc>
                  <a:txBody>
                    <a:bodyPr/>
                    <a:lstStyle/>
                    <a:p>
                      <a:pPr algn="ctr"/>
                      <a:r>
                        <a:rPr sz="1100" b="0">
                          <a:solidFill>
                            <a:srgbClr val="202020"/>
                          </a:solidFill>
                          <a:latin typeface="Calibri"/>
                        </a:rPr>
                        <a:t>0.9896</a:t>
                      </a:r>
                    </a:p>
                  </a:txBody>
                  <a:tcPr marT="27432" marB="27432" marL="54864" marR="54864">
                    <a:solidFill>
                      <a:srgbClr val="F2F2F2"/>
                    </a:solidFill>
                  </a:tcPr>
                </a:tc>
                <a:tc>
                  <a:txBody>
                    <a:bodyPr/>
                    <a:lstStyle/>
                    <a:p>
                      <a:pPr algn="ctr"/>
                      <a:r>
                        <a:rPr sz="1100" b="0">
                          <a:solidFill>
                            <a:srgbClr val="202020"/>
                          </a:solidFill>
                          <a:latin typeface="Calibri"/>
                        </a:rPr>
                        <a:t>0.9502</a:t>
                      </a:r>
                    </a:p>
                  </a:txBody>
                  <a:tcPr marT="27432" marB="27432" marL="54864" marR="54864">
                    <a:solidFill>
                      <a:srgbClr val="F2F2F2"/>
                    </a:solidFill>
                  </a:tcPr>
                </a:tc>
                <a:tc>
                  <a:txBody>
                    <a:bodyPr/>
                    <a:lstStyle/>
                    <a:p>
                      <a:pPr algn="ctr"/>
                      <a:r>
                        <a:rPr sz="1100" b="0">
                          <a:solidFill>
                            <a:srgbClr val="202020"/>
                          </a:solidFill>
                          <a:latin typeface="Calibri"/>
                        </a:rPr>
                        <a:t>0.9695</a:t>
                      </a:r>
                    </a:p>
                  </a:txBody>
                  <a:tcPr marT="27432" marB="27432" marL="54864" marR="54864">
                    <a:solidFill>
                      <a:srgbClr val="F2F2F2"/>
                    </a:solidFill>
                  </a:tcPr>
                </a:tc>
                <a:tc>
                  <a:txBody>
                    <a:bodyPr/>
                    <a:lstStyle/>
                    <a:p>
                      <a:pPr algn="ctr"/>
                      <a:r>
                        <a:rPr sz="1100" b="0">
                          <a:solidFill>
                            <a:srgbClr val="202020"/>
                          </a:solidFill>
                          <a:latin typeface="Calibri"/>
                        </a:rPr>
                        <a:t>1,608</a:t>
                      </a:r>
                    </a:p>
                  </a:txBody>
                  <a:tcPr marT="27432" marB="27432" marL="54864" marR="54864">
                    <a:solidFill>
                      <a:srgbClr val="F2F2F2"/>
                    </a:solidFill>
                  </a:tcPr>
                </a:tc>
              </a:tr>
              <a:tr h="246888">
                <a:tc>
                  <a:txBody>
                    <a:bodyPr/>
                    <a:lstStyle/>
                    <a:p>
                      <a:pPr algn="l"/>
                      <a:r>
                        <a:rPr sz="1100" b="1">
                          <a:solidFill>
                            <a:srgbClr val="202020"/>
                          </a:solidFill>
                          <a:latin typeface="Calibri"/>
                        </a:rPr>
                        <a:t>Macro</a:t>
                      </a:r>
                    </a:p>
                  </a:txBody>
                  <a:tcPr marT="27432" marB="27432" marL="54864" marR="54864">
                    <a:solidFill>
                      <a:srgbClr val="FCE4D6"/>
                    </a:solidFill>
                  </a:tcPr>
                </a:tc>
                <a:tc>
                  <a:txBody>
                    <a:bodyPr/>
                    <a:lstStyle/>
                    <a:p>
                      <a:pPr algn="ctr"/>
                      <a:r>
                        <a:rPr sz="1100" b="1">
                          <a:solidFill>
                            <a:srgbClr val="202020"/>
                          </a:solidFill>
                          <a:latin typeface="Calibri"/>
                        </a:rPr>
                        <a:t>0.7322</a:t>
                      </a:r>
                    </a:p>
                  </a:txBody>
                  <a:tcPr marT="27432" marB="27432" marL="54864" marR="54864">
                    <a:solidFill>
                      <a:srgbClr val="FCE4D6"/>
                    </a:solidFill>
                  </a:tcPr>
                </a:tc>
                <a:tc>
                  <a:txBody>
                    <a:bodyPr/>
                    <a:lstStyle/>
                    <a:p>
                      <a:pPr algn="ctr"/>
                      <a:r>
                        <a:rPr sz="1100" b="1">
                          <a:solidFill>
                            <a:srgbClr val="202020"/>
                          </a:solidFill>
                          <a:latin typeface="Calibri"/>
                        </a:rPr>
                        <a:t>0.8607</a:t>
                      </a:r>
                    </a:p>
                  </a:txBody>
                  <a:tcPr marT="27432" marB="27432" marL="54864" marR="54864">
                    <a:solidFill>
                      <a:srgbClr val="FCE4D6"/>
                    </a:solidFill>
                  </a:tcPr>
                </a:tc>
                <a:tc>
                  <a:txBody>
                    <a:bodyPr/>
                    <a:lstStyle/>
                    <a:p>
                      <a:pPr algn="ctr"/>
                      <a:r>
                        <a:rPr sz="1100" b="1">
                          <a:solidFill>
                            <a:srgbClr val="202020"/>
                          </a:solidFill>
                          <a:latin typeface="Calibri"/>
                        </a:rPr>
                        <a:t>0.7629</a:t>
                      </a:r>
                    </a:p>
                  </a:txBody>
                  <a:tcPr marT="27432" marB="27432" marL="54864" marR="54864">
                    <a:solidFill>
                      <a:srgbClr val="FCE4D6"/>
                    </a:solidFill>
                  </a:tcPr>
                </a:tc>
                <a:tc>
                  <a:txBody>
                    <a:bodyPr/>
                    <a:lstStyle/>
                    <a:p>
                      <a:pPr algn="ctr"/>
                      <a:r>
                        <a:rPr sz="1100" b="1">
                          <a:solidFill>
                            <a:srgbClr val="202020"/>
                          </a:solidFill>
                          <a:latin typeface="Calibri"/>
                        </a:rPr>
                        <a:t>21,892</a:t>
                      </a:r>
                    </a:p>
                  </a:txBody>
                  <a:tcPr marT="27432" marB="27432" marL="54864" marR="54864">
                    <a:solidFill>
                      <a:srgbClr val="FCE4D6"/>
                    </a:solidFill>
                  </a:tcPr>
                </a:tc>
              </a:tr>
            </a:tbl>
          </a:graphicData>
        </a:graphic>
      </p:graphicFrame>
      <p:sp>
        <p:nvSpPr>
          <p:cNvPr id="17" name="TextBox 16"/>
          <p:cNvSpPr txBox="1"/>
          <p:nvPr/>
        </p:nvSpPr>
        <p:spPr>
          <a:xfrm>
            <a:off x="4709160" y="4023360"/>
            <a:ext cx="3931920" cy="320040"/>
          </a:xfrm>
          <a:prstGeom prst="rect">
            <a:avLst/>
          </a:prstGeom>
          <a:noFill/>
        </p:spPr>
        <p:txBody>
          <a:bodyPr wrap="square" lIns="0" tIns="0" rIns="0" bIns="0">
            <a:spAutoFit/>
          </a:bodyPr>
          <a:lstStyle/>
          <a:p>
            <a:pPr algn="l"/>
            <a:r>
              <a:rPr sz="1400" b="1" i="0">
                <a:solidFill>
                  <a:srgbClr val="202020"/>
                </a:solidFill>
                <a:latin typeface="Calibri"/>
              </a:rPr>
              <a:t>Accuracy 94.41%  |  Macro F1 76.29%</a:t>
            </a:r>
          </a:p>
        </p:txBody>
      </p:sp>
      <p:sp>
        <p:nvSpPr>
          <p:cNvPr id="18" name="TextBox 17"/>
          <p:cNvSpPr txBox="1"/>
          <p:nvPr/>
        </p:nvSpPr>
        <p:spPr>
          <a:xfrm>
            <a:off x="4709160" y="4407408"/>
            <a:ext cx="3931920" cy="182880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Class weighting gave high rare-class recall (F 86.4%) at the cost of precision.</a:t>
            </a:r>
          </a:p>
          <a:p>
            <a:pPr algn="l">
              <a:spcAft>
                <a:spcPts val="300"/>
              </a:spcAft>
            </a:pPr>
            <a:r>
              <a:rPr sz="1100" b="0" i="0">
                <a:solidFill>
                  <a:srgbClr val="202020"/>
                </a:solidFill>
                <a:latin typeface="Calibri"/>
              </a:rPr>
              <a:t>• Of 538 beats predicted F, only 140 were truly F (293 were N): F precision 26.0%.</a:t>
            </a:r>
          </a:p>
          <a:p>
            <a:pPr algn="l">
              <a:spcAft>
                <a:spcPts val="300"/>
              </a:spcAft>
            </a:pPr>
            <a:r>
              <a:rPr sz="1100" b="0" i="0">
                <a:solidFill>
                  <a:srgbClr val="202020"/>
                </a:solidFill>
                <a:latin typeface="Calibri"/>
              </a:rPr>
              <a:t>• Largest S error: S → N (163 of 556 S beats, 29%).</a:t>
            </a:r>
          </a:p>
          <a:p>
            <a:pPr algn="l">
              <a:spcAft>
                <a:spcPts val="300"/>
              </a:spcAft>
            </a:pPr>
            <a:r>
              <a:rPr sz="1100" b="0" i="0">
                <a:solidFill>
                  <a:srgbClr val="202020"/>
                </a:solidFill>
                <a:latin typeface="Calibri"/>
              </a:rPr>
              <a:t>• Validation accuracy jumped between 14.5% and 95.1% from epoch to epoch.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V1: Training Curves and Per-Class Scores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V1_training_curves.png"/>
          <p:cNvPicPr>
            <a:picLocks noChangeAspect="1"/>
          </p:cNvPicPr>
          <p:nvPr/>
        </p:nvPicPr>
        <p:blipFill>
          <a:blip r:embed="rId2"/>
          <a:stretch>
            <a:fillRect/>
          </a:stretch>
        </p:blipFill>
        <p:spPr>
          <a:xfrm>
            <a:off x="502920" y="1005840"/>
            <a:ext cx="8138160" cy="2667013"/>
          </a:xfrm>
          <a:prstGeom prst="rect">
            <a:avLst/>
          </a:prstGeom>
        </p:spPr>
      </p:pic>
      <p:sp>
        <p:nvSpPr>
          <p:cNvPr id="16" name="TextBox 15"/>
          <p:cNvSpPr txBox="1"/>
          <p:nvPr/>
        </p:nvSpPr>
        <p:spPr>
          <a:xfrm>
            <a:off x="502920" y="3657600"/>
            <a:ext cx="8138160" cy="274320"/>
          </a:xfrm>
          <a:prstGeom prst="rect">
            <a:avLst/>
          </a:prstGeom>
          <a:noFill/>
        </p:spPr>
        <p:txBody>
          <a:bodyPr wrap="square" lIns="0" tIns="0" rIns="0" bIns="0">
            <a:spAutoFit/>
          </a:bodyPr>
          <a:lstStyle/>
          <a:p>
            <a:pPr algn="ctr"/>
            <a:r>
              <a:rPr sz="1000" b="0" i="1">
                <a:solidFill>
                  <a:srgbClr val="595959"/>
                </a:solidFill>
                <a:latin typeface="Calibri"/>
              </a:rPr>
              <a:t>Training and validation accuracy and loss (17 epochs; best validation loss at epoch 11)</a:t>
            </a:r>
          </a:p>
        </p:txBody>
      </p:sp>
      <p:pic>
        <p:nvPicPr>
          <p:cNvPr id="17" name="Picture 16" descr="V1_per_class_scores.png"/>
          <p:cNvPicPr>
            <a:picLocks noChangeAspect="1"/>
          </p:cNvPicPr>
          <p:nvPr/>
        </p:nvPicPr>
        <p:blipFill>
          <a:blip r:embed="rId3"/>
          <a:stretch>
            <a:fillRect/>
          </a:stretch>
        </p:blipFill>
        <p:spPr>
          <a:xfrm>
            <a:off x="502920" y="3977639"/>
            <a:ext cx="3931920" cy="2192911"/>
          </a:xfrm>
          <a:prstGeom prst="rect">
            <a:avLst/>
          </a:prstGeom>
        </p:spPr>
      </p:pic>
      <p:sp>
        <p:nvSpPr>
          <p:cNvPr id="18" name="TextBox 17"/>
          <p:cNvSpPr txBox="1"/>
          <p:nvPr/>
        </p:nvSpPr>
        <p:spPr>
          <a:xfrm>
            <a:off x="4663440" y="4069080"/>
            <a:ext cx="3977639" cy="228600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Training loss fell smoothly 0.706 → 0.175; training accuracy still rising (90.93% at epoch 17).</a:t>
            </a:r>
          </a:p>
          <a:p>
            <a:pPr algn="l">
              <a:spcAft>
                <a:spcPts val="300"/>
              </a:spcAft>
            </a:pPr>
            <a:r>
              <a:rPr sz="1100" b="0" i="0">
                <a:solidFill>
                  <a:srgbClr val="202020"/>
                </a:solidFill>
                <a:latin typeface="Calibri"/>
              </a:rPr>
              <a:t>• Validation loss ranged from 0.349 (epoch 11, restored) to 4.29 (epoch 2): a gap between training and inference behaviour, not overfitting – what V2 set out to fix.</a:t>
            </a:r>
          </a:p>
          <a:p>
            <a:pPr algn="l">
              <a:spcAft>
                <a:spcPts val="300"/>
              </a:spcAft>
            </a:pPr>
            <a:r>
              <a:rPr sz="1100" b="0" i="0">
                <a:solidFill>
                  <a:srgbClr val="202020"/>
                </a:solidFill>
                <a:latin typeface="Calibri"/>
              </a:rPr>
              <a:t>• F and S precision bars are clearly below recall: the sign of over-weighting the rare classes.</a:t>
            </a:r>
          </a:p>
          <a:p>
            <a:pPr algn="l">
              <a:spcAft>
                <a:spcPts val="300"/>
              </a:spcAft>
            </a:pPr>
            <a:r>
              <a:rPr sz="1100" b="0" i="0">
                <a:solidFill>
                  <a:srgbClr val="202020"/>
                </a:solidFill>
                <a:latin typeface="Calibri"/>
              </a:rPr>
              <a:t>• Weighted F1 94.98%; macro precision / recall 73.22% / 86.07%.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V2: Step-by-Step Experiment Setup</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502920" y="1005840"/>
          <a:ext cx="4114800" cy="1600200"/>
        </p:xfrm>
        <a:graphic>
          <a:graphicData uri="http://schemas.openxmlformats.org/drawingml/2006/table">
            <a:tbl>
              <a:tblPr firstRow="1" bandRow="1">
                <a:tableStyleId>{5C22544A-7EE6-4342-B048-85BDC9FD1C3A}</a:tableStyleId>
              </a:tblPr>
              <a:tblGrid>
                <a:gridCol w="685800"/>
                <a:gridCol w="960120"/>
                <a:gridCol w="1280160"/>
                <a:gridCol w="1188720"/>
              </a:tblGrid>
              <a:tr h="228600">
                <a:tc>
                  <a:txBody>
                    <a:bodyPr/>
                    <a:lstStyle/>
                    <a:p>
                      <a:pPr algn="l"/>
                      <a:r>
                        <a:rPr sz="1050" b="1">
                          <a:solidFill>
                            <a:srgbClr val="FFFFFF"/>
                          </a:solidFill>
                          <a:latin typeface="Calibri"/>
                        </a:rPr>
                        <a:t>Class</a:t>
                      </a:r>
                    </a:p>
                  </a:txBody>
                  <a:tcPr marT="27432" marB="27432" marL="54864" marR="54864">
                    <a:solidFill>
                      <a:srgbClr val="1F3864"/>
                    </a:solidFill>
                  </a:tcPr>
                </a:tc>
                <a:tc>
                  <a:txBody>
                    <a:bodyPr/>
                    <a:lstStyle/>
                    <a:p>
                      <a:pPr algn="ctr"/>
                      <a:r>
                        <a:rPr sz="1050" b="1">
                          <a:solidFill>
                            <a:srgbClr val="FFFFFF"/>
                          </a:solidFill>
                          <a:latin typeface="Calibri"/>
                        </a:rPr>
                        <a:t>Train beats</a:t>
                      </a:r>
                    </a:p>
                  </a:txBody>
                  <a:tcPr marT="27432" marB="27432" marL="54864" marR="54864">
                    <a:solidFill>
                      <a:srgbClr val="1F3864"/>
                    </a:solidFill>
                  </a:tcPr>
                </a:tc>
                <a:tc>
                  <a:txBody>
                    <a:bodyPr/>
                    <a:lstStyle/>
                    <a:p>
                      <a:pPr algn="ctr"/>
                      <a:r>
                        <a:rPr sz="1050" b="1">
                          <a:solidFill>
                            <a:srgbClr val="FFFFFF"/>
                          </a:solidFill>
                          <a:latin typeface="Calibri"/>
                        </a:rPr>
                        <a:t>Balanced (B0–E2)</a:t>
                      </a:r>
                    </a:p>
                  </a:txBody>
                  <a:tcPr marT="27432" marB="27432" marL="54864" marR="54864">
                    <a:solidFill>
                      <a:srgbClr val="1F3864"/>
                    </a:solidFill>
                  </a:tcPr>
                </a:tc>
                <a:tc>
                  <a:txBody>
                    <a:bodyPr/>
                    <a:lstStyle/>
                    <a:p>
                      <a:pPr algn="ctr"/>
                      <a:r>
                        <a:rPr sz="1050" b="1">
                          <a:solidFill>
                            <a:srgbClr val="FFFFFF"/>
                          </a:solidFill>
                          <a:latin typeface="Calibri"/>
                        </a:rPr>
                        <a:t>Sqrt (E3–E5)</a:t>
                      </a:r>
                    </a:p>
                  </a:txBody>
                  <a:tcPr marT="27432" marB="27432" marL="54864" marR="54864">
                    <a:solidFill>
                      <a:srgbClr val="1F3864"/>
                    </a:solidFill>
                  </a:tcPr>
                </a:tc>
              </a:tr>
              <a:tr h="228600">
                <a:tc>
                  <a:txBody>
                    <a:bodyPr/>
                    <a:lstStyle/>
                    <a:p>
                      <a:pPr algn="l"/>
                      <a:r>
                        <a:rPr sz="1050" b="1">
                          <a:solidFill>
                            <a:srgbClr val="202020"/>
                          </a:solidFill>
                          <a:latin typeface="Calibri"/>
                        </a:rPr>
                        <a:t>N</a:t>
                      </a:r>
                    </a:p>
                  </a:txBody>
                  <a:tcPr marT="27432" marB="27432" marL="54864" marR="54864">
                    <a:solidFill>
                      <a:srgbClr val="F2F2F2"/>
                    </a:solidFill>
                  </a:tcPr>
                </a:tc>
                <a:tc>
                  <a:txBody>
                    <a:bodyPr/>
                    <a:lstStyle/>
                    <a:p>
                      <a:pPr algn="ctr"/>
                      <a:r>
                        <a:rPr sz="1050" b="0">
                          <a:solidFill>
                            <a:srgbClr val="202020"/>
                          </a:solidFill>
                          <a:latin typeface="Calibri"/>
                        </a:rPr>
                        <a:t>57,977</a:t>
                      </a:r>
                    </a:p>
                  </a:txBody>
                  <a:tcPr marT="27432" marB="27432" marL="54864" marR="54864">
                    <a:solidFill>
                      <a:srgbClr val="F2F2F2"/>
                    </a:solidFill>
                  </a:tcPr>
                </a:tc>
                <a:tc>
                  <a:txBody>
                    <a:bodyPr/>
                    <a:lstStyle/>
                    <a:p>
                      <a:pPr algn="ctr"/>
                      <a:r>
                        <a:rPr sz="1050" b="0">
                          <a:solidFill>
                            <a:srgbClr val="202020"/>
                          </a:solidFill>
                          <a:latin typeface="Calibri"/>
                        </a:rPr>
                        <a:t>0.24</a:t>
                      </a:r>
                    </a:p>
                  </a:txBody>
                  <a:tcPr marT="27432" marB="27432" marL="54864" marR="54864">
                    <a:solidFill>
                      <a:srgbClr val="F2F2F2"/>
                    </a:solidFill>
                  </a:tcPr>
                </a:tc>
                <a:tc>
                  <a:txBody>
                    <a:bodyPr/>
                    <a:lstStyle/>
                    <a:p>
                      <a:pPr algn="ctr"/>
                      <a:r>
                        <a:rPr sz="1050" b="0">
                          <a:solidFill>
                            <a:srgbClr val="202020"/>
                          </a:solidFill>
                          <a:latin typeface="Calibri"/>
                        </a:rPr>
                        <a:t>0.49</a:t>
                      </a:r>
                    </a:p>
                  </a:txBody>
                  <a:tcPr marT="27432" marB="27432" marL="54864" marR="54864">
                    <a:solidFill>
                      <a:srgbClr val="F2F2F2"/>
                    </a:solidFill>
                  </a:tcPr>
                </a:tc>
              </a:tr>
              <a:tr h="228600">
                <a:tc>
                  <a:txBody>
                    <a:bodyPr/>
                    <a:lstStyle/>
                    <a:p>
                      <a:pPr algn="l"/>
                      <a:r>
                        <a:rPr sz="1050" b="1">
                          <a:solidFill>
                            <a:srgbClr val="202020"/>
                          </a:solidFill>
                          <a:latin typeface="Calibri"/>
                        </a:rPr>
                        <a:t>S</a:t>
                      </a:r>
                    </a:p>
                  </a:txBody>
                  <a:tcPr marT="27432" marB="27432" marL="54864" marR="54864">
                    <a:solidFill>
                      <a:srgbClr val="FFFFFF"/>
                    </a:solidFill>
                  </a:tcPr>
                </a:tc>
                <a:tc>
                  <a:txBody>
                    <a:bodyPr/>
                    <a:lstStyle/>
                    <a:p>
                      <a:pPr algn="ctr"/>
                      <a:r>
                        <a:rPr sz="1050" b="0">
                          <a:solidFill>
                            <a:srgbClr val="202020"/>
                          </a:solidFill>
                          <a:latin typeface="Calibri"/>
                        </a:rPr>
                        <a:t>1,778</a:t>
                      </a:r>
                    </a:p>
                  </a:txBody>
                  <a:tcPr marT="27432" marB="27432" marL="54864" marR="54864">
                    <a:solidFill>
                      <a:srgbClr val="FFFFFF"/>
                    </a:solidFill>
                  </a:tcPr>
                </a:tc>
                <a:tc>
                  <a:txBody>
                    <a:bodyPr/>
                    <a:lstStyle/>
                    <a:p>
                      <a:pPr algn="ctr"/>
                      <a:r>
                        <a:rPr sz="1050" b="0">
                          <a:solidFill>
                            <a:srgbClr val="202020"/>
                          </a:solidFill>
                          <a:latin typeface="Calibri"/>
                        </a:rPr>
                        <a:t>7.88</a:t>
                      </a:r>
                    </a:p>
                  </a:txBody>
                  <a:tcPr marT="27432" marB="27432" marL="54864" marR="54864">
                    <a:solidFill>
                      <a:srgbClr val="FFFFFF"/>
                    </a:solidFill>
                  </a:tcPr>
                </a:tc>
                <a:tc>
                  <a:txBody>
                    <a:bodyPr/>
                    <a:lstStyle/>
                    <a:p>
                      <a:pPr algn="ctr"/>
                      <a:r>
                        <a:rPr sz="1050" b="0">
                          <a:solidFill>
                            <a:srgbClr val="202020"/>
                          </a:solidFill>
                          <a:latin typeface="Calibri"/>
                        </a:rPr>
                        <a:t>2.81</a:t>
                      </a:r>
                    </a:p>
                  </a:txBody>
                  <a:tcPr marT="27432" marB="27432" marL="54864" marR="54864">
                    <a:solidFill>
                      <a:srgbClr val="FFFFFF"/>
                    </a:solidFill>
                  </a:tcPr>
                </a:tc>
              </a:tr>
              <a:tr h="228600">
                <a:tc>
                  <a:txBody>
                    <a:bodyPr/>
                    <a:lstStyle/>
                    <a:p>
                      <a:pPr algn="l"/>
                      <a:r>
                        <a:rPr sz="1050" b="1">
                          <a:solidFill>
                            <a:srgbClr val="202020"/>
                          </a:solidFill>
                          <a:latin typeface="Calibri"/>
                        </a:rPr>
                        <a:t>V</a:t>
                      </a:r>
                    </a:p>
                  </a:txBody>
                  <a:tcPr marT="27432" marB="27432" marL="54864" marR="54864">
                    <a:solidFill>
                      <a:srgbClr val="F2F2F2"/>
                    </a:solidFill>
                  </a:tcPr>
                </a:tc>
                <a:tc>
                  <a:txBody>
                    <a:bodyPr/>
                    <a:lstStyle/>
                    <a:p>
                      <a:pPr algn="ctr"/>
                      <a:r>
                        <a:rPr sz="1050" b="0">
                          <a:solidFill>
                            <a:srgbClr val="202020"/>
                          </a:solidFill>
                          <a:latin typeface="Calibri"/>
                        </a:rPr>
                        <a:t>4,630</a:t>
                      </a:r>
                    </a:p>
                  </a:txBody>
                  <a:tcPr marT="27432" marB="27432" marL="54864" marR="54864">
                    <a:solidFill>
                      <a:srgbClr val="F2F2F2"/>
                    </a:solidFill>
                  </a:tcPr>
                </a:tc>
                <a:tc>
                  <a:txBody>
                    <a:bodyPr/>
                    <a:lstStyle/>
                    <a:p>
                      <a:pPr algn="ctr"/>
                      <a:r>
                        <a:rPr sz="1050" b="0">
                          <a:solidFill>
                            <a:srgbClr val="202020"/>
                          </a:solidFill>
                          <a:latin typeface="Calibri"/>
                        </a:rPr>
                        <a:t>3.03</a:t>
                      </a:r>
                    </a:p>
                  </a:txBody>
                  <a:tcPr marT="27432" marB="27432" marL="54864" marR="54864">
                    <a:solidFill>
                      <a:srgbClr val="F2F2F2"/>
                    </a:solidFill>
                  </a:tcPr>
                </a:tc>
                <a:tc>
                  <a:txBody>
                    <a:bodyPr/>
                    <a:lstStyle/>
                    <a:p>
                      <a:pPr algn="ctr"/>
                      <a:r>
                        <a:rPr sz="1050" b="0">
                          <a:solidFill>
                            <a:srgbClr val="202020"/>
                          </a:solidFill>
                          <a:latin typeface="Calibri"/>
                        </a:rPr>
                        <a:t>1.74</a:t>
                      </a:r>
                    </a:p>
                  </a:txBody>
                  <a:tcPr marT="27432" marB="27432" marL="54864" marR="54864">
                    <a:solidFill>
                      <a:srgbClr val="F2F2F2"/>
                    </a:solidFill>
                  </a:tcPr>
                </a:tc>
              </a:tr>
              <a:tr h="228600">
                <a:tc>
                  <a:txBody>
                    <a:bodyPr/>
                    <a:lstStyle/>
                    <a:p>
                      <a:pPr algn="l"/>
                      <a:r>
                        <a:rPr sz="1050" b="1">
                          <a:solidFill>
                            <a:srgbClr val="202020"/>
                          </a:solidFill>
                          <a:latin typeface="Calibri"/>
                        </a:rPr>
                        <a:t>F</a:t>
                      </a:r>
                    </a:p>
                  </a:txBody>
                  <a:tcPr marT="27432" marB="27432" marL="54864" marR="54864">
                    <a:solidFill>
                      <a:srgbClr val="FFFFFF"/>
                    </a:solidFill>
                  </a:tcPr>
                </a:tc>
                <a:tc>
                  <a:txBody>
                    <a:bodyPr/>
                    <a:lstStyle/>
                    <a:p>
                      <a:pPr algn="ctr"/>
                      <a:r>
                        <a:rPr sz="1050" b="0">
                          <a:solidFill>
                            <a:srgbClr val="202020"/>
                          </a:solidFill>
                          <a:latin typeface="Calibri"/>
                        </a:rPr>
                        <a:t>513</a:t>
                      </a:r>
                    </a:p>
                  </a:txBody>
                  <a:tcPr marT="27432" marB="27432" marL="54864" marR="54864">
                    <a:solidFill>
                      <a:srgbClr val="FFFFFF"/>
                    </a:solidFill>
                  </a:tcPr>
                </a:tc>
                <a:tc>
                  <a:txBody>
                    <a:bodyPr/>
                    <a:lstStyle/>
                    <a:p>
                      <a:pPr algn="ctr"/>
                      <a:r>
                        <a:rPr sz="1050" b="0">
                          <a:solidFill>
                            <a:srgbClr val="202020"/>
                          </a:solidFill>
                          <a:latin typeface="Calibri"/>
                        </a:rPr>
                        <a:t>27.31</a:t>
                      </a:r>
                    </a:p>
                  </a:txBody>
                  <a:tcPr marT="27432" marB="27432" marL="54864" marR="54864">
                    <a:solidFill>
                      <a:srgbClr val="FFFFFF"/>
                    </a:solidFill>
                  </a:tcPr>
                </a:tc>
                <a:tc>
                  <a:txBody>
                    <a:bodyPr/>
                    <a:lstStyle/>
                    <a:p>
                      <a:pPr algn="ctr"/>
                      <a:r>
                        <a:rPr sz="1050" b="0">
                          <a:solidFill>
                            <a:srgbClr val="202020"/>
                          </a:solidFill>
                          <a:latin typeface="Calibri"/>
                        </a:rPr>
                        <a:t>5.23</a:t>
                      </a:r>
                    </a:p>
                  </a:txBody>
                  <a:tcPr marT="27432" marB="27432" marL="54864" marR="54864">
                    <a:solidFill>
                      <a:srgbClr val="FFFFFF"/>
                    </a:solidFill>
                  </a:tcPr>
                </a:tc>
              </a:tr>
              <a:tr h="228600">
                <a:tc>
                  <a:txBody>
                    <a:bodyPr/>
                    <a:lstStyle/>
                    <a:p>
                      <a:pPr algn="l"/>
                      <a:r>
                        <a:rPr sz="1050" b="1">
                          <a:solidFill>
                            <a:srgbClr val="202020"/>
                          </a:solidFill>
                          <a:latin typeface="Calibri"/>
                        </a:rPr>
                        <a:t>Q</a:t>
                      </a:r>
                    </a:p>
                  </a:txBody>
                  <a:tcPr marT="27432" marB="27432" marL="54864" marR="54864">
                    <a:solidFill>
                      <a:srgbClr val="F2F2F2"/>
                    </a:solidFill>
                  </a:tcPr>
                </a:tc>
                <a:tc>
                  <a:txBody>
                    <a:bodyPr/>
                    <a:lstStyle/>
                    <a:p>
                      <a:pPr algn="ctr"/>
                      <a:r>
                        <a:rPr sz="1050" b="0">
                          <a:solidFill>
                            <a:srgbClr val="202020"/>
                          </a:solidFill>
                          <a:latin typeface="Calibri"/>
                        </a:rPr>
                        <a:t>5,145</a:t>
                      </a:r>
                    </a:p>
                  </a:txBody>
                  <a:tcPr marT="27432" marB="27432" marL="54864" marR="54864">
                    <a:solidFill>
                      <a:srgbClr val="F2F2F2"/>
                    </a:solidFill>
                  </a:tcPr>
                </a:tc>
                <a:tc>
                  <a:txBody>
                    <a:bodyPr/>
                    <a:lstStyle/>
                    <a:p>
                      <a:pPr algn="ctr"/>
                      <a:r>
                        <a:rPr sz="1050" b="0">
                          <a:solidFill>
                            <a:srgbClr val="202020"/>
                          </a:solidFill>
                          <a:latin typeface="Calibri"/>
                        </a:rPr>
                        <a:t>2.72</a:t>
                      </a:r>
                    </a:p>
                  </a:txBody>
                  <a:tcPr marT="27432" marB="27432" marL="54864" marR="54864">
                    <a:solidFill>
                      <a:srgbClr val="F2F2F2"/>
                    </a:solidFill>
                  </a:tcPr>
                </a:tc>
                <a:tc>
                  <a:txBody>
                    <a:bodyPr/>
                    <a:lstStyle/>
                    <a:p>
                      <a:pPr algn="ctr"/>
                      <a:r>
                        <a:rPr sz="1050" b="0">
                          <a:solidFill>
                            <a:srgbClr val="202020"/>
                          </a:solidFill>
                          <a:latin typeface="Calibri"/>
                        </a:rPr>
                        <a:t>1.65</a:t>
                      </a:r>
                    </a:p>
                  </a:txBody>
                  <a:tcPr marT="27432" marB="27432" marL="54864" marR="54864">
                    <a:solidFill>
                      <a:srgbClr val="F2F2F2"/>
                    </a:solidFill>
                  </a:tcPr>
                </a:tc>
              </a:tr>
              <a:tr h="228600">
                <a:tc>
                  <a:txBody>
                    <a:bodyPr/>
                    <a:lstStyle/>
                    <a:p>
                      <a:pPr algn="l"/>
                      <a:r>
                        <a:rPr sz="1050" b="1">
                          <a:solidFill>
                            <a:srgbClr val="202020"/>
                          </a:solidFill>
                          <a:latin typeface="Calibri"/>
                        </a:rPr>
                        <a:t>F : N</a:t>
                      </a:r>
                    </a:p>
                  </a:txBody>
                  <a:tcPr marT="27432" marB="27432" marL="54864" marR="54864">
                    <a:solidFill>
                      <a:srgbClr val="FCE4D6"/>
                    </a:solidFill>
                  </a:tcPr>
                </a:tc>
                <a:tc>
                  <a:txBody>
                    <a:bodyPr/>
                    <a:lstStyle/>
                    <a:p>
                      <a:pPr algn="ctr"/>
                      <a:r>
                        <a:rPr sz="1050" b="1">
                          <a:solidFill>
                            <a:srgbClr val="202020"/>
                          </a:solidFill>
                          <a:latin typeface="Calibri"/>
                        </a:rPr>
                        <a:t/>
                      </a:r>
                    </a:p>
                  </a:txBody>
                  <a:tcPr marT="27432" marB="27432" marL="54864" marR="54864">
                    <a:solidFill>
                      <a:srgbClr val="FCE4D6"/>
                    </a:solidFill>
                  </a:tcPr>
                </a:tc>
                <a:tc>
                  <a:txBody>
                    <a:bodyPr/>
                    <a:lstStyle/>
                    <a:p>
                      <a:pPr algn="ctr"/>
                      <a:r>
                        <a:rPr sz="1050" b="1">
                          <a:solidFill>
                            <a:srgbClr val="202020"/>
                          </a:solidFill>
                          <a:latin typeface="Calibri"/>
                        </a:rPr>
                        <a:t>113 : 1</a:t>
                      </a:r>
                    </a:p>
                  </a:txBody>
                  <a:tcPr marT="27432" marB="27432" marL="54864" marR="54864">
                    <a:solidFill>
                      <a:srgbClr val="FCE4D6"/>
                    </a:solidFill>
                  </a:tcPr>
                </a:tc>
                <a:tc>
                  <a:txBody>
                    <a:bodyPr/>
                    <a:lstStyle/>
                    <a:p>
                      <a:pPr algn="ctr"/>
                      <a:r>
                        <a:rPr sz="1050" b="1">
                          <a:solidFill>
                            <a:srgbClr val="202020"/>
                          </a:solidFill>
                          <a:latin typeface="Calibri"/>
                        </a:rPr>
                        <a:t>10.6 : 1</a:t>
                      </a:r>
                    </a:p>
                  </a:txBody>
                  <a:tcPr marT="27432" marB="27432" marL="54864" marR="54864">
                    <a:solidFill>
                      <a:srgbClr val="FCE4D6"/>
                    </a:solidFill>
                  </a:tcPr>
                </a:tc>
              </a:tr>
            </a:tbl>
          </a:graphicData>
        </a:graphic>
      </p:graphicFrame>
      <p:sp>
        <p:nvSpPr>
          <p:cNvPr id="16" name="TextBox 15"/>
          <p:cNvSpPr txBox="1"/>
          <p:nvPr/>
        </p:nvSpPr>
        <p:spPr>
          <a:xfrm>
            <a:off x="4846320" y="1005840"/>
            <a:ext cx="3794760" cy="173736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Same split and seed as V1; one change added per step. The test set was never used to choose an epoch, a model or a threshold.</a:t>
            </a:r>
          </a:p>
          <a:p>
            <a:pPr algn="l">
              <a:spcAft>
                <a:spcPts val="300"/>
              </a:spcAft>
            </a:pPr>
            <a:r>
              <a:rPr sz="1100" b="0" i="0">
                <a:solidFill>
                  <a:srgbClr val="202020"/>
                </a:solidFill>
                <a:latin typeface="Calibri"/>
              </a:rPr>
              <a:t>Custom loop: best weights stored on validation macro F1; LR halved after 3 epochs without improvement (min 10⁻⁵); stop after 8.</a:t>
            </a:r>
          </a:p>
        </p:txBody>
      </p:sp>
      <p:graphicFrame>
        <p:nvGraphicFramePr>
          <p:cNvPr id="17" name="Table 16"/>
          <p:cNvGraphicFramePr>
            <a:graphicFrameLocks noGrp="1"/>
          </p:cNvGraphicFramePr>
          <p:nvPr/>
        </p:nvGraphicFramePr>
        <p:xfrm>
          <a:off x="502920" y="2743200"/>
          <a:ext cx="8138160" cy="1371600"/>
        </p:xfrm>
        <a:graphic>
          <a:graphicData uri="http://schemas.openxmlformats.org/drawingml/2006/table">
            <a:tbl>
              <a:tblPr firstRow="1" bandRow="1">
                <a:tableStyleId>{5C22544A-7EE6-4342-B048-85BDC9FD1C3A}</a:tableStyleId>
              </a:tblPr>
              <a:tblGrid>
                <a:gridCol w="548640"/>
                <a:gridCol w="1600200"/>
                <a:gridCol w="914400"/>
                <a:gridCol w="914400"/>
                <a:gridCol w="914400"/>
                <a:gridCol w="868680"/>
                <a:gridCol w="1280160"/>
                <a:gridCol w="1097280"/>
              </a:tblGrid>
              <a:tr h="228600">
                <a:tc>
                  <a:txBody>
                    <a:bodyPr/>
                    <a:lstStyle/>
                    <a:p>
                      <a:pPr algn="l"/>
                      <a:r>
                        <a:rPr sz="1050" b="1">
                          <a:solidFill>
                            <a:srgbClr val="FFFFFF"/>
                          </a:solidFill>
                          <a:latin typeface="Calibri"/>
                        </a:rPr>
                        <a:t>ID</a:t>
                      </a:r>
                    </a:p>
                  </a:txBody>
                  <a:tcPr marT="27432" marB="27432" marL="54864" marR="54864">
                    <a:solidFill>
                      <a:srgbClr val="1F3864"/>
                    </a:solidFill>
                  </a:tcPr>
                </a:tc>
                <a:tc>
                  <a:txBody>
                    <a:bodyPr/>
                    <a:lstStyle/>
                    <a:p>
                      <a:pPr algn="ctr"/>
                      <a:r>
                        <a:rPr sz="1050" b="1">
                          <a:solidFill>
                            <a:srgbClr val="FFFFFF"/>
                          </a:solidFill>
                          <a:latin typeface="Calibri"/>
                        </a:rPr>
                        <a:t>Network</a:t>
                      </a:r>
                    </a:p>
                  </a:txBody>
                  <a:tcPr marT="27432" marB="27432" marL="54864" marR="54864">
                    <a:solidFill>
                      <a:srgbClr val="1F3864"/>
                    </a:solidFill>
                  </a:tcPr>
                </a:tc>
                <a:tc>
                  <a:txBody>
                    <a:bodyPr/>
                    <a:lstStyle/>
                    <a:p>
                      <a:pPr algn="ctr"/>
                      <a:r>
                        <a:rPr sz="1050" b="1">
                          <a:solidFill>
                            <a:srgbClr val="FFFFFF"/>
                          </a:solidFill>
                          <a:latin typeface="Calibri"/>
                        </a:rPr>
                        <a:t>Params</a:t>
                      </a:r>
                    </a:p>
                  </a:txBody>
                  <a:tcPr marT="27432" marB="27432" marL="54864" marR="54864">
                    <a:solidFill>
                      <a:srgbClr val="1F3864"/>
                    </a:solidFill>
                  </a:tcPr>
                </a:tc>
                <a:tc>
                  <a:txBody>
                    <a:bodyPr/>
                    <a:lstStyle/>
                    <a:p>
                      <a:pPr algn="ctr"/>
                      <a:r>
                        <a:rPr sz="1050" b="1">
                          <a:solidFill>
                            <a:srgbClr val="FFFFFF"/>
                          </a:solidFill>
                          <a:latin typeface="Calibri"/>
                        </a:rPr>
                        <a:t>LR</a:t>
                      </a:r>
                    </a:p>
                  </a:txBody>
                  <a:tcPr marT="27432" marB="27432" marL="54864" marR="54864">
                    <a:solidFill>
                      <a:srgbClr val="1F3864"/>
                    </a:solidFill>
                  </a:tcPr>
                </a:tc>
                <a:tc>
                  <a:txBody>
                    <a:bodyPr/>
                    <a:lstStyle/>
                    <a:p>
                      <a:pPr algn="ctr"/>
                      <a:r>
                        <a:rPr sz="1050" b="1">
                          <a:solidFill>
                            <a:srgbClr val="FFFFFF"/>
                          </a:solidFill>
                          <a:latin typeface="Calibri"/>
                        </a:rPr>
                        <a:t>Clip norm</a:t>
                      </a:r>
                    </a:p>
                  </a:txBody>
                  <a:tcPr marT="27432" marB="27432" marL="54864" marR="54864">
                    <a:solidFill>
                      <a:srgbClr val="1F3864"/>
                    </a:solidFill>
                  </a:tcPr>
                </a:tc>
                <a:tc>
                  <a:txBody>
                    <a:bodyPr/>
                    <a:lstStyle/>
                    <a:p>
                      <a:pPr algn="ctr"/>
                      <a:r>
                        <a:rPr sz="1050" b="1">
                          <a:solidFill>
                            <a:srgbClr val="FFFFFF"/>
                          </a:solidFill>
                          <a:latin typeface="Calibri"/>
                        </a:rPr>
                        <a:t>BN mom.</a:t>
                      </a:r>
                    </a:p>
                  </a:txBody>
                  <a:tcPr marT="27432" marB="27432" marL="54864" marR="54864">
                    <a:solidFill>
                      <a:srgbClr val="1F3864"/>
                    </a:solidFill>
                  </a:tcPr>
                </a:tc>
                <a:tc>
                  <a:txBody>
                    <a:bodyPr/>
                    <a:lstStyle/>
                    <a:p>
                      <a:pPr algn="ctr"/>
                      <a:r>
                        <a:rPr sz="1050" b="1">
                          <a:solidFill>
                            <a:srgbClr val="FFFFFF"/>
                          </a:solidFill>
                          <a:latin typeface="Calibri"/>
                        </a:rPr>
                        <a:t>Class weights</a:t>
                      </a:r>
                    </a:p>
                  </a:txBody>
                  <a:tcPr marT="27432" marB="27432" marL="54864" marR="54864">
                    <a:solidFill>
                      <a:srgbClr val="1F3864"/>
                    </a:solidFill>
                  </a:tcPr>
                </a:tc>
                <a:tc>
                  <a:txBody>
                    <a:bodyPr/>
                    <a:lstStyle/>
                    <a:p>
                      <a:pPr algn="ctr"/>
                      <a:r>
                        <a:rPr sz="1050" b="1">
                          <a:solidFill>
                            <a:srgbClr val="FFFFFF"/>
                          </a:solidFill>
                          <a:latin typeface="Calibri"/>
                        </a:rPr>
                        <a:t>Augment.</a:t>
                      </a:r>
                    </a:p>
                  </a:txBody>
                  <a:tcPr marT="27432" marB="27432" marL="54864" marR="54864">
                    <a:solidFill>
                      <a:srgbClr val="1F3864"/>
                    </a:solidFill>
                  </a:tcPr>
                </a:tc>
              </a:tr>
              <a:tr h="228600">
                <a:tc>
                  <a:txBody>
                    <a:bodyPr/>
                    <a:lstStyle/>
                    <a:p>
                      <a:pPr algn="l"/>
                      <a:r>
                        <a:rPr sz="1050" b="1">
                          <a:solidFill>
                            <a:srgbClr val="202020"/>
                          </a:solidFill>
                          <a:latin typeface="Calibri"/>
                        </a:rPr>
                        <a:t>E1</a:t>
                      </a:r>
                    </a:p>
                  </a:txBody>
                  <a:tcPr marT="27432" marB="27432" marL="54864" marR="54864">
                    <a:solidFill>
                      <a:srgbClr val="F2F2F2"/>
                    </a:solidFill>
                  </a:tcPr>
                </a:tc>
                <a:tc>
                  <a:txBody>
                    <a:bodyPr/>
                    <a:lstStyle/>
                    <a:p>
                      <a:pPr algn="ctr"/>
                      <a:r>
                        <a:rPr sz="1050" b="0">
                          <a:solidFill>
                            <a:srgbClr val="202020"/>
                          </a:solidFill>
                          <a:latin typeface="Calibri"/>
                        </a:rPr>
                        <a:t>CNN</a:t>
                      </a:r>
                    </a:p>
                  </a:txBody>
                  <a:tcPr marT="27432" marB="27432" marL="54864" marR="54864">
                    <a:solidFill>
                      <a:srgbClr val="F2F2F2"/>
                    </a:solidFill>
                  </a:tcPr>
                </a:tc>
                <a:tc>
                  <a:txBody>
                    <a:bodyPr/>
                    <a:lstStyle/>
                    <a:p>
                      <a:pPr algn="ctr"/>
                      <a:r>
                        <a:rPr sz="1050" b="0">
                          <a:solidFill>
                            <a:srgbClr val="202020"/>
                          </a:solidFill>
                          <a:latin typeface="Calibri"/>
                        </a:rPr>
                        <a:t>44,741</a:t>
                      </a:r>
                    </a:p>
                  </a:txBody>
                  <a:tcPr marT="27432" marB="27432" marL="54864" marR="54864">
                    <a:solidFill>
                      <a:srgbClr val="F2F2F2"/>
                    </a:solidFill>
                  </a:tcPr>
                </a:tc>
                <a:tc>
                  <a:txBody>
                    <a:bodyPr/>
                    <a:lstStyle/>
                    <a:p>
                      <a:pPr algn="ctr"/>
                      <a:r>
                        <a:rPr sz="1050" b="0">
                          <a:solidFill>
                            <a:srgbClr val="202020"/>
                          </a:solidFill>
                          <a:latin typeface="Calibri"/>
                        </a:rPr>
                        <a:t>1×10⁻³</a:t>
                      </a:r>
                    </a:p>
                  </a:txBody>
                  <a:tcPr marT="27432" marB="27432" marL="54864" marR="54864">
                    <a:solidFill>
                      <a:srgbClr val="F2F2F2"/>
                    </a:solidFill>
                  </a:tcPr>
                </a:tc>
                <a:tc>
                  <a:txBody>
                    <a:bodyPr/>
                    <a:lstStyle/>
                    <a:p>
                      <a:pPr algn="ctr"/>
                      <a:r>
                        <a:rPr sz="1050" b="0">
                          <a:solidFill>
                            <a:srgbClr val="202020"/>
                          </a:solidFill>
                          <a:latin typeface="Calibri"/>
                        </a:rPr>
                        <a:t>–</a:t>
                      </a:r>
                    </a:p>
                  </a:txBody>
                  <a:tcPr marT="27432" marB="27432" marL="54864" marR="54864">
                    <a:solidFill>
                      <a:srgbClr val="F2F2F2"/>
                    </a:solidFill>
                  </a:tcPr>
                </a:tc>
                <a:tc>
                  <a:txBody>
                    <a:bodyPr/>
                    <a:lstStyle/>
                    <a:p>
                      <a:pPr algn="ctr"/>
                      <a:r>
                        <a:rPr sz="1050" b="0">
                          <a:solidFill>
                            <a:srgbClr val="202020"/>
                          </a:solidFill>
                          <a:latin typeface="Calibri"/>
                        </a:rPr>
                        <a:t>0.99</a:t>
                      </a:r>
                    </a:p>
                  </a:txBody>
                  <a:tcPr marT="27432" marB="27432" marL="54864" marR="54864">
                    <a:solidFill>
                      <a:srgbClr val="F2F2F2"/>
                    </a:solidFill>
                  </a:tcPr>
                </a:tc>
                <a:tc>
                  <a:txBody>
                    <a:bodyPr/>
                    <a:lstStyle/>
                    <a:p>
                      <a:pPr algn="ctr"/>
                      <a:r>
                        <a:rPr sz="1050" b="0">
                          <a:solidFill>
                            <a:srgbClr val="202020"/>
                          </a:solidFill>
                          <a:latin typeface="Calibri"/>
                        </a:rPr>
                        <a:t>Balanced</a:t>
                      </a:r>
                    </a:p>
                  </a:txBody>
                  <a:tcPr marT="27432" marB="27432" marL="54864" marR="54864">
                    <a:solidFill>
                      <a:srgbClr val="F2F2F2"/>
                    </a:solidFill>
                  </a:tcPr>
                </a:tc>
                <a:tc>
                  <a:txBody>
                    <a:bodyPr/>
                    <a:lstStyle/>
                    <a:p>
                      <a:pPr algn="ctr"/>
                      <a:r>
                        <a:rPr sz="1050" b="0">
                          <a:solidFill>
                            <a:srgbClr val="202020"/>
                          </a:solidFill>
                          <a:latin typeface="Calibri"/>
                        </a:rPr>
                        <a:t>No</a:t>
                      </a:r>
                    </a:p>
                  </a:txBody>
                  <a:tcPr marT="27432" marB="27432" marL="54864" marR="54864">
                    <a:solidFill>
                      <a:srgbClr val="F2F2F2"/>
                    </a:solidFill>
                  </a:tcPr>
                </a:tc>
              </a:tr>
              <a:tr h="228600">
                <a:tc>
                  <a:txBody>
                    <a:bodyPr/>
                    <a:lstStyle/>
                    <a:p>
                      <a:pPr algn="l"/>
                      <a:r>
                        <a:rPr sz="1050" b="1">
                          <a:solidFill>
                            <a:srgbClr val="202020"/>
                          </a:solidFill>
                          <a:latin typeface="Calibri"/>
                        </a:rPr>
                        <a:t>E2</a:t>
                      </a:r>
                    </a:p>
                  </a:txBody>
                  <a:tcPr marT="27432" marB="27432" marL="54864" marR="54864">
                    <a:solidFill>
                      <a:srgbClr val="FFFFFF"/>
                    </a:solidFill>
                  </a:tcPr>
                </a:tc>
                <a:tc>
                  <a:txBody>
                    <a:bodyPr/>
                    <a:lstStyle/>
                    <a:p>
                      <a:pPr algn="ctr"/>
                      <a:r>
                        <a:rPr sz="1050" b="0">
                          <a:solidFill>
                            <a:srgbClr val="202020"/>
                          </a:solidFill>
                          <a:latin typeface="Calibri"/>
                        </a:rPr>
                        <a:t>CNN</a:t>
                      </a:r>
                    </a:p>
                  </a:txBody>
                  <a:tcPr marT="27432" marB="27432" marL="54864" marR="54864">
                    <a:solidFill>
                      <a:srgbClr val="FFFFFF"/>
                    </a:solidFill>
                  </a:tcPr>
                </a:tc>
                <a:tc>
                  <a:txBody>
                    <a:bodyPr/>
                    <a:lstStyle/>
                    <a:p>
                      <a:pPr algn="ctr"/>
                      <a:r>
                        <a:rPr sz="1050" b="0">
                          <a:solidFill>
                            <a:srgbClr val="202020"/>
                          </a:solidFill>
                          <a:latin typeface="Calibri"/>
                        </a:rPr>
                        <a:t>44,741</a:t>
                      </a:r>
                    </a:p>
                  </a:txBody>
                  <a:tcPr marT="27432" marB="27432" marL="54864" marR="54864">
                    <a:solidFill>
                      <a:srgbClr val="FFFFFF"/>
                    </a:solidFill>
                  </a:tcPr>
                </a:tc>
                <a:tc>
                  <a:txBody>
                    <a:bodyPr/>
                    <a:lstStyle/>
                    <a:p>
                      <a:pPr algn="ctr"/>
                      <a:r>
                        <a:rPr sz="1050" b="0">
                          <a:solidFill>
                            <a:srgbClr val="202020"/>
                          </a:solidFill>
                          <a:latin typeface="Calibri"/>
                        </a:rPr>
                        <a:t>5×10⁻⁴</a:t>
                      </a:r>
                    </a:p>
                  </a:txBody>
                  <a:tcPr marT="27432" marB="27432" marL="54864" marR="54864">
                    <a:solidFill>
                      <a:srgbClr val="FFFFFF"/>
                    </a:solidFill>
                  </a:tcPr>
                </a:tc>
                <a:tc>
                  <a:txBody>
                    <a:bodyPr/>
                    <a:lstStyle/>
                    <a:p>
                      <a:pPr algn="ctr"/>
                      <a:r>
                        <a:rPr sz="1050" b="0">
                          <a:solidFill>
                            <a:srgbClr val="202020"/>
                          </a:solidFill>
                          <a:latin typeface="Calibri"/>
                        </a:rPr>
                        <a:t>1.0</a:t>
                      </a:r>
                    </a:p>
                  </a:txBody>
                  <a:tcPr marT="27432" marB="27432" marL="54864" marR="54864">
                    <a:solidFill>
                      <a:srgbClr val="FFFFFF"/>
                    </a:solidFill>
                  </a:tcPr>
                </a:tc>
                <a:tc>
                  <a:txBody>
                    <a:bodyPr/>
                    <a:lstStyle/>
                    <a:p>
                      <a:pPr algn="ctr"/>
                      <a:r>
                        <a:rPr sz="1050" b="0">
                          <a:solidFill>
                            <a:srgbClr val="202020"/>
                          </a:solidFill>
                          <a:latin typeface="Calibri"/>
                        </a:rPr>
                        <a:t>0.9</a:t>
                      </a:r>
                    </a:p>
                  </a:txBody>
                  <a:tcPr marT="27432" marB="27432" marL="54864" marR="54864">
                    <a:solidFill>
                      <a:srgbClr val="FFFFFF"/>
                    </a:solidFill>
                  </a:tcPr>
                </a:tc>
                <a:tc>
                  <a:txBody>
                    <a:bodyPr/>
                    <a:lstStyle/>
                    <a:p>
                      <a:pPr algn="ctr"/>
                      <a:r>
                        <a:rPr sz="1050" b="0">
                          <a:solidFill>
                            <a:srgbClr val="202020"/>
                          </a:solidFill>
                          <a:latin typeface="Calibri"/>
                        </a:rPr>
                        <a:t>Balanced</a:t>
                      </a:r>
                    </a:p>
                  </a:txBody>
                  <a:tcPr marT="27432" marB="27432" marL="54864" marR="54864">
                    <a:solidFill>
                      <a:srgbClr val="FFFFFF"/>
                    </a:solidFill>
                  </a:tcPr>
                </a:tc>
                <a:tc>
                  <a:txBody>
                    <a:bodyPr/>
                    <a:lstStyle/>
                    <a:p>
                      <a:pPr algn="ctr"/>
                      <a:r>
                        <a:rPr sz="1050" b="0">
                          <a:solidFill>
                            <a:srgbClr val="202020"/>
                          </a:solidFill>
                          <a:latin typeface="Calibri"/>
                        </a:rPr>
                        <a:t>No</a:t>
                      </a:r>
                    </a:p>
                  </a:txBody>
                  <a:tcPr marT="27432" marB="27432" marL="54864" marR="54864">
                    <a:solidFill>
                      <a:srgbClr val="FFFFFF"/>
                    </a:solidFill>
                  </a:tcPr>
                </a:tc>
              </a:tr>
              <a:tr h="228600">
                <a:tc>
                  <a:txBody>
                    <a:bodyPr/>
                    <a:lstStyle/>
                    <a:p>
                      <a:pPr algn="l"/>
                      <a:r>
                        <a:rPr sz="1050" b="1">
                          <a:solidFill>
                            <a:srgbClr val="202020"/>
                          </a:solidFill>
                          <a:latin typeface="Calibri"/>
                        </a:rPr>
                        <a:t>E3</a:t>
                      </a:r>
                    </a:p>
                  </a:txBody>
                  <a:tcPr marT="27432" marB="27432" marL="54864" marR="54864">
                    <a:solidFill>
                      <a:srgbClr val="F2F2F2"/>
                    </a:solidFill>
                  </a:tcPr>
                </a:tc>
                <a:tc>
                  <a:txBody>
                    <a:bodyPr/>
                    <a:lstStyle/>
                    <a:p>
                      <a:pPr algn="ctr"/>
                      <a:r>
                        <a:rPr sz="1050" b="0">
                          <a:solidFill>
                            <a:srgbClr val="202020"/>
                          </a:solidFill>
                          <a:latin typeface="Calibri"/>
                        </a:rPr>
                        <a:t>CNN</a:t>
                      </a:r>
                    </a:p>
                  </a:txBody>
                  <a:tcPr marT="27432" marB="27432" marL="54864" marR="54864">
                    <a:solidFill>
                      <a:srgbClr val="F2F2F2"/>
                    </a:solidFill>
                  </a:tcPr>
                </a:tc>
                <a:tc>
                  <a:txBody>
                    <a:bodyPr/>
                    <a:lstStyle/>
                    <a:p>
                      <a:pPr algn="ctr"/>
                      <a:r>
                        <a:rPr sz="1050" b="0">
                          <a:solidFill>
                            <a:srgbClr val="202020"/>
                          </a:solidFill>
                          <a:latin typeface="Calibri"/>
                        </a:rPr>
                        <a:t>44,741</a:t>
                      </a:r>
                    </a:p>
                  </a:txBody>
                  <a:tcPr marT="27432" marB="27432" marL="54864" marR="54864">
                    <a:solidFill>
                      <a:srgbClr val="F2F2F2"/>
                    </a:solidFill>
                  </a:tcPr>
                </a:tc>
                <a:tc>
                  <a:txBody>
                    <a:bodyPr/>
                    <a:lstStyle/>
                    <a:p>
                      <a:pPr algn="ctr"/>
                      <a:r>
                        <a:rPr sz="1050" b="0">
                          <a:solidFill>
                            <a:srgbClr val="202020"/>
                          </a:solidFill>
                          <a:latin typeface="Calibri"/>
                        </a:rPr>
                        <a:t>5×10⁻⁴</a:t>
                      </a:r>
                    </a:p>
                  </a:txBody>
                  <a:tcPr marT="27432" marB="27432" marL="54864" marR="54864">
                    <a:solidFill>
                      <a:srgbClr val="F2F2F2"/>
                    </a:solidFill>
                  </a:tcPr>
                </a:tc>
                <a:tc>
                  <a:txBody>
                    <a:bodyPr/>
                    <a:lstStyle/>
                    <a:p>
                      <a:pPr algn="ctr"/>
                      <a:r>
                        <a:rPr sz="1050" b="0">
                          <a:solidFill>
                            <a:srgbClr val="202020"/>
                          </a:solidFill>
                          <a:latin typeface="Calibri"/>
                        </a:rPr>
                        <a:t>1.0</a:t>
                      </a:r>
                    </a:p>
                  </a:txBody>
                  <a:tcPr marT="27432" marB="27432" marL="54864" marR="54864">
                    <a:solidFill>
                      <a:srgbClr val="F2F2F2"/>
                    </a:solidFill>
                  </a:tcPr>
                </a:tc>
                <a:tc>
                  <a:txBody>
                    <a:bodyPr/>
                    <a:lstStyle/>
                    <a:p>
                      <a:pPr algn="ctr"/>
                      <a:r>
                        <a:rPr sz="1050" b="0">
                          <a:solidFill>
                            <a:srgbClr val="202020"/>
                          </a:solidFill>
                          <a:latin typeface="Calibri"/>
                        </a:rPr>
                        <a:t>0.9</a:t>
                      </a:r>
                    </a:p>
                  </a:txBody>
                  <a:tcPr marT="27432" marB="27432" marL="54864" marR="54864">
                    <a:solidFill>
                      <a:srgbClr val="F2F2F2"/>
                    </a:solidFill>
                  </a:tcPr>
                </a:tc>
                <a:tc>
                  <a:txBody>
                    <a:bodyPr/>
                    <a:lstStyle/>
                    <a:p>
                      <a:pPr algn="ctr"/>
                      <a:r>
                        <a:rPr sz="1050" b="0">
                          <a:solidFill>
                            <a:srgbClr val="202020"/>
                          </a:solidFill>
                          <a:latin typeface="Calibri"/>
                        </a:rPr>
                        <a:t>Square-root</a:t>
                      </a:r>
                    </a:p>
                  </a:txBody>
                  <a:tcPr marT="27432" marB="27432" marL="54864" marR="54864">
                    <a:solidFill>
                      <a:srgbClr val="F2F2F2"/>
                    </a:solidFill>
                  </a:tcPr>
                </a:tc>
                <a:tc>
                  <a:txBody>
                    <a:bodyPr/>
                    <a:lstStyle/>
                    <a:p>
                      <a:pPr algn="ctr"/>
                      <a:r>
                        <a:rPr sz="1050" b="0">
                          <a:solidFill>
                            <a:srgbClr val="202020"/>
                          </a:solidFill>
                          <a:latin typeface="Calibri"/>
                        </a:rPr>
                        <a:t>No</a:t>
                      </a:r>
                    </a:p>
                  </a:txBody>
                  <a:tcPr marT="27432" marB="27432" marL="54864" marR="54864">
                    <a:solidFill>
                      <a:srgbClr val="F2F2F2"/>
                    </a:solidFill>
                  </a:tcPr>
                </a:tc>
              </a:tr>
              <a:tr h="228600">
                <a:tc>
                  <a:txBody>
                    <a:bodyPr/>
                    <a:lstStyle/>
                    <a:p>
                      <a:pPr algn="l"/>
                      <a:r>
                        <a:rPr sz="1050" b="1">
                          <a:solidFill>
                            <a:srgbClr val="202020"/>
                          </a:solidFill>
                          <a:latin typeface="Calibri"/>
                        </a:rPr>
                        <a:t>E4</a:t>
                      </a:r>
                    </a:p>
                  </a:txBody>
                  <a:tcPr marT="27432" marB="27432" marL="54864" marR="54864">
                    <a:solidFill>
                      <a:srgbClr val="FFFFFF"/>
                    </a:solidFill>
                  </a:tcPr>
                </a:tc>
                <a:tc>
                  <a:txBody>
                    <a:bodyPr/>
                    <a:lstStyle/>
                    <a:p>
                      <a:pPr algn="ctr"/>
                      <a:r>
                        <a:rPr sz="1050" b="0">
                          <a:solidFill>
                            <a:srgbClr val="202020"/>
                          </a:solidFill>
                          <a:latin typeface="Calibri"/>
                        </a:rPr>
                        <a:t>CNN</a:t>
                      </a:r>
                    </a:p>
                  </a:txBody>
                  <a:tcPr marT="27432" marB="27432" marL="54864" marR="54864">
                    <a:solidFill>
                      <a:srgbClr val="FFFFFF"/>
                    </a:solidFill>
                  </a:tcPr>
                </a:tc>
                <a:tc>
                  <a:txBody>
                    <a:bodyPr/>
                    <a:lstStyle/>
                    <a:p>
                      <a:pPr algn="ctr"/>
                      <a:r>
                        <a:rPr sz="1050" b="0">
                          <a:solidFill>
                            <a:srgbClr val="202020"/>
                          </a:solidFill>
                          <a:latin typeface="Calibri"/>
                        </a:rPr>
                        <a:t>44,741</a:t>
                      </a:r>
                    </a:p>
                  </a:txBody>
                  <a:tcPr marT="27432" marB="27432" marL="54864" marR="54864">
                    <a:solidFill>
                      <a:srgbClr val="FFFFFF"/>
                    </a:solidFill>
                  </a:tcPr>
                </a:tc>
                <a:tc>
                  <a:txBody>
                    <a:bodyPr/>
                    <a:lstStyle/>
                    <a:p>
                      <a:pPr algn="ctr"/>
                      <a:r>
                        <a:rPr sz="1050" b="0">
                          <a:solidFill>
                            <a:srgbClr val="202020"/>
                          </a:solidFill>
                          <a:latin typeface="Calibri"/>
                        </a:rPr>
                        <a:t>5×10⁻⁴</a:t>
                      </a:r>
                    </a:p>
                  </a:txBody>
                  <a:tcPr marT="27432" marB="27432" marL="54864" marR="54864">
                    <a:solidFill>
                      <a:srgbClr val="FFFFFF"/>
                    </a:solidFill>
                  </a:tcPr>
                </a:tc>
                <a:tc>
                  <a:txBody>
                    <a:bodyPr/>
                    <a:lstStyle/>
                    <a:p>
                      <a:pPr algn="ctr"/>
                      <a:r>
                        <a:rPr sz="1050" b="0">
                          <a:solidFill>
                            <a:srgbClr val="202020"/>
                          </a:solidFill>
                          <a:latin typeface="Calibri"/>
                        </a:rPr>
                        <a:t>1.0</a:t>
                      </a:r>
                    </a:p>
                  </a:txBody>
                  <a:tcPr marT="27432" marB="27432" marL="54864" marR="54864">
                    <a:solidFill>
                      <a:srgbClr val="FFFFFF"/>
                    </a:solidFill>
                  </a:tcPr>
                </a:tc>
                <a:tc>
                  <a:txBody>
                    <a:bodyPr/>
                    <a:lstStyle/>
                    <a:p>
                      <a:pPr algn="ctr"/>
                      <a:r>
                        <a:rPr sz="1050" b="0">
                          <a:solidFill>
                            <a:srgbClr val="202020"/>
                          </a:solidFill>
                          <a:latin typeface="Calibri"/>
                        </a:rPr>
                        <a:t>0.9</a:t>
                      </a:r>
                    </a:p>
                  </a:txBody>
                  <a:tcPr marT="27432" marB="27432" marL="54864" marR="54864">
                    <a:solidFill>
                      <a:srgbClr val="FFFFFF"/>
                    </a:solidFill>
                  </a:tcPr>
                </a:tc>
                <a:tc>
                  <a:txBody>
                    <a:bodyPr/>
                    <a:lstStyle/>
                    <a:p>
                      <a:pPr algn="ctr"/>
                      <a:r>
                        <a:rPr sz="1050" b="0">
                          <a:solidFill>
                            <a:srgbClr val="202020"/>
                          </a:solidFill>
                          <a:latin typeface="Calibri"/>
                        </a:rPr>
                        <a:t>Square-root</a:t>
                      </a:r>
                    </a:p>
                  </a:txBody>
                  <a:tcPr marT="27432" marB="27432" marL="54864" marR="54864">
                    <a:solidFill>
                      <a:srgbClr val="FFFFFF"/>
                    </a:solidFill>
                  </a:tcPr>
                </a:tc>
                <a:tc>
                  <a:txBody>
                    <a:bodyPr/>
                    <a:lstStyle/>
                    <a:p>
                      <a:pPr algn="ctr"/>
                      <a:r>
                        <a:rPr sz="1050" b="0">
                          <a:solidFill>
                            <a:srgbClr val="202020"/>
                          </a:solidFill>
                          <a:latin typeface="Calibri"/>
                        </a:rPr>
                        <a:t>Yes</a:t>
                      </a:r>
                    </a:p>
                  </a:txBody>
                  <a:tcPr marT="27432" marB="27432" marL="54864" marR="54864">
                    <a:solidFill>
                      <a:srgbClr val="FFFFFF"/>
                    </a:solidFill>
                  </a:tcPr>
                </a:tc>
              </a:tr>
              <a:tr h="228600">
                <a:tc>
                  <a:txBody>
                    <a:bodyPr/>
                    <a:lstStyle/>
                    <a:p>
                      <a:pPr algn="l"/>
                      <a:r>
                        <a:rPr sz="1050" b="1">
                          <a:solidFill>
                            <a:srgbClr val="202020"/>
                          </a:solidFill>
                          <a:latin typeface="Calibri"/>
                        </a:rPr>
                        <a:t>E5</a:t>
                      </a:r>
                    </a:p>
                  </a:txBody>
                  <a:tcPr marT="27432" marB="27432" marL="54864" marR="54864">
                    <a:solidFill>
                      <a:srgbClr val="F2F2F2"/>
                    </a:solidFill>
                  </a:tcPr>
                </a:tc>
                <a:tc>
                  <a:txBody>
                    <a:bodyPr/>
                    <a:lstStyle/>
                    <a:p>
                      <a:pPr algn="ctr"/>
                      <a:r>
                        <a:rPr sz="1050" b="0">
                          <a:solidFill>
                            <a:srgbClr val="202020"/>
                          </a:solidFill>
                          <a:latin typeface="Calibri"/>
                        </a:rPr>
                        <a:t>Residual CNN [36]</a:t>
                      </a:r>
                    </a:p>
                  </a:txBody>
                  <a:tcPr marT="27432" marB="27432" marL="54864" marR="54864">
                    <a:solidFill>
                      <a:srgbClr val="F2F2F2"/>
                    </a:solidFill>
                  </a:tcPr>
                </a:tc>
                <a:tc>
                  <a:txBody>
                    <a:bodyPr/>
                    <a:lstStyle/>
                    <a:p>
                      <a:pPr algn="ctr"/>
                      <a:r>
                        <a:rPr sz="1050" b="0">
                          <a:solidFill>
                            <a:srgbClr val="202020"/>
                          </a:solidFill>
                          <a:latin typeface="Calibri"/>
                        </a:rPr>
                        <a:t>185,477</a:t>
                      </a:r>
                    </a:p>
                  </a:txBody>
                  <a:tcPr marT="27432" marB="27432" marL="54864" marR="54864">
                    <a:solidFill>
                      <a:srgbClr val="F2F2F2"/>
                    </a:solidFill>
                  </a:tcPr>
                </a:tc>
                <a:tc>
                  <a:txBody>
                    <a:bodyPr/>
                    <a:lstStyle/>
                    <a:p>
                      <a:pPr algn="ctr"/>
                      <a:r>
                        <a:rPr sz="1050" b="0">
                          <a:solidFill>
                            <a:srgbClr val="202020"/>
                          </a:solidFill>
                          <a:latin typeface="Calibri"/>
                        </a:rPr>
                        <a:t>5×10⁻⁴</a:t>
                      </a:r>
                    </a:p>
                  </a:txBody>
                  <a:tcPr marT="27432" marB="27432" marL="54864" marR="54864">
                    <a:solidFill>
                      <a:srgbClr val="F2F2F2"/>
                    </a:solidFill>
                  </a:tcPr>
                </a:tc>
                <a:tc>
                  <a:txBody>
                    <a:bodyPr/>
                    <a:lstStyle/>
                    <a:p>
                      <a:pPr algn="ctr"/>
                      <a:r>
                        <a:rPr sz="1050" b="0">
                          <a:solidFill>
                            <a:srgbClr val="202020"/>
                          </a:solidFill>
                          <a:latin typeface="Calibri"/>
                        </a:rPr>
                        <a:t>1.0</a:t>
                      </a:r>
                    </a:p>
                  </a:txBody>
                  <a:tcPr marT="27432" marB="27432" marL="54864" marR="54864">
                    <a:solidFill>
                      <a:srgbClr val="F2F2F2"/>
                    </a:solidFill>
                  </a:tcPr>
                </a:tc>
                <a:tc>
                  <a:txBody>
                    <a:bodyPr/>
                    <a:lstStyle/>
                    <a:p>
                      <a:pPr algn="ctr"/>
                      <a:r>
                        <a:rPr sz="1050" b="0">
                          <a:solidFill>
                            <a:srgbClr val="202020"/>
                          </a:solidFill>
                          <a:latin typeface="Calibri"/>
                        </a:rPr>
                        <a:t>0.9</a:t>
                      </a:r>
                    </a:p>
                  </a:txBody>
                  <a:tcPr marT="27432" marB="27432" marL="54864" marR="54864">
                    <a:solidFill>
                      <a:srgbClr val="F2F2F2"/>
                    </a:solidFill>
                  </a:tcPr>
                </a:tc>
                <a:tc>
                  <a:txBody>
                    <a:bodyPr/>
                    <a:lstStyle/>
                    <a:p>
                      <a:pPr algn="ctr"/>
                      <a:r>
                        <a:rPr sz="1050" b="0">
                          <a:solidFill>
                            <a:srgbClr val="202020"/>
                          </a:solidFill>
                          <a:latin typeface="Calibri"/>
                        </a:rPr>
                        <a:t>Square-root</a:t>
                      </a:r>
                    </a:p>
                  </a:txBody>
                  <a:tcPr marT="27432" marB="27432" marL="54864" marR="54864">
                    <a:solidFill>
                      <a:srgbClr val="F2F2F2"/>
                    </a:solidFill>
                  </a:tcPr>
                </a:tc>
                <a:tc>
                  <a:txBody>
                    <a:bodyPr/>
                    <a:lstStyle/>
                    <a:p>
                      <a:pPr algn="ctr"/>
                      <a:r>
                        <a:rPr sz="1050" b="0">
                          <a:solidFill>
                            <a:srgbClr val="202020"/>
                          </a:solidFill>
                          <a:latin typeface="Calibri"/>
                        </a:rPr>
                        <a:t>Yes</a:t>
                      </a:r>
                    </a:p>
                  </a:txBody>
                  <a:tcPr marT="27432" marB="27432" marL="54864" marR="54864">
                    <a:solidFill>
                      <a:srgbClr val="F2F2F2"/>
                    </a:solidFill>
                  </a:tcPr>
                </a:tc>
              </a:tr>
            </a:tbl>
          </a:graphicData>
        </a:graphic>
      </p:graphicFrame>
      <p:pic>
        <p:nvPicPr>
          <p:cNvPr id="18" name="Picture 17" descr="V2_01_augmentation_examples.png"/>
          <p:cNvPicPr>
            <a:picLocks noChangeAspect="1"/>
          </p:cNvPicPr>
          <p:nvPr/>
        </p:nvPicPr>
        <p:blipFill>
          <a:blip r:embed="rId2"/>
          <a:stretch>
            <a:fillRect/>
          </a:stretch>
        </p:blipFill>
        <p:spPr>
          <a:xfrm>
            <a:off x="502920" y="4206240"/>
            <a:ext cx="5120640" cy="998310"/>
          </a:xfrm>
          <a:prstGeom prst="rect">
            <a:avLst/>
          </a:prstGeom>
        </p:spPr>
      </p:pic>
      <p:sp>
        <p:nvSpPr>
          <p:cNvPr id="19" name="TextBox 18"/>
          <p:cNvSpPr txBox="1"/>
          <p:nvPr/>
        </p:nvSpPr>
        <p:spPr>
          <a:xfrm>
            <a:off x="502920" y="5212080"/>
            <a:ext cx="5120640" cy="274320"/>
          </a:xfrm>
          <a:prstGeom prst="rect">
            <a:avLst/>
          </a:prstGeom>
          <a:noFill/>
        </p:spPr>
        <p:txBody>
          <a:bodyPr wrap="square" lIns="0" tIns="0" rIns="0" bIns="0">
            <a:spAutoFit/>
          </a:bodyPr>
          <a:lstStyle/>
          <a:p>
            <a:pPr algn="ctr"/>
            <a:r>
              <a:rPr sz="1000" b="0" i="1">
                <a:solidFill>
                  <a:srgbClr val="595959"/>
                </a:solidFill>
                <a:latin typeface="Calibri"/>
              </a:rPr>
              <a:t>Original and three augmented copies of an N, S and F beat</a:t>
            </a:r>
          </a:p>
        </p:txBody>
      </p:sp>
      <p:sp>
        <p:nvSpPr>
          <p:cNvPr id="20" name="TextBox 19"/>
          <p:cNvSpPr txBox="1"/>
          <p:nvPr/>
        </p:nvSpPr>
        <p:spPr>
          <a:xfrm>
            <a:off x="5806440" y="4206240"/>
            <a:ext cx="2834640" cy="2194560"/>
          </a:xfrm>
          <a:prstGeom prst="rect">
            <a:avLst/>
          </a:prstGeom>
          <a:noFill/>
        </p:spPr>
        <p:txBody>
          <a:bodyPr wrap="square" lIns="0" tIns="0" rIns="0" bIns="0">
            <a:spAutoFit/>
          </a:bodyPr>
          <a:lstStyle/>
          <a:p>
            <a:pPr algn="l">
              <a:spcAft>
                <a:spcPts val="300"/>
              </a:spcAft>
            </a:pPr>
            <a:r>
              <a:rPr sz="1050" b="1" i="0">
                <a:solidFill>
                  <a:srgbClr val="202020"/>
                </a:solidFill>
                <a:latin typeface="Calibri"/>
              </a:rPr>
              <a:t>Augmentation (E4, E5): </a:t>
            </a:r>
            <a:r>
              <a:rPr sz="1050" b="0" i="0">
                <a:solidFill>
                  <a:srgbClr val="202020"/>
                </a:solidFill>
                <a:latin typeface="Calibri"/>
              </a:rPr>
              <a:t>amplitude ×U(0.9, 1.1), Gaussian noise σ = 0.01 on the non-padded part, shift ±3 samples (±24 ms).</a:t>
            </a:r>
          </a:p>
          <a:p>
            <a:pPr algn="l">
              <a:spcAft>
                <a:spcPts val="300"/>
              </a:spcAft>
            </a:pPr>
            <a:r>
              <a:rPr sz="1050" b="1" i="0">
                <a:solidFill>
                  <a:srgbClr val="202020"/>
                </a:solidFill>
                <a:latin typeface="Calibri"/>
              </a:rPr>
              <a:t>Residual CNN: </a:t>
            </a:r>
            <a:r>
              <a:rPr sz="1050" b="0" i="0">
                <a:solidFill>
                  <a:srgbClr val="202020"/>
                </a:solidFill>
                <a:latin typeface="Calibri"/>
              </a:rPr>
              <a:t>Conv 32 (k 7) stem + 3 residual blocks (32, 64, 128), two Conv1D (k 5) + BN per block with a shortcut.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V2: Training Runs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502920" y="1005840"/>
          <a:ext cx="8138160" cy="1481328"/>
        </p:xfrm>
        <a:graphic>
          <a:graphicData uri="http://schemas.openxmlformats.org/drawingml/2006/table">
            <a:tbl>
              <a:tblPr firstRow="1" bandRow="1">
                <a:tableStyleId>{5C22544A-7EE6-4342-B048-85BDC9FD1C3A}</a:tableStyleId>
              </a:tblPr>
              <a:tblGrid>
                <a:gridCol w="640080"/>
                <a:gridCol w="1828800"/>
                <a:gridCol w="1280160"/>
                <a:gridCol w="1828800"/>
                <a:gridCol w="1463040"/>
                <a:gridCol w="1097280"/>
              </a:tblGrid>
              <a:tr h="246888">
                <a:tc>
                  <a:txBody>
                    <a:bodyPr/>
                    <a:lstStyle/>
                    <a:p>
                      <a:pPr algn="l"/>
                      <a:r>
                        <a:rPr sz="1100" b="1">
                          <a:solidFill>
                            <a:srgbClr val="FFFFFF"/>
                          </a:solidFill>
                          <a:latin typeface="Calibri"/>
                        </a:rPr>
                        <a:t>ID</a:t>
                      </a:r>
                    </a:p>
                  </a:txBody>
                  <a:tcPr marT="27432" marB="27432" marL="54864" marR="54864">
                    <a:solidFill>
                      <a:srgbClr val="1F3864"/>
                    </a:solidFill>
                  </a:tcPr>
                </a:tc>
                <a:tc>
                  <a:txBody>
                    <a:bodyPr/>
                    <a:lstStyle/>
                    <a:p>
                      <a:pPr algn="ctr"/>
                      <a:r>
                        <a:rPr sz="1100" b="1">
                          <a:solidFill>
                            <a:srgbClr val="FFFFFF"/>
                          </a:solidFill>
                          <a:latin typeface="Calibri"/>
                        </a:rPr>
                        <a:t>Best epoch / epochs run</a:t>
                      </a:r>
                    </a:p>
                  </a:txBody>
                  <a:tcPr marT="27432" marB="27432" marL="54864" marR="54864">
                    <a:solidFill>
                      <a:srgbClr val="1F3864"/>
                    </a:solidFill>
                  </a:tcPr>
                </a:tc>
                <a:tc>
                  <a:txBody>
                    <a:bodyPr/>
                    <a:lstStyle/>
                    <a:p>
                      <a:pPr algn="ctr"/>
                      <a:r>
                        <a:rPr sz="1100" b="1">
                          <a:solidFill>
                            <a:srgbClr val="FFFFFF"/>
                          </a:solidFill>
                          <a:latin typeface="Calibri"/>
                        </a:rPr>
                        <a:t>Stopped early</a:t>
                      </a:r>
                    </a:p>
                  </a:txBody>
                  <a:tcPr marT="27432" marB="27432" marL="54864" marR="54864">
                    <a:solidFill>
                      <a:srgbClr val="1F3864"/>
                    </a:solidFill>
                  </a:tcPr>
                </a:tc>
                <a:tc>
                  <a:txBody>
                    <a:bodyPr/>
                    <a:lstStyle/>
                    <a:p>
                      <a:pPr algn="ctr"/>
                      <a:r>
                        <a:rPr sz="1100" b="1">
                          <a:solidFill>
                            <a:srgbClr val="FFFFFF"/>
                          </a:solidFill>
                          <a:latin typeface="Calibri"/>
                        </a:rPr>
                        <a:t>Best val. macro F1 (%)</a:t>
                      </a:r>
                    </a:p>
                  </a:txBody>
                  <a:tcPr marT="27432" marB="27432" marL="54864" marR="54864">
                    <a:solidFill>
                      <a:srgbClr val="1F3864"/>
                    </a:solidFill>
                  </a:tcPr>
                </a:tc>
                <a:tc>
                  <a:txBody>
                    <a:bodyPr/>
                    <a:lstStyle/>
                    <a:p>
                      <a:pPr algn="ctr"/>
                      <a:r>
                        <a:rPr sz="1100" b="1">
                          <a:solidFill>
                            <a:srgbClr val="FFFFFF"/>
                          </a:solidFill>
                          <a:latin typeface="Calibri"/>
                        </a:rPr>
                        <a:t>Δ test macro F1</a:t>
                      </a:r>
                    </a:p>
                  </a:txBody>
                  <a:tcPr marT="27432" marB="27432" marL="54864" marR="54864">
                    <a:solidFill>
                      <a:srgbClr val="1F3864"/>
                    </a:solidFill>
                  </a:tcPr>
                </a:tc>
                <a:tc>
                  <a:txBody>
                    <a:bodyPr/>
                    <a:lstStyle/>
                    <a:p>
                      <a:pPr algn="ctr"/>
                      <a:r>
                        <a:rPr sz="1100" b="1">
                          <a:solidFill>
                            <a:srgbClr val="FFFFFF"/>
                          </a:solidFill>
                          <a:latin typeface="Calibri"/>
                        </a:rPr>
                        <a:t>Time (s)</a:t>
                      </a:r>
                    </a:p>
                  </a:txBody>
                  <a:tcPr marT="27432" marB="27432" marL="54864" marR="54864">
                    <a:solidFill>
                      <a:srgbClr val="1F3864"/>
                    </a:solidFill>
                  </a:tcPr>
                </a:tc>
              </a:tr>
              <a:tr h="246888">
                <a:tc>
                  <a:txBody>
                    <a:bodyPr/>
                    <a:lstStyle/>
                    <a:p>
                      <a:pPr algn="l"/>
                      <a:r>
                        <a:rPr sz="1100" b="1">
                          <a:solidFill>
                            <a:srgbClr val="202020"/>
                          </a:solidFill>
                          <a:latin typeface="Calibri"/>
                        </a:rPr>
                        <a:t>E1</a:t>
                      </a:r>
                    </a:p>
                  </a:txBody>
                  <a:tcPr marT="27432" marB="27432" marL="54864" marR="54864">
                    <a:solidFill>
                      <a:srgbClr val="F2F2F2"/>
                    </a:solidFill>
                  </a:tcPr>
                </a:tc>
                <a:tc>
                  <a:txBody>
                    <a:bodyPr/>
                    <a:lstStyle/>
                    <a:p>
                      <a:pPr algn="ctr"/>
                      <a:r>
                        <a:rPr sz="1100" b="0">
                          <a:solidFill>
                            <a:srgbClr val="202020"/>
                          </a:solidFill>
                          <a:latin typeface="Calibri"/>
                        </a:rPr>
                        <a:t>16 / 24</a:t>
                      </a:r>
                    </a:p>
                  </a:txBody>
                  <a:tcPr marT="27432" marB="27432" marL="54864" marR="54864">
                    <a:solidFill>
                      <a:srgbClr val="F2F2F2"/>
                    </a:solidFill>
                  </a:tcPr>
                </a:tc>
                <a:tc>
                  <a:txBody>
                    <a:bodyPr/>
                    <a:lstStyle/>
                    <a:p>
                      <a:pPr algn="ctr"/>
                      <a:r>
                        <a:rPr sz="1100" b="0">
                          <a:solidFill>
                            <a:srgbClr val="202020"/>
                          </a:solidFill>
                          <a:latin typeface="Calibri"/>
                        </a:rPr>
                        <a:t>Yes</a:t>
                      </a:r>
                    </a:p>
                  </a:txBody>
                  <a:tcPr marT="27432" marB="27432" marL="54864" marR="54864">
                    <a:solidFill>
                      <a:srgbClr val="F2F2F2"/>
                    </a:solidFill>
                  </a:tcPr>
                </a:tc>
                <a:tc>
                  <a:txBody>
                    <a:bodyPr/>
                    <a:lstStyle/>
                    <a:p>
                      <a:pPr algn="ctr"/>
                      <a:r>
                        <a:rPr sz="1100" b="0">
                          <a:solidFill>
                            <a:srgbClr val="202020"/>
                          </a:solidFill>
                          <a:latin typeface="Calibri"/>
                        </a:rPr>
                        <a:t>85.43</a:t>
                      </a:r>
                    </a:p>
                  </a:txBody>
                  <a:tcPr marT="27432" marB="27432" marL="54864" marR="54864">
                    <a:solidFill>
                      <a:srgbClr val="F2F2F2"/>
                    </a:solidFill>
                  </a:tcPr>
                </a:tc>
                <a:tc>
                  <a:txBody>
                    <a:bodyPr/>
                    <a:lstStyle/>
                    <a:p>
                      <a:pPr algn="ctr"/>
                      <a:r>
                        <a:rPr sz="1100" b="0">
                          <a:solidFill>
                            <a:srgbClr val="202020"/>
                          </a:solidFill>
                          <a:latin typeface="Calibri"/>
                        </a:rPr>
                        <a:t>+7.67 (vs B0)</a:t>
                      </a:r>
                    </a:p>
                  </a:txBody>
                  <a:tcPr marT="27432" marB="27432" marL="54864" marR="54864">
                    <a:solidFill>
                      <a:srgbClr val="F2F2F2"/>
                    </a:solidFill>
                  </a:tcPr>
                </a:tc>
                <a:tc>
                  <a:txBody>
                    <a:bodyPr/>
                    <a:lstStyle/>
                    <a:p>
                      <a:pPr algn="ctr"/>
                      <a:r>
                        <a:rPr sz="1100" b="0">
                          <a:solidFill>
                            <a:srgbClr val="202020"/>
                          </a:solidFill>
                          <a:latin typeface="Calibri"/>
                        </a:rPr>
                        <a:t>70</a:t>
                      </a:r>
                    </a:p>
                  </a:txBody>
                  <a:tcPr marT="27432" marB="27432" marL="54864" marR="54864">
                    <a:solidFill>
                      <a:srgbClr val="F2F2F2"/>
                    </a:solidFill>
                  </a:tcPr>
                </a:tc>
              </a:tr>
              <a:tr h="246888">
                <a:tc>
                  <a:txBody>
                    <a:bodyPr/>
                    <a:lstStyle/>
                    <a:p>
                      <a:pPr algn="l"/>
                      <a:r>
                        <a:rPr sz="1100" b="1">
                          <a:solidFill>
                            <a:srgbClr val="202020"/>
                          </a:solidFill>
                          <a:latin typeface="Calibri"/>
                        </a:rPr>
                        <a:t>E2</a:t>
                      </a:r>
                    </a:p>
                  </a:txBody>
                  <a:tcPr marT="27432" marB="27432" marL="54864" marR="54864">
                    <a:solidFill>
                      <a:srgbClr val="FFFFFF"/>
                    </a:solidFill>
                  </a:tcPr>
                </a:tc>
                <a:tc>
                  <a:txBody>
                    <a:bodyPr/>
                    <a:lstStyle/>
                    <a:p>
                      <a:pPr algn="ctr"/>
                      <a:r>
                        <a:rPr sz="1100" b="0">
                          <a:solidFill>
                            <a:srgbClr val="202020"/>
                          </a:solidFill>
                          <a:latin typeface="Calibri"/>
                        </a:rPr>
                        <a:t>28 / 30</a:t>
                      </a:r>
                    </a:p>
                  </a:txBody>
                  <a:tcPr marT="27432" marB="27432" marL="54864" marR="54864">
                    <a:solidFill>
                      <a:srgbClr val="FFFFFF"/>
                    </a:solidFill>
                  </a:tcPr>
                </a:tc>
                <a:tc>
                  <a:txBody>
                    <a:bodyPr/>
                    <a:lstStyle/>
                    <a:p>
                      <a:pPr algn="ctr"/>
                      <a:r>
                        <a:rPr sz="1100" b="0">
                          <a:solidFill>
                            <a:srgbClr val="202020"/>
                          </a:solidFill>
                          <a:latin typeface="Calibri"/>
                        </a:rPr>
                        <a:t>No (cap)</a:t>
                      </a:r>
                    </a:p>
                  </a:txBody>
                  <a:tcPr marT="27432" marB="27432" marL="54864" marR="54864">
                    <a:solidFill>
                      <a:srgbClr val="FFFFFF"/>
                    </a:solidFill>
                  </a:tcPr>
                </a:tc>
                <a:tc>
                  <a:txBody>
                    <a:bodyPr/>
                    <a:lstStyle/>
                    <a:p>
                      <a:pPr algn="ctr"/>
                      <a:r>
                        <a:rPr sz="1100" b="0">
                          <a:solidFill>
                            <a:srgbClr val="202020"/>
                          </a:solidFill>
                          <a:latin typeface="Calibri"/>
                        </a:rPr>
                        <a:t>79.35</a:t>
                      </a:r>
                    </a:p>
                  </a:txBody>
                  <a:tcPr marT="27432" marB="27432" marL="54864" marR="54864">
                    <a:solidFill>
                      <a:srgbClr val="FFFFFF"/>
                    </a:solidFill>
                  </a:tcPr>
                </a:tc>
                <a:tc>
                  <a:txBody>
                    <a:bodyPr/>
                    <a:lstStyle/>
                    <a:p>
                      <a:pPr algn="ctr"/>
                      <a:r>
                        <a:rPr sz="1100" b="0">
                          <a:solidFill>
                            <a:srgbClr val="202020"/>
                          </a:solidFill>
                          <a:latin typeface="Calibri"/>
                        </a:rPr>
                        <a:t>−5.66</a:t>
                      </a:r>
                    </a:p>
                  </a:txBody>
                  <a:tcPr marT="27432" marB="27432" marL="54864" marR="54864">
                    <a:solidFill>
                      <a:srgbClr val="FFFFFF"/>
                    </a:solidFill>
                  </a:tcPr>
                </a:tc>
                <a:tc>
                  <a:txBody>
                    <a:bodyPr/>
                    <a:lstStyle/>
                    <a:p>
                      <a:pPr algn="ctr"/>
                      <a:r>
                        <a:rPr sz="1100" b="0">
                          <a:solidFill>
                            <a:srgbClr val="202020"/>
                          </a:solidFill>
                          <a:latin typeface="Calibri"/>
                        </a:rPr>
                        <a:t>80</a:t>
                      </a:r>
                    </a:p>
                  </a:txBody>
                  <a:tcPr marT="27432" marB="27432" marL="54864" marR="54864">
                    <a:solidFill>
                      <a:srgbClr val="FFFFFF"/>
                    </a:solidFill>
                  </a:tcPr>
                </a:tc>
              </a:tr>
              <a:tr h="246888">
                <a:tc>
                  <a:txBody>
                    <a:bodyPr/>
                    <a:lstStyle/>
                    <a:p>
                      <a:pPr algn="l"/>
                      <a:r>
                        <a:rPr sz="1100" b="1">
                          <a:solidFill>
                            <a:srgbClr val="202020"/>
                          </a:solidFill>
                          <a:latin typeface="Calibri"/>
                        </a:rPr>
                        <a:t>E3</a:t>
                      </a:r>
                    </a:p>
                  </a:txBody>
                  <a:tcPr marT="27432" marB="27432" marL="54864" marR="54864">
                    <a:solidFill>
                      <a:srgbClr val="F2F2F2"/>
                    </a:solidFill>
                  </a:tcPr>
                </a:tc>
                <a:tc>
                  <a:txBody>
                    <a:bodyPr/>
                    <a:lstStyle/>
                    <a:p>
                      <a:pPr algn="ctr"/>
                      <a:r>
                        <a:rPr sz="1100" b="0">
                          <a:solidFill>
                            <a:srgbClr val="202020"/>
                          </a:solidFill>
                          <a:latin typeface="Calibri"/>
                        </a:rPr>
                        <a:t>23 / 30</a:t>
                      </a:r>
                    </a:p>
                  </a:txBody>
                  <a:tcPr marT="27432" marB="27432" marL="54864" marR="54864">
                    <a:solidFill>
                      <a:srgbClr val="F2F2F2"/>
                    </a:solidFill>
                  </a:tcPr>
                </a:tc>
                <a:tc>
                  <a:txBody>
                    <a:bodyPr/>
                    <a:lstStyle/>
                    <a:p>
                      <a:pPr algn="ctr"/>
                      <a:r>
                        <a:rPr sz="1100" b="0">
                          <a:solidFill>
                            <a:srgbClr val="202020"/>
                          </a:solidFill>
                          <a:latin typeface="Calibri"/>
                        </a:rPr>
                        <a:t>No (cap)</a:t>
                      </a:r>
                    </a:p>
                  </a:txBody>
                  <a:tcPr marT="27432" marB="27432" marL="54864" marR="54864">
                    <a:solidFill>
                      <a:srgbClr val="F2F2F2"/>
                    </a:solidFill>
                  </a:tcPr>
                </a:tc>
                <a:tc>
                  <a:txBody>
                    <a:bodyPr/>
                    <a:lstStyle/>
                    <a:p>
                      <a:pPr algn="ctr"/>
                      <a:r>
                        <a:rPr sz="1100" b="0">
                          <a:solidFill>
                            <a:srgbClr val="202020"/>
                          </a:solidFill>
                          <a:latin typeface="Calibri"/>
                        </a:rPr>
                        <a:t>88.65</a:t>
                      </a:r>
                    </a:p>
                  </a:txBody>
                  <a:tcPr marT="27432" marB="27432" marL="54864" marR="54864">
                    <a:solidFill>
                      <a:srgbClr val="F2F2F2"/>
                    </a:solidFill>
                  </a:tcPr>
                </a:tc>
                <a:tc>
                  <a:txBody>
                    <a:bodyPr/>
                    <a:lstStyle/>
                    <a:p>
                      <a:pPr algn="ctr"/>
                      <a:r>
                        <a:rPr sz="1100" b="0">
                          <a:solidFill>
                            <a:srgbClr val="202020"/>
                          </a:solidFill>
                          <a:latin typeface="Calibri"/>
                        </a:rPr>
                        <a:t>+9.28</a:t>
                      </a:r>
                    </a:p>
                  </a:txBody>
                  <a:tcPr marT="27432" marB="27432" marL="54864" marR="54864">
                    <a:solidFill>
                      <a:srgbClr val="F2F2F2"/>
                    </a:solidFill>
                  </a:tcPr>
                </a:tc>
                <a:tc>
                  <a:txBody>
                    <a:bodyPr/>
                    <a:lstStyle/>
                    <a:p>
                      <a:pPr algn="ctr"/>
                      <a:r>
                        <a:rPr sz="1100" b="0">
                          <a:solidFill>
                            <a:srgbClr val="202020"/>
                          </a:solidFill>
                          <a:latin typeface="Calibri"/>
                        </a:rPr>
                        <a:t>80</a:t>
                      </a:r>
                    </a:p>
                  </a:txBody>
                  <a:tcPr marT="27432" marB="27432" marL="54864" marR="54864">
                    <a:solidFill>
                      <a:srgbClr val="F2F2F2"/>
                    </a:solidFill>
                  </a:tcPr>
                </a:tc>
              </a:tr>
              <a:tr h="246888">
                <a:tc>
                  <a:txBody>
                    <a:bodyPr/>
                    <a:lstStyle/>
                    <a:p>
                      <a:pPr algn="l"/>
                      <a:r>
                        <a:rPr sz="1100" b="1">
                          <a:solidFill>
                            <a:srgbClr val="202020"/>
                          </a:solidFill>
                          <a:latin typeface="Calibri"/>
                        </a:rPr>
                        <a:t>E4</a:t>
                      </a:r>
                    </a:p>
                  </a:txBody>
                  <a:tcPr marT="27432" marB="27432" marL="54864" marR="54864">
                    <a:solidFill>
                      <a:srgbClr val="FFFFFF"/>
                    </a:solidFill>
                  </a:tcPr>
                </a:tc>
                <a:tc>
                  <a:txBody>
                    <a:bodyPr/>
                    <a:lstStyle/>
                    <a:p>
                      <a:pPr algn="ctr"/>
                      <a:r>
                        <a:rPr sz="1100" b="0">
                          <a:solidFill>
                            <a:srgbClr val="202020"/>
                          </a:solidFill>
                          <a:latin typeface="Calibri"/>
                        </a:rPr>
                        <a:t>25 / 30</a:t>
                      </a:r>
                    </a:p>
                  </a:txBody>
                  <a:tcPr marT="27432" marB="27432" marL="54864" marR="54864">
                    <a:solidFill>
                      <a:srgbClr val="FFFFFF"/>
                    </a:solidFill>
                  </a:tcPr>
                </a:tc>
                <a:tc>
                  <a:txBody>
                    <a:bodyPr/>
                    <a:lstStyle/>
                    <a:p>
                      <a:pPr algn="ctr"/>
                      <a:r>
                        <a:rPr sz="1100" b="0">
                          <a:solidFill>
                            <a:srgbClr val="202020"/>
                          </a:solidFill>
                          <a:latin typeface="Calibri"/>
                        </a:rPr>
                        <a:t>No (cap)</a:t>
                      </a:r>
                    </a:p>
                  </a:txBody>
                  <a:tcPr marT="27432" marB="27432" marL="54864" marR="54864">
                    <a:solidFill>
                      <a:srgbClr val="FFFFFF"/>
                    </a:solidFill>
                  </a:tcPr>
                </a:tc>
                <a:tc>
                  <a:txBody>
                    <a:bodyPr/>
                    <a:lstStyle/>
                    <a:p>
                      <a:pPr algn="ctr"/>
                      <a:r>
                        <a:rPr sz="1100" b="0">
                          <a:solidFill>
                            <a:srgbClr val="202020"/>
                          </a:solidFill>
                          <a:latin typeface="Calibri"/>
                        </a:rPr>
                        <a:t>88.01</a:t>
                      </a:r>
                    </a:p>
                  </a:txBody>
                  <a:tcPr marT="27432" marB="27432" marL="54864" marR="54864">
                    <a:solidFill>
                      <a:srgbClr val="FFFFFF"/>
                    </a:solidFill>
                  </a:tcPr>
                </a:tc>
                <a:tc>
                  <a:txBody>
                    <a:bodyPr/>
                    <a:lstStyle/>
                    <a:p>
                      <a:pPr algn="ctr"/>
                      <a:r>
                        <a:rPr sz="1100" b="0">
                          <a:solidFill>
                            <a:srgbClr val="202020"/>
                          </a:solidFill>
                          <a:latin typeface="Calibri"/>
                        </a:rPr>
                        <a:t>−1.38</a:t>
                      </a:r>
                    </a:p>
                  </a:txBody>
                  <a:tcPr marT="27432" marB="27432" marL="54864" marR="54864">
                    <a:solidFill>
                      <a:srgbClr val="FFFFFF"/>
                    </a:solidFill>
                  </a:tcPr>
                </a:tc>
                <a:tc>
                  <a:txBody>
                    <a:bodyPr/>
                    <a:lstStyle/>
                    <a:p>
                      <a:pPr algn="ctr"/>
                      <a:r>
                        <a:rPr sz="1100" b="0">
                          <a:solidFill>
                            <a:srgbClr val="202020"/>
                          </a:solidFill>
                          <a:latin typeface="Calibri"/>
                        </a:rPr>
                        <a:t>95</a:t>
                      </a:r>
                    </a:p>
                  </a:txBody>
                  <a:tcPr marT="27432" marB="27432" marL="54864" marR="54864">
                    <a:solidFill>
                      <a:srgbClr val="FFFFFF"/>
                    </a:solidFill>
                  </a:tcPr>
                </a:tc>
              </a:tr>
              <a:tr h="246888">
                <a:tc>
                  <a:txBody>
                    <a:bodyPr/>
                    <a:lstStyle/>
                    <a:p>
                      <a:pPr algn="l"/>
                      <a:r>
                        <a:rPr sz="1100" b="1">
                          <a:solidFill>
                            <a:srgbClr val="202020"/>
                          </a:solidFill>
                          <a:latin typeface="Calibri"/>
                        </a:rPr>
                        <a:t>E5</a:t>
                      </a:r>
                    </a:p>
                  </a:txBody>
                  <a:tcPr marT="27432" marB="27432" marL="54864" marR="54864">
                    <a:solidFill>
                      <a:srgbClr val="FCE4D6"/>
                    </a:solidFill>
                  </a:tcPr>
                </a:tc>
                <a:tc>
                  <a:txBody>
                    <a:bodyPr/>
                    <a:lstStyle/>
                    <a:p>
                      <a:pPr algn="ctr"/>
                      <a:r>
                        <a:rPr sz="1100" b="1">
                          <a:solidFill>
                            <a:srgbClr val="202020"/>
                          </a:solidFill>
                          <a:latin typeface="Calibri"/>
                        </a:rPr>
                        <a:t>18 / 26</a:t>
                      </a:r>
                    </a:p>
                  </a:txBody>
                  <a:tcPr marT="27432" marB="27432" marL="54864" marR="54864">
                    <a:solidFill>
                      <a:srgbClr val="FCE4D6"/>
                    </a:solidFill>
                  </a:tcPr>
                </a:tc>
                <a:tc>
                  <a:txBody>
                    <a:bodyPr/>
                    <a:lstStyle/>
                    <a:p>
                      <a:pPr algn="ctr"/>
                      <a:r>
                        <a:rPr sz="1100" b="1">
                          <a:solidFill>
                            <a:srgbClr val="202020"/>
                          </a:solidFill>
                          <a:latin typeface="Calibri"/>
                        </a:rPr>
                        <a:t>Yes</a:t>
                      </a:r>
                    </a:p>
                  </a:txBody>
                  <a:tcPr marT="27432" marB="27432" marL="54864" marR="54864">
                    <a:solidFill>
                      <a:srgbClr val="FCE4D6"/>
                    </a:solidFill>
                  </a:tcPr>
                </a:tc>
                <a:tc>
                  <a:txBody>
                    <a:bodyPr/>
                    <a:lstStyle/>
                    <a:p>
                      <a:pPr algn="ctr"/>
                      <a:r>
                        <a:rPr sz="1100" b="1">
                          <a:solidFill>
                            <a:srgbClr val="202020"/>
                          </a:solidFill>
                          <a:latin typeface="Calibri"/>
                        </a:rPr>
                        <a:t>93.19</a:t>
                      </a:r>
                    </a:p>
                  </a:txBody>
                  <a:tcPr marT="27432" marB="27432" marL="54864" marR="54864">
                    <a:solidFill>
                      <a:srgbClr val="FCE4D6"/>
                    </a:solidFill>
                  </a:tcPr>
                </a:tc>
                <a:tc>
                  <a:txBody>
                    <a:bodyPr/>
                    <a:lstStyle/>
                    <a:p>
                      <a:pPr algn="ctr"/>
                      <a:r>
                        <a:rPr sz="1100" b="1">
                          <a:solidFill>
                            <a:srgbClr val="202020"/>
                          </a:solidFill>
                          <a:latin typeface="Calibri"/>
                        </a:rPr>
                        <a:t>+4.57</a:t>
                      </a:r>
                    </a:p>
                  </a:txBody>
                  <a:tcPr marT="27432" marB="27432" marL="54864" marR="54864">
                    <a:solidFill>
                      <a:srgbClr val="FCE4D6"/>
                    </a:solidFill>
                  </a:tcPr>
                </a:tc>
                <a:tc>
                  <a:txBody>
                    <a:bodyPr/>
                    <a:lstStyle/>
                    <a:p>
                      <a:pPr algn="ctr"/>
                      <a:r>
                        <a:rPr sz="1100" b="1">
                          <a:solidFill>
                            <a:srgbClr val="202020"/>
                          </a:solidFill>
                          <a:latin typeface="Calibri"/>
                        </a:rPr>
                        <a:t>158</a:t>
                      </a:r>
                    </a:p>
                  </a:txBody>
                  <a:tcPr marT="27432" marB="27432" marL="54864" marR="54864">
                    <a:solidFill>
                      <a:srgbClr val="FCE4D6"/>
                    </a:solidFill>
                  </a:tcPr>
                </a:tc>
              </a:tr>
            </a:tbl>
          </a:graphicData>
        </a:graphic>
      </p:graphicFrame>
      <p:pic>
        <p:nvPicPr>
          <p:cNvPr id="16" name="Picture 15" descr="V2_02_validation_curves.png"/>
          <p:cNvPicPr>
            <a:picLocks noChangeAspect="1"/>
          </p:cNvPicPr>
          <p:nvPr/>
        </p:nvPicPr>
        <p:blipFill>
          <a:blip r:embed="rId2"/>
          <a:stretch>
            <a:fillRect/>
          </a:stretch>
        </p:blipFill>
        <p:spPr>
          <a:xfrm>
            <a:off x="502920" y="2606040"/>
            <a:ext cx="8138160" cy="2274586"/>
          </a:xfrm>
          <a:prstGeom prst="rect">
            <a:avLst/>
          </a:prstGeom>
        </p:spPr>
      </p:pic>
      <p:sp>
        <p:nvSpPr>
          <p:cNvPr id="17" name="TextBox 16"/>
          <p:cNvSpPr txBox="1"/>
          <p:nvPr/>
        </p:nvSpPr>
        <p:spPr>
          <a:xfrm>
            <a:off x="502920" y="4892040"/>
            <a:ext cx="8138160" cy="274320"/>
          </a:xfrm>
          <a:prstGeom prst="rect">
            <a:avLst/>
          </a:prstGeom>
          <a:noFill/>
        </p:spPr>
        <p:txBody>
          <a:bodyPr wrap="square" lIns="0" tIns="0" rIns="0" bIns="0">
            <a:spAutoFit/>
          </a:bodyPr>
          <a:lstStyle/>
          <a:p>
            <a:pPr algn="ctr"/>
            <a:r>
              <a:rPr sz="1000" b="0" i="1">
                <a:solidFill>
                  <a:srgbClr val="595959"/>
                </a:solidFill>
                <a:latin typeface="Calibri"/>
              </a:rPr>
              <a:t>Validation macro F1 and validation accuracy per epoch for E1–E5</a:t>
            </a:r>
          </a:p>
        </p:txBody>
      </p:sp>
      <p:sp>
        <p:nvSpPr>
          <p:cNvPr id="18" name="TextBox 17"/>
          <p:cNvSpPr txBox="1"/>
          <p:nvPr/>
        </p:nvSpPr>
        <p:spPr>
          <a:xfrm>
            <a:off x="502920" y="5257800"/>
            <a:ext cx="8138160" cy="109728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E5 trains highest and most smoothly (val. macro F1 0.78 after epoch 1; val. accuracy 0.94–0.99); E1 is the most jagged and E2 the lowest.</a:t>
            </a:r>
          </a:p>
          <a:p>
            <a:pPr algn="l">
              <a:spcAft>
                <a:spcPts val="300"/>
              </a:spcAft>
            </a:pPr>
            <a:r>
              <a:rPr sz="1100" b="0" i="0">
                <a:solidFill>
                  <a:srgbClr val="202020"/>
                </a:solidFill>
                <a:latin typeface="Calibri"/>
              </a:rPr>
              <a:t>• E2, E3 and E4 reached the 30-epoch cap, so they may be slightly under-trained. All five runs took 8.1 min on a Tesla T4 GPU.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V2: Step-by-Step Results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502920" y="1005840"/>
          <a:ext cx="8138160" cy="2194560"/>
        </p:xfrm>
        <a:graphic>
          <a:graphicData uri="http://schemas.openxmlformats.org/drawingml/2006/table">
            <a:tbl>
              <a:tblPr firstRow="1" bandRow="1">
                <a:tableStyleId>{5C22544A-7EE6-4342-B048-85BDC9FD1C3A}</a:tableStyleId>
              </a:tblPr>
              <a:tblGrid>
                <a:gridCol w="640080"/>
                <a:gridCol w="2560320"/>
                <a:gridCol w="731520"/>
                <a:gridCol w="914400"/>
                <a:gridCol w="777240"/>
                <a:gridCol w="777240"/>
                <a:gridCol w="868680"/>
                <a:gridCol w="868680"/>
              </a:tblGrid>
              <a:tr h="274320">
                <a:tc>
                  <a:txBody>
                    <a:bodyPr/>
                    <a:lstStyle/>
                    <a:p>
                      <a:pPr algn="l"/>
                      <a:r>
                        <a:rPr sz="1100" b="1">
                          <a:solidFill>
                            <a:srgbClr val="FFFFFF"/>
                          </a:solidFill>
                          <a:latin typeface="Calibri"/>
                        </a:rPr>
                        <a:t>ID</a:t>
                      </a:r>
                    </a:p>
                  </a:txBody>
                  <a:tcPr marT="27432" marB="27432" marL="54864" marR="54864">
                    <a:solidFill>
                      <a:srgbClr val="1F3864"/>
                    </a:solidFill>
                  </a:tcPr>
                </a:tc>
                <a:tc>
                  <a:txBody>
                    <a:bodyPr/>
                    <a:lstStyle/>
                    <a:p>
                      <a:pPr algn="l"/>
                      <a:r>
                        <a:rPr sz="1100" b="1">
                          <a:solidFill>
                            <a:srgbClr val="FFFFFF"/>
                          </a:solidFill>
                          <a:latin typeface="Calibri"/>
                        </a:rPr>
                        <a:t>Change</a:t>
                      </a:r>
                    </a:p>
                  </a:txBody>
                  <a:tcPr marT="27432" marB="27432" marL="54864" marR="54864">
                    <a:solidFill>
                      <a:srgbClr val="1F3864"/>
                    </a:solidFill>
                  </a:tcPr>
                </a:tc>
                <a:tc>
                  <a:txBody>
                    <a:bodyPr/>
                    <a:lstStyle/>
                    <a:p>
                      <a:pPr algn="ctr"/>
                      <a:r>
                        <a:rPr sz="1100" b="1">
                          <a:solidFill>
                            <a:srgbClr val="FFFFFF"/>
                          </a:solidFill>
                          <a:latin typeface="Calibri"/>
                        </a:rPr>
                        <a:t>Acc.</a:t>
                      </a:r>
                    </a:p>
                  </a:txBody>
                  <a:tcPr marT="27432" marB="27432" marL="54864" marR="54864">
                    <a:solidFill>
                      <a:srgbClr val="1F3864"/>
                    </a:solidFill>
                  </a:tcPr>
                </a:tc>
                <a:tc>
                  <a:txBody>
                    <a:bodyPr/>
                    <a:lstStyle/>
                    <a:p>
                      <a:pPr algn="ctr"/>
                      <a:r>
                        <a:rPr sz="1100" b="1">
                          <a:solidFill>
                            <a:srgbClr val="FFFFFF"/>
                          </a:solidFill>
                          <a:latin typeface="Calibri"/>
                        </a:rPr>
                        <a:t>Macro F1</a:t>
                      </a:r>
                    </a:p>
                  </a:txBody>
                  <a:tcPr marT="27432" marB="27432" marL="54864" marR="54864">
                    <a:solidFill>
                      <a:srgbClr val="1F3864"/>
                    </a:solidFill>
                  </a:tcPr>
                </a:tc>
                <a:tc>
                  <a:txBody>
                    <a:bodyPr/>
                    <a:lstStyle/>
                    <a:p>
                      <a:pPr algn="ctr"/>
                      <a:r>
                        <a:rPr sz="1100" b="1">
                          <a:solidFill>
                            <a:srgbClr val="FFFFFF"/>
                          </a:solidFill>
                          <a:latin typeface="Calibri"/>
                        </a:rPr>
                        <a:t>S F1</a:t>
                      </a:r>
                    </a:p>
                  </a:txBody>
                  <a:tcPr marT="27432" marB="27432" marL="54864" marR="54864">
                    <a:solidFill>
                      <a:srgbClr val="1F3864"/>
                    </a:solidFill>
                  </a:tcPr>
                </a:tc>
                <a:tc>
                  <a:txBody>
                    <a:bodyPr/>
                    <a:lstStyle/>
                    <a:p>
                      <a:pPr algn="ctr"/>
                      <a:r>
                        <a:rPr sz="1100" b="1">
                          <a:solidFill>
                            <a:srgbClr val="FFFFFF"/>
                          </a:solidFill>
                          <a:latin typeface="Calibri"/>
                        </a:rPr>
                        <a:t>F F1</a:t>
                      </a:r>
                    </a:p>
                  </a:txBody>
                  <a:tcPr marT="27432" marB="27432" marL="54864" marR="54864">
                    <a:solidFill>
                      <a:srgbClr val="1F3864"/>
                    </a:solidFill>
                  </a:tcPr>
                </a:tc>
                <a:tc>
                  <a:txBody>
                    <a:bodyPr/>
                    <a:lstStyle/>
                    <a:p>
                      <a:pPr algn="ctr"/>
                      <a:r>
                        <a:rPr sz="1100" b="1">
                          <a:solidFill>
                            <a:srgbClr val="FFFFFF"/>
                          </a:solidFill>
                          <a:latin typeface="Calibri"/>
                        </a:rPr>
                        <a:t>Prec. F</a:t>
                      </a:r>
                    </a:p>
                  </a:txBody>
                  <a:tcPr marT="27432" marB="27432" marL="54864" marR="54864">
                    <a:solidFill>
                      <a:srgbClr val="1F3864"/>
                    </a:solidFill>
                  </a:tcPr>
                </a:tc>
                <a:tc>
                  <a:txBody>
                    <a:bodyPr/>
                    <a:lstStyle/>
                    <a:p>
                      <a:pPr algn="ctr"/>
                      <a:r>
                        <a:rPr sz="1100" b="1">
                          <a:solidFill>
                            <a:srgbClr val="FFFFFF"/>
                          </a:solidFill>
                          <a:latin typeface="Calibri"/>
                        </a:rPr>
                        <a:t>Rec. F</a:t>
                      </a:r>
                    </a:p>
                  </a:txBody>
                  <a:tcPr marT="27432" marB="27432" marL="54864" marR="54864">
                    <a:solidFill>
                      <a:srgbClr val="1F3864"/>
                    </a:solidFill>
                  </a:tcPr>
                </a:tc>
              </a:tr>
              <a:tr h="274320">
                <a:tc>
                  <a:txBody>
                    <a:bodyPr/>
                    <a:lstStyle/>
                    <a:p>
                      <a:pPr algn="l"/>
                      <a:r>
                        <a:rPr sz="1100" b="1">
                          <a:solidFill>
                            <a:srgbClr val="202020"/>
                          </a:solidFill>
                          <a:latin typeface="Calibri"/>
                        </a:rPr>
                        <a:t>B0</a:t>
                      </a:r>
                    </a:p>
                  </a:txBody>
                  <a:tcPr marT="27432" marB="27432" marL="54864" marR="54864">
                    <a:solidFill>
                      <a:srgbClr val="F2F2F2"/>
                    </a:solidFill>
                  </a:tcPr>
                </a:tc>
                <a:tc>
                  <a:txBody>
                    <a:bodyPr/>
                    <a:lstStyle/>
                    <a:p>
                      <a:pPr algn="l"/>
                      <a:r>
                        <a:rPr sz="1100" b="0">
                          <a:solidFill>
                            <a:srgbClr val="202020"/>
                          </a:solidFill>
                          <a:latin typeface="Calibri"/>
                        </a:rPr>
                        <a:t>V1 baseline</a:t>
                      </a:r>
                    </a:p>
                  </a:txBody>
                  <a:tcPr marT="27432" marB="27432" marL="54864" marR="54864">
                    <a:solidFill>
                      <a:srgbClr val="F2F2F2"/>
                    </a:solidFill>
                  </a:tcPr>
                </a:tc>
                <a:tc>
                  <a:txBody>
                    <a:bodyPr/>
                    <a:lstStyle/>
                    <a:p>
                      <a:pPr algn="ctr"/>
                      <a:r>
                        <a:rPr sz="1100" b="0">
                          <a:solidFill>
                            <a:srgbClr val="202020"/>
                          </a:solidFill>
                          <a:latin typeface="Calibri"/>
                        </a:rPr>
                        <a:t>94.41</a:t>
                      </a:r>
                    </a:p>
                  </a:txBody>
                  <a:tcPr marT="27432" marB="27432" marL="54864" marR="54864">
                    <a:solidFill>
                      <a:srgbClr val="F2F2F2"/>
                    </a:solidFill>
                  </a:tcPr>
                </a:tc>
                <a:tc>
                  <a:txBody>
                    <a:bodyPr/>
                    <a:lstStyle/>
                    <a:p>
                      <a:pPr algn="ctr"/>
                      <a:r>
                        <a:rPr sz="1100" b="0">
                          <a:solidFill>
                            <a:srgbClr val="202020"/>
                          </a:solidFill>
                          <a:latin typeface="Calibri"/>
                        </a:rPr>
                        <a:t>76.29</a:t>
                      </a:r>
                    </a:p>
                  </a:txBody>
                  <a:tcPr marT="27432" marB="27432" marL="54864" marR="54864">
                    <a:solidFill>
                      <a:srgbClr val="F2F2F2"/>
                    </a:solidFill>
                  </a:tcPr>
                </a:tc>
                <a:tc>
                  <a:txBody>
                    <a:bodyPr/>
                    <a:lstStyle/>
                    <a:p>
                      <a:pPr algn="ctr"/>
                      <a:r>
                        <a:rPr sz="1100" b="0">
                          <a:solidFill>
                            <a:srgbClr val="202020"/>
                          </a:solidFill>
                          <a:latin typeface="Calibri"/>
                        </a:rPr>
                        <a:t>60.90</a:t>
                      </a:r>
                    </a:p>
                  </a:txBody>
                  <a:tcPr marT="27432" marB="27432" marL="54864" marR="54864">
                    <a:solidFill>
                      <a:srgbClr val="F2F2F2"/>
                    </a:solidFill>
                  </a:tcPr>
                </a:tc>
                <a:tc>
                  <a:txBody>
                    <a:bodyPr/>
                    <a:lstStyle/>
                    <a:p>
                      <a:pPr algn="ctr"/>
                      <a:r>
                        <a:rPr sz="1100" b="0">
                          <a:solidFill>
                            <a:srgbClr val="202020"/>
                          </a:solidFill>
                          <a:latin typeface="Calibri"/>
                        </a:rPr>
                        <a:t>40.00</a:t>
                      </a:r>
                    </a:p>
                  </a:txBody>
                  <a:tcPr marT="27432" marB="27432" marL="54864" marR="54864">
                    <a:solidFill>
                      <a:srgbClr val="F2F2F2"/>
                    </a:solidFill>
                  </a:tcPr>
                </a:tc>
                <a:tc>
                  <a:txBody>
                    <a:bodyPr/>
                    <a:lstStyle/>
                    <a:p>
                      <a:pPr algn="ctr"/>
                      <a:r>
                        <a:rPr sz="1100" b="0">
                          <a:solidFill>
                            <a:srgbClr val="202020"/>
                          </a:solidFill>
                          <a:latin typeface="Calibri"/>
                        </a:rPr>
                        <a:t>26.02</a:t>
                      </a:r>
                    </a:p>
                  </a:txBody>
                  <a:tcPr marT="27432" marB="27432" marL="54864" marR="54864">
                    <a:solidFill>
                      <a:srgbClr val="F2F2F2"/>
                    </a:solidFill>
                  </a:tcPr>
                </a:tc>
                <a:tc>
                  <a:txBody>
                    <a:bodyPr/>
                    <a:lstStyle/>
                    <a:p>
                      <a:pPr algn="ctr"/>
                      <a:r>
                        <a:rPr sz="1100" b="0">
                          <a:solidFill>
                            <a:srgbClr val="202020"/>
                          </a:solidFill>
                          <a:latin typeface="Calibri"/>
                        </a:rPr>
                        <a:t>86.42</a:t>
                      </a:r>
                    </a:p>
                  </a:txBody>
                  <a:tcPr marT="27432" marB="27432" marL="54864" marR="54864">
                    <a:solidFill>
                      <a:srgbClr val="F2F2F2"/>
                    </a:solidFill>
                  </a:tcPr>
                </a:tc>
              </a:tr>
              <a:tr h="274320">
                <a:tc>
                  <a:txBody>
                    <a:bodyPr/>
                    <a:lstStyle/>
                    <a:p>
                      <a:pPr algn="l"/>
                      <a:r>
                        <a:rPr sz="1100" b="1">
                          <a:solidFill>
                            <a:srgbClr val="202020"/>
                          </a:solidFill>
                          <a:latin typeface="Calibri"/>
                        </a:rPr>
                        <a:t>E1</a:t>
                      </a:r>
                    </a:p>
                  </a:txBody>
                  <a:tcPr marT="27432" marB="27432" marL="54864" marR="54864">
                    <a:solidFill>
                      <a:srgbClr val="FFFFFF"/>
                    </a:solidFill>
                  </a:tcPr>
                </a:tc>
                <a:tc>
                  <a:txBody>
                    <a:bodyPr/>
                    <a:lstStyle/>
                    <a:p>
                      <a:pPr algn="l"/>
                      <a:r>
                        <a:rPr sz="1100" b="0">
                          <a:solidFill>
                            <a:srgbClr val="202020"/>
                          </a:solidFill>
                          <a:latin typeface="Calibri"/>
                        </a:rPr>
                        <a:t>Epoch chosen on val. macro F1</a:t>
                      </a:r>
                    </a:p>
                  </a:txBody>
                  <a:tcPr marT="27432" marB="27432" marL="54864" marR="54864">
                    <a:solidFill>
                      <a:srgbClr val="FFFFFF"/>
                    </a:solidFill>
                  </a:tcPr>
                </a:tc>
                <a:tc>
                  <a:txBody>
                    <a:bodyPr/>
                    <a:lstStyle/>
                    <a:p>
                      <a:pPr algn="ctr"/>
                      <a:r>
                        <a:rPr sz="1100" b="0">
                          <a:solidFill>
                            <a:srgbClr val="202020"/>
                          </a:solidFill>
                          <a:latin typeface="Calibri"/>
                        </a:rPr>
                        <a:t>96.28</a:t>
                      </a:r>
                    </a:p>
                  </a:txBody>
                  <a:tcPr marT="27432" marB="27432" marL="54864" marR="54864">
                    <a:solidFill>
                      <a:srgbClr val="FFFFFF"/>
                    </a:solidFill>
                  </a:tcPr>
                </a:tc>
                <a:tc>
                  <a:txBody>
                    <a:bodyPr/>
                    <a:lstStyle/>
                    <a:p>
                      <a:pPr algn="ctr"/>
                      <a:r>
                        <a:rPr sz="1100" b="0">
                          <a:solidFill>
                            <a:srgbClr val="202020"/>
                          </a:solidFill>
                          <a:latin typeface="Calibri"/>
                        </a:rPr>
                        <a:t>83.96</a:t>
                      </a:r>
                    </a:p>
                  </a:txBody>
                  <a:tcPr marT="27432" marB="27432" marL="54864" marR="54864">
                    <a:solidFill>
                      <a:srgbClr val="FFFFFF"/>
                    </a:solidFill>
                  </a:tcPr>
                </a:tc>
                <a:tc>
                  <a:txBody>
                    <a:bodyPr/>
                    <a:lstStyle/>
                    <a:p>
                      <a:pPr algn="ctr"/>
                      <a:r>
                        <a:rPr sz="1100" b="0">
                          <a:solidFill>
                            <a:srgbClr val="202020"/>
                          </a:solidFill>
                          <a:latin typeface="Calibri"/>
                        </a:rPr>
                        <a:t>63.48</a:t>
                      </a:r>
                    </a:p>
                  </a:txBody>
                  <a:tcPr marT="27432" marB="27432" marL="54864" marR="54864">
                    <a:solidFill>
                      <a:srgbClr val="FFFFFF"/>
                    </a:solidFill>
                  </a:tcPr>
                </a:tc>
                <a:tc>
                  <a:txBody>
                    <a:bodyPr/>
                    <a:lstStyle/>
                    <a:p>
                      <a:pPr algn="ctr"/>
                      <a:r>
                        <a:rPr sz="1100" b="0">
                          <a:solidFill>
                            <a:srgbClr val="202020"/>
                          </a:solidFill>
                          <a:latin typeface="Calibri"/>
                        </a:rPr>
                        <a:t>68.12</a:t>
                      </a:r>
                    </a:p>
                  </a:txBody>
                  <a:tcPr marT="27432" marB="27432" marL="54864" marR="54864">
                    <a:solidFill>
                      <a:srgbClr val="FFFFFF"/>
                    </a:solidFill>
                  </a:tcPr>
                </a:tc>
                <a:tc>
                  <a:txBody>
                    <a:bodyPr/>
                    <a:lstStyle/>
                    <a:p>
                      <a:pPr algn="ctr"/>
                      <a:r>
                        <a:rPr sz="1100" b="0">
                          <a:solidFill>
                            <a:srgbClr val="202020"/>
                          </a:solidFill>
                          <a:latin typeface="Calibri"/>
                        </a:rPr>
                        <a:t>55.95</a:t>
                      </a:r>
                    </a:p>
                  </a:txBody>
                  <a:tcPr marT="27432" marB="27432" marL="54864" marR="54864">
                    <a:solidFill>
                      <a:srgbClr val="FFFFFF"/>
                    </a:solidFill>
                  </a:tcPr>
                </a:tc>
                <a:tc>
                  <a:txBody>
                    <a:bodyPr/>
                    <a:lstStyle/>
                    <a:p>
                      <a:pPr algn="ctr"/>
                      <a:r>
                        <a:rPr sz="1100" b="0">
                          <a:solidFill>
                            <a:srgbClr val="202020"/>
                          </a:solidFill>
                          <a:latin typeface="Calibri"/>
                        </a:rPr>
                        <a:t>87.04</a:t>
                      </a:r>
                    </a:p>
                  </a:txBody>
                  <a:tcPr marT="27432" marB="27432" marL="54864" marR="54864">
                    <a:solidFill>
                      <a:srgbClr val="FFFFFF"/>
                    </a:solidFill>
                  </a:tcPr>
                </a:tc>
              </a:tr>
              <a:tr h="274320">
                <a:tc>
                  <a:txBody>
                    <a:bodyPr/>
                    <a:lstStyle/>
                    <a:p>
                      <a:pPr algn="l"/>
                      <a:r>
                        <a:rPr sz="1100" b="1">
                          <a:solidFill>
                            <a:srgbClr val="202020"/>
                          </a:solidFill>
                          <a:latin typeface="Calibri"/>
                        </a:rPr>
                        <a:t>E2</a:t>
                      </a:r>
                    </a:p>
                  </a:txBody>
                  <a:tcPr marT="27432" marB="27432" marL="54864" marR="54864">
                    <a:solidFill>
                      <a:srgbClr val="F2F2F2"/>
                    </a:solidFill>
                  </a:tcPr>
                </a:tc>
                <a:tc>
                  <a:txBody>
                    <a:bodyPr/>
                    <a:lstStyle/>
                    <a:p>
                      <a:pPr algn="l"/>
                      <a:r>
                        <a:rPr sz="1100" b="0">
                          <a:solidFill>
                            <a:srgbClr val="202020"/>
                          </a:solidFill>
                          <a:latin typeface="Calibri"/>
                        </a:rPr>
                        <a:t>+ lower LR, clipping, BN 0.9</a:t>
                      </a:r>
                    </a:p>
                  </a:txBody>
                  <a:tcPr marT="27432" marB="27432" marL="54864" marR="54864">
                    <a:solidFill>
                      <a:srgbClr val="F2F2F2"/>
                    </a:solidFill>
                  </a:tcPr>
                </a:tc>
                <a:tc>
                  <a:txBody>
                    <a:bodyPr/>
                    <a:lstStyle/>
                    <a:p>
                      <a:pPr algn="ctr"/>
                      <a:r>
                        <a:rPr sz="1100" b="0">
                          <a:solidFill>
                            <a:srgbClr val="202020"/>
                          </a:solidFill>
                          <a:latin typeface="Calibri"/>
                        </a:rPr>
                        <a:t>93.58</a:t>
                      </a:r>
                    </a:p>
                  </a:txBody>
                  <a:tcPr marT="27432" marB="27432" marL="54864" marR="54864">
                    <a:solidFill>
                      <a:srgbClr val="F2F2F2"/>
                    </a:solidFill>
                  </a:tcPr>
                </a:tc>
                <a:tc>
                  <a:txBody>
                    <a:bodyPr/>
                    <a:lstStyle/>
                    <a:p>
                      <a:pPr algn="ctr"/>
                      <a:r>
                        <a:rPr sz="1100" b="0">
                          <a:solidFill>
                            <a:srgbClr val="202020"/>
                          </a:solidFill>
                          <a:latin typeface="Calibri"/>
                        </a:rPr>
                        <a:t>78.30</a:t>
                      </a:r>
                    </a:p>
                  </a:txBody>
                  <a:tcPr marT="27432" marB="27432" marL="54864" marR="54864">
                    <a:solidFill>
                      <a:srgbClr val="F2F2F2"/>
                    </a:solidFill>
                  </a:tcPr>
                </a:tc>
                <a:tc>
                  <a:txBody>
                    <a:bodyPr/>
                    <a:lstStyle/>
                    <a:p>
                      <a:pPr algn="ctr"/>
                      <a:r>
                        <a:rPr sz="1100" b="0">
                          <a:solidFill>
                            <a:srgbClr val="202020"/>
                          </a:solidFill>
                          <a:latin typeface="Calibri"/>
                        </a:rPr>
                        <a:t>49.13</a:t>
                      </a:r>
                    </a:p>
                  </a:txBody>
                  <a:tcPr marT="27432" marB="27432" marL="54864" marR="54864">
                    <a:solidFill>
                      <a:srgbClr val="F2F2F2"/>
                    </a:solidFill>
                  </a:tcPr>
                </a:tc>
                <a:tc>
                  <a:txBody>
                    <a:bodyPr/>
                    <a:lstStyle/>
                    <a:p>
                      <a:pPr algn="ctr"/>
                      <a:r>
                        <a:rPr sz="1100" b="0">
                          <a:solidFill>
                            <a:srgbClr val="202020"/>
                          </a:solidFill>
                          <a:latin typeface="Calibri"/>
                        </a:rPr>
                        <a:t>58.49</a:t>
                      </a:r>
                    </a:p>
                  </a:txBody>
                  <a:tcPr marT="27432" marB="27432" marL="54864" marR="54864">
                    <a:solidFill>
                      <a:srgbClr val="F2F2F2"/>
                    </a:solidFill>
                  </a:tcPr>
                </a:tc>
                <a:tc>
                  <a:txBody>
                    <a:bodyPr/>
                    <a:lstStyle/>
                    <a:p>
                      <a:pPr algn="ctr"/>
                      <a:r>
                        <a:rPr sz="1100" b="0">
                          <a:solidFill>
                            <a:srgbClr val="202020"/>
                          </a:solidFill>
                          <a:latin typeface="Calibri"/>
                        </a:rPr>
                        <a:t>43.73</a:t>
                      </a:r>
                    </a:p>
                  </a:txBody>
                  <a:tcPr marT="27432" marB="27432" marL="54864" marR="54864">
                    <a:solidFill>
                      <a:srgbClr val="F2F2F2"/>
                    </a:solidFill>
                  </a:tcPr>
                </a:tc>
                <a:tc>
                  <a:txBody>
                    <a:bodyPr/>
                    <a:lstStyle/>
                    <a:p>
                      <a:pPr algn="ctr"/>
                      <a:r>
                        <a:rPr sz="1100" b="0">
                          <a:solidFill>
                            <a:srgbClr val="202020"/>
                          </a:solidFill>
                          <a:latin typeface="Calibri"/>
                        </a:rPr>
                        <a:t>88.27</a:t>
                      </a:r>
                    </a:p>
                  </a:txBody>
                  <a:tcPr marT="27432" marB="27432" marL="54864" marR="54864">
                    <a:solidFill>
                      <a:srgbClr val="F2F2F2"/>
                    </a:solidFill>
                  </a:tcPr>
                </a:tc>
              </a:tr>
              <a:tr h="274320">
                <a:tc>
                  <a:txBody>
                    <a:bodyPr/>
                    <a:lstStyle/>
                    <a:p>
                      <a:pPr algn="l"/>
                      <a:r>
                        <a:rPr sz="1100" b="1">
                          <a:solidFill>
                            <a:srgbClr val="202020"/>
                          </a:solidFill>
                          <a:latin typeface="Calibri"/>
                        </a:rPr>
                        <a:t>E3</a:t>
                      </a:r>
                    </a:p>
                  </a:txBody>
                  <a:tcPr marT="27432" marB="27432" marL="54864" marR="54864">
                    <a:solidFill>
                      <a:srgbClr val="FFFFFF"/>
                    </a:solidFill>
                  </a:tcPr>
                </a:tc>
                <a:tc>
                  <a:txBody>
                    <a:bodyPr/>
                    <a:lstStyle/>
                    <a:p>
                      <a:pPr algn="l"/>
                      <a:r>
                        <a:rPr sz="1100" b="0">
                          <a:solidFill>
                            <a:srgbClr val="202020"/>
                          </a:solidFill>
                          <a:latin typeface="Calibri"/>
                        </a:rPr>
                        <a:t>+ square-root class weights</a:t>
                      </a:r>
                    </a:p>
                  </a:txBody>
                  <a:tcPr marT="27432" marB="27432" marL="54864" marR="54864">
                    <a:solidFill>
                      <a:srgbClr val="FFFFFF"/>
                    </a:solidFill>
                  </a:tcPr>
                </a:tc>
                <a:tc>
                  <a:txBody>
                    <a:bodyPr/>
                    <a:lstStyle/>
                    <a:p>
                      <a:pPr algn="ctr"/>
                      <a:r>
                        <a:rPr sz="1100" b="0">
                          <a:solidFill>
                            <a:srgbClr val="202020"/>
                          </a:solidFill>
                          <a:latin typeface="Calibri"/>
                        </a:rPr>
                        <a:t>97.39</a:t>
                      </a:r>
                    </a:p>
                  </a:txBody>
                  <a:tcPr marT="27432" marB="27432" marL="54864" marR="54864">
                    <a:solidFill>
                      <a:srgbClr val="FFFFFF"/>
                    </a:solidFill>
                  </a:tcPr>
                </a:tc>
                <a:tc>
                  <a:txBody>
                    <a:bodyPr/>
                    <a:lstStyle/>
                    <a:p>
                      <a:pPr algn="ctr"/>
                      <a:r>
                        <a:rPr sz="1100" b="0">
                          <a:solidFill>
                            <a:srgbClr val="202020"/>
                          </a:solidFill>
                          <a:latin typeface="Calibri"/>
                        </a:rPr>
                        <a:t>87.58</a:t>
                      </a:r>
                    </a:p>
                  </a:txBody>
                  <a:tcPr marT="27432" marB="27432" marL="54864" marR="54864">
                    <a:solidFill>
                      <a:srgbClr val="FFFFFF"/>
                    </a:solidFill>
                  </a:tcPr>
                </a:tc>
                <a:tc>
                  <a:txBody>
                    <a:bodyPr/>
                    <a:lstStyle/>
                    <a:p>
                      <a:pPr algn="ctr"/>
                      <a:r>
                        <a:rPr sz="1100" b="0">
                          <a:solidFill>
                            <a:srgbClr val="202020"/>
                          </a:solidFill>
                          <a:latin typeface="Calibri"/>
                        </a:rPr>
                        <a:t>69.84</a:t>
                      </a:r>
                    </a:p>
                  </a:txBody>
                  <a:tcPr marT="27432" marB="27432" marL="54864" marR="54864">
                    <a:solidFill>
                      <a:srgbClr val="FFFFFF"/>
                    </a:solidFill>
                  </a:tcPr>
                </a:tc>
                <a:tc>
                  <a:txBody>
                    <a:bodyPr/>
                    <a:lstStyle/>
                    <a:p>
                      <a:pPr algn="ctr"/>
                      <a:r>
                        <a:rPr sz="1100" b="0">
                          <a:solidFill>
                            <a:srgbClr val="202020"/>
                          </a:solidFill>
                          <a:latin typeface="Calibri"/>
                        </a:rPr>
                        <a:t>76.97</a:t>
                      </a:r>
                    </a:p>
                  </a:txBody>
                  <a:tcPr marT="27432" marB="27432" marL="54864" marR="54864">
                    <a:solidFill>
                      <a:srgbClr val="FFFFFF"/>
                    </a:solidFill>
                  </a:tcPr>
                </a:tc>
                <a:tc>
                  <a:txBody>
                    <a:bodyPr/>
                    <a:lstStyle/>
                    <a:p>
                      <a:pPr algn="ctr"/>
                      <a:r>
                        <a:rPr sz="1100" b="0">
                          <a:solidFill>
                            <a:srgbClr val="202020"/>
                          </a:solidFill>
                          <a:latin typeface="Calibri"/>
                        </a:rPr>
                        <a:t>75.60</a:t>
                      </a:r>
                    </a:p>
                  </a:txBody>
                  <a:tcPr marT="27432" marB="27432" marL="54864" marR="54864">
                    <a:solidFill>
                      <a:srgbClr val="FFFFFF"/>
                    </a:solidFill>
                  </a:tcPr>
                </a:tc>
                <a:tc>
                  <a:txBody>
                    <a:bodyPr/>
                    <a:lstStyle/>
                    <a:p>
                      <a:pPr algn="ctr"/>
                      <a:r>
                        <a:rPr sz="1100" b="0">
                          <a:solidFill>
                            <a:srgbClr val="202020"/>
                          </a:solidFill>
                          <a:latin typeface="Calibri"/>
                        </a:rPr>
                        <a:t>78.40</a:t>
                      </a:r>
                    </a:p>
                  </a:txBody>
                  <a:tcPr marT="27432" marB="27432" marL="54864" marR="54864">
                    <a:solidFill>
                      <a:srgbClr val="FFFFFF"/>
                    </a:solidFill>
                  </a:tcPr>
                </a:tc>
              </a:tr>
              <a:tr h="274320">
                <a:tc>
                  <a:txBody>
                    <a:bodyPr/>
                    <a:lstStyle/>
                    <a:p>
                      <a:pPr algn="l"/>
                      <a:r>
                        <a:rPr sz="1100" b="1">
                          <a:solidFill>
                            <a:srgbClr val="202020"/>
                          </a:solidFill>
                          <a:latin typeface="Calibri"/>
                        </a:rPr>
                        <a:t>E4</a:t>
                      </a:r>
                    </a:p>
                  </a:txBody>
                  <a:tcPr marT="27432" marB="27432" marL="54864" marR="54864">
                    <a:solidFill>
                      <a:srgbClr val="F2F2F2"/>
                    </a:solidFill>
                  </a:tcPr>
                </a:tc>
                <a:tc>
                  <a:txBody>
                    <a:bodyPr/>
                    <a:lstStyle/>
                    <a:p>
                      <a:pPr algn="l"/>
                      <a:r>
                        <a:rPr sz="1100" b="0">
                          <a:solidFill>
                            <a:srgbClr val="202020"/>
                          </a:solidFill>
                          <a:latin typeface="Calibri"/>
                        </a:rPr>
                        <a:t>+ light augmentation</a:t>
                      </a:r>
                    </a:p>
                  </a:txBody>
                  <a:tcPr marT="27432" marB="27432" marL="54864" marR="54864">
                    <a:solidFill>
                      <a:srgbClr val="F2F2F2"/>
                    </a:solidFill>
                  </a:tcPr>
                </a:tc>
                <a:tc>
                  <a:txBody>
                    <a:bodyPr/>
                    <a:lstStyle/>
                    <a:p>
                      <a:pPr algn="ctr"/>
                      <a:r>
                        <a:rPr sz="1100" b="0">
                          <a:solidFill>
                            <a:srgbClr val="202020"/>
                          </a:solidFill>
                          <a:latin typeface="Calibri"/>
                        </a:rPr>
                        <a:t>97.02</a:t>
                      </a:r>
                    </a:p>
                  </a:txBody>
                  <a:tcPr marT="27432" marB="27432" marL="54864" marR="54864">
                    <a:solidFill>
                      <a:srgbClr val="F2F2F2"/>
                    </a:solidFill>
                  </a:tcPr>
                </a:tc>
                <a:tc>
                  <a:txBody>
                    <a:bodyPr/>
                    <a:lstStyle/>
                    <a:p>
                      <a:pPr algn="ctr"/>
                      <a:r>
                        <a:rPr sz="1100" b="0">
                          <a:solidFill>
                            <a:srgbClr val="202020"/>
                          </a:solidFill>
                          <a:latin typeface="Calibri"/>
                        </a:rPr>
                        <a:t>86.20</a:t>
                      </a:r>
                    </a:p>
                  </a:txBody>
                  <a:tcPr marT="27432" marB="27432" marL="54864" marR="54864">
                    <a:solidFill>
                      <a:srgbClr val="F2F2F2"/>
                    </a:solidFill>
                  </a:tcPr>
                </a:tc>
                <a:tc>
                  <a:txBody>
                    <a:bodyPr/>
                    <a:lstStyle/>
                    <a:p>
                      <a:pPr algn="ctr"/>
                      <a:r>
                        <a:rPr sz="1100" b="0">
                          <a:solidFill>
                            <a:srgbClr val="202020"/>
                          </a:solidFill>
                          <a:latin typeface="Calibri"/>
                        </a:rPr>
                        <a:t>66.16</a:t>
                      </a:r>
                    </a:p>
                  </a:txBody>
                  <a:tcPr marT="27432" marB="27432" marL="54864" marR="54864">
                    <a:solidFill>
                      <a:srgbClr val="F2F2F2"/>
                    </a:solidFill>
                  </a:tcPr>
                </a:tc>
                <a:tc>
                  <a:txBody>
                    <a:bodyPr/>
                    <a:lstStyle/>
                    <a:p>
                      <a:pPr algn="ctr"/>
                      <a:r>
                        <a:rPr sz="1100" b="0">
                          <a:solidFill>
                            <a:srgbClr val="202020"/>
                          </a:solidFill>
                          <a:latin typeface="Calibri"/>
                        </a:rPr>
                        <a:t>76.25</a:t>
                      </a:r>
                    </a:p>
                  </a:txBody>
                  <a:tcPr marT="27432" marB="27432" marL="54864" marR="54864">
                    <a:solidFill>
                      <a:srgbClr val="F2F2F2"/>
                    </a:solidFill>
                  </a:tcPr>
                </a:tc>
                <a:tc>
                  <a:txBody>
                    <a:bodyPr/>
                    <a:lstStyle/>
                    <a:p>
                      <a:pPr algn="ctr"/>
                      <a:r>
                        <a:rPr sz="1100" b="0">
                          <a:solidFill>
                            <a:srgbClr val="202020"/>
                          </a:solidFill>
                          <a:latin typeface="Calibri"/>
                        </a:rPr>
                        <a:t>72.63</a:t>
                      </a:r>
                    </a:p>
                  </a:txBody>
                  <a:tcPr marT="27432" marB="27432" marL="54864" marR="54864">
                    <a:solidFill>
                      <a:srgbClr val="F2F2F2"/>
                    </a:solidFill>
                  </a:tcPr>
                </a:tc>
                <a:tc>
                  <a:txBody>
                    <a:bodyPr/>
                    <a:lstStyle/>
                    <a:p>
                      <a:pPr algn="ctr"/>
                      <a:r>
                        <a:rPr sz="1100" b="0">
                          <a:solidFill>
                            <a:srgbClr val="202020"/>
                          </a:solidFill>
                          <a:latin typeface="Calibri"/>
                        </a:rPr>
                        <a:t>80.25</a:t>
                      </a:r>
                    </a:p>
                  </a:txBody>
                  <a:tcPr marT="27432" marB="27432" marL="54864" marR="54864">
                    <a:solidFill>
                      <a:srgbClr val="F2F2F2"/>
                    </a:solidFill>
                  </a:tcPr>
                </a:tc>
              </a:tr>
              <a:tr h="274320">
                <a:tc>
                  <a:txBody>
                    <a:bodyPr/>
                    <a:lstStyle/>
                    <a:p>
                      <a:pPr algn="l"/>
                      <a:r>
                        <a:rPr sz="1100" b="1">
                          <a:solidFill>
                            <a:srgbClr val="202020"/>
                          </a:solidFill>
                          <a:latin typeface="Calibri"/>
                        </a:rPr>
                        <a:t>E5</a:t>
                      </a:r>
                    </a:p>
                  </a:txBody>
                  <a:tcPr marT="27432" marB="27432" marL="54864" marR="54864">
                    <a:solidFill>
                      <a:srgbClr val="FFFFFF"/>
                    </a:solidFill>
                  </a:tcPr>
                </a:tc>
                <a:tc>
                  <a:txBody>
                    <a:bodyPr/>
                    <a:lstStyle/>
                    <a:p>
                      <a:pPr algn="l"/>
                      <a:r>
                        <a:rPr sz="1100" b="0">
                          <a:solidFill>
                            <a:srgbClr val="202020"/>
                          </a:solidFill>
                          <a:latin typeface="Calibri"/>
                        </a:rPr>
                        <a:t>+ residual network</a:t>
                      </a:r>
                    </a:p>
                  </a:txBody>
                  <a:tcPr marT="27432" marB="27432" marL="54864" marR="54864">
                    <a:solidFill>
                      <a:srgbClr val="FFFFFF"/>
                    </a:solidFill>
                  </a:tcPr>
                </a:tc>
                <a:tc>
                  <a:txBody>
                    <a:bodyPr/>
                    <a:lstStyle/>
                    <a:p>
                      <a:pPr algn="ctr"/>
                      <a:r>
                        <a:rPr sz="1100" b="0">
                          <a:solidFill>
                            <a:srgbClr val="202020"/>
                          </a:solidFill>
                          <a:latin typeface="Calibri"/>
                        </a:rPr>
                        <a:t>98.29</a:t>
                      </a:r>
                    </a:p>
                  </a:txBody>
                  <a:tcPr marT="27432" marB="27432" marL="54864" marR="54864">
                    <a:solidFill>
                      <a:srgbClr val="FFFFFF"/>
                    </a:solidFill>
                  </a:tcPr>
                </a:tc>
                <a:tc>
                  <a:txBody>
                    <a:bodyPr/>
                    <a:lstStyle/>
                    <a:p>
                      <a:pPr algn="ctr"/>
                      <a:r>
                        <a:rPr sz="1100" b="0">
                          <a:solidFill>
                            <a:srgbClr val="202020"/>
                          </a:solidFill>
                          <a:latin typeface="Calibri"/>
                        </a:rPr>
                        <a:t>90.77</a:t>
                      </a:r>
                    </a:p>
                  </a:txBody>
                  <a:tcPr marT="27432" marB="27432" marL="54864" marR="54864">
                    <a:solidFill>
                      <a:srgbClr val="FFFFFF"/>
                    </a:solidFill>
                  </a:tcPr>
                </a:tc>
                <a:tc>
                  <a:txBody>
                    <a:bodyPr/>
                    <a:lstStyle/>
                    <a:p>
                      <a:pPr algn="ctr"/>
                      <a:r>
                        <a:rPr sz="1100" b="0">
                          <a:solidFill>
                            <a:srgbClr val="202020"/>
                          </a:solidFill>
                          <a:latin typeface="Calibri"/>
                        </a:rPr>
                        <a:t>81.22</a:t>
                      </a:r>
                    </a:p>
                  </a:txBody>
                  <a:tcPr marT="27432" marB="27432" marL="54864" marR="54864">
                    <a:solidFill>
                      <a:srgbClr val="FFFFFF"/>
                    </a:solidFill>
                  </a:tcPr>
                </a:tc>
                <a:tc>
                  <a:txBody>
                    <a:bodyPr/>
                    <a:lstStyle/>
                    <a:p>
                      <a:pPr algn="ctr"/>
                      <a:r>
                        <a:rPr sz="1100" b="0">
                          <a:solidFill>
                            <a:srgbClr val="202020"/>
                          </a:solidFill>
                          <a:latin typeface="Calibri"/>
                        </a:rPr>
                        <a:t>78.53</a:t>
                      </a:r>
                    </a:p>
                  </a:txBody>
                  <a:tcPr marT="27432" marB="27432" marL="54864" marR="54864">
                    <a:solidFill>
                      <a:srgbClr val="FFFFFF"/>
                    </a:solidFill>
                  </a:tcPr>
                </a:tc>
                <a:tc>
                  <a:txBody>
                    <a:bodyPr/>
                    <a:lstStyle/>
                    <a:p>
                      <a:pPr algn="ctr"/>
                      <a:r>
                        <a:rPr sz="1100" b="0">
                          <a:solidFill>
                            <a:srgbClr val="202020"/>
                          </a:solidFill>
                          <a:latin typeface="Calibri"/>
                        </a:rPr>
                        <a:t>78.05</a:t>
                      </a:r>
                    </a:p>
                  </a:txBody>
                  <a:tcPr marT="27432" marB="27432" marL="54864" marR="54864">
                    <a:solidFill>
                      <a:srgbClr val="FFFFFF"/>
                    </a:solidFill>
                  </a:tcPr>
                </a:tc>
                <a:tc>
                  <a:txBody>
                    <a:bodyPr/>
                    <a:lstStyle/>
                    <a:p>
                      <a:pPr algn="ctr"/>
                      <a:r>
                        <a:rPr sz="1100" b="0">
                          <a:solidFill>
                            <a:srgbClr val="202020"/>
                          </a:solidFill>
                          <a:latin typeface="Calibri"/>
                        </a:rPr>
                        <a:t>79.01</a:t>
                      </a:r>
                    </a:p>
                  </a:txBody>
                  <a:tcPr marT="27432" marB="27432" marL="54864" marR="54864">
                    <a:solidFill>
                      <a:srgbClr val="FFFFFF"/>
                    </a:solidFill>
                  </a:tcPr>
                </a:tc>
              </a:tr>
              <a:tr h="274320">
                <a:tc>
                  <a:txBody>
                    <a:bodyPr/>
                    <a:lstStyle/>
                    <a:p>
                      <a:pPr algn="l"/>
                      <a:r>
                        <a:rPr sz="1100" b="1">
                          <a:solidFill>
                            <a:srgbClr val="202020"/>
                          </a:solidFill>
                          <a:latin typeface="Calibri"/>
                        </a:rPr>
                        <a:t>Final</a:t>
                      </a:r>
                    </a:p>
                  </a:txBody>
                  <a:tcPr marT="27432" marB="27432" marL="54864" marR="54864">
                    <a:solidFill>
                      <a:srgbClr val="FCE4D6"/>
                    </a:solidFill>
                  </a:tcPr>
                </a:tc>
                <a:tc>
                  <a:txBody>
                    <a:bodyPr/>
                    <a:lstStyle/>
                    <a:p>
                      <a:pPr algn="l"/>
                      <a:r>
                        <a:rPr sz="1100" b="1">
                          <a:solidFill>
                            <a:srgbClr val="202020"/>
                          </a:solidFill>
                          <a:latin typeface="Calibri"/>
                        </a:rPr>
                        <a:t>E5 + tuned thresholds</a:t>
                      </a:r>
                    </a:p>
                  </a:txBody>
                  <a:tcPr marT="27432" marB="27432" marL="54864" marR="54864">
                    <a:solidFill>
                      <a:srgbClr val="FCE4D6"/>
                    </a:solidFill>
                  </a:tcPr>
                </a:tc>
                <a:tc>
                  <a:txBody>
                    <a:bodyPr/>
                    <a:lstStyle/>
                    <a:p>
                      <a:pPr algn="ctr"/>
                      <a:r>
                        <a:rPr sz="1100" b="1">
                          <a:solidFill>
                            <a:srgbClr val="202020"/>
                          </a:solidFill>
                          <a:latin typeface="Calibri"/>
                        </a:rPr>
                        <a:t>98.41</a:t>
                      </a:r>
                    </a:p>
                  </a:txBody>
                  <a:tcPr marT="27432" marB="27432" marL="54864" marR="54864">
                    <a:solidFill>
                      <a:srgbClr val="FCE4D6"/>
                    </a:solidFill>
                  </a:tcPr>
                </a:tc>
                <a:tc>
                  <a:txBody>
                    <a:bodyPr/>
                    <a:lstStyle/>
                    <a:p>
                      <a:pPr algn="ctr"/>
                      <a:r>
                        <a:rPr sz="1100" b="1">
                          <a:solidFill>
                            <a:srgbClr val="202020"/>
                          </a:solidFill>
                          <a:latin typeface="Calibri"/>
                        </a:rPr>
                        <a:t>91.10</a:t>
                      </a:r>
                    </a:p>
                  </a:txBody>
                  <a:tcPr marT="27432" marB="27432" marL="54864" marR="54864">
                    <a:solidFill>
                      <a:srgbClr val="FCE4D6"/>
                    </a:solidFill>
                  </a:tcPr>
                </a:tc>
                <a:tc>
                  <a:txBody>
                    <a:bodyPr/>
                    <a:lstStyle/>
                    <a:p>
                      <a:pPr algn="ctr"/>
                      <a:r>
                        <a:rPr sz="1100" b="1">
                          <a:solidFill>
                            <a:srgbClr val="202020"/>
                          </a:solidFill>
                          <a:latin typeface="Calibri"/>
                        </a:rPr>
                        <a:t>82.14</a:t>
                      </a:r>
                    </a:p>
                  </a:txBody>
                  <a:tcPr marT="27432" marB="27432" marL="54864" marR="54864">
                    <a:solidFill>
                      <a:srgbClr val="FCE4D6"/>
                    </a:solidFill>
                  </a:tcPr>
                </a:tc>
                <a:tc>
                  <a:txBody>
                    <a:bodyPr/>
                    <a:lstStyle/>
                    <a:p>
                      <a:pPr algn="ctr"/>
                      <a:r>
                        <a:rPr sz="1100" b="1">
                          <a:solidFill>
                            <a:srgbClr val="202020"/>
                          </a:solidFill>
                          <a:latin typeface="Calibri"/>
                        </a:rPr>
                        <a:t>79.23</a:t>
                      </a:r>
                    </a:p>
                  </a:txBody>
                  <a:tcPr marT="27432" marB="27432" marL="54864" marR="54864">
                    <a:solidFill>
                      <a:srgbClr val="FCE4D6"/>
                    </a:solidFill>
                  </a:tcPr>
                </a:tc>
                <a:tc>
                  <a:txBody>
                    <a:bodyPr/>
                    <a:lstStyle/>
                    <a:p>
                      <a:pPr algn="ctr"/>
                      <a:r>
                        <a:rPr sz="1100" b="1">
                          <a:solidFill>
                            <a:srgbClr val="202020"/>
                          </a:solidFill>
                          <a:latin typeface="Calibri"/>
                        </a:rPr>
                        <a:t>82.12</a:t>
                      </a:r>
                    </a:p>
                  </a:txBody>
                  <a:tcPr marT="27432" marB="27432" marL="54864" marR="54864">
                    <a:solidFill>
                      <a:srgbClr val="FCE4D6"/>
                    </a:solidFill>
                  </a:tcPr>
                </a:tc>
                <a:tc>
                  <a:txBody>
                    <a:bodyPr/>
                    <a:lstStyle/>
                    <a:p>
                      <a:pPr algn="ctr"/>
                      <a:r>
                        <a:rPr sz="1100" b="1">
                          <a:solidFill>
                            <a:srgbClr val="202020"/>
                          </a:solidFill>
                          <a:latin typeface="Calibri"/>
                        </a:rPr>
                        <a:t>76.54</a:t>
                      </a:r>
                    </a:p>
                  </a:txBody>
                  <a:tcPr marT="27432" marB="27432" marL="54864" marR="54864">
                    <a:solidFill>
                      <a:srgbClr val="FCE4D6"/>
                    </a:solidFill>
                  </a:tcPr>
                </a:tc>
              </a:tr>
            </a:tbl>
          </a:graphicData>
        </a:graphic>
      </p:graphicFrame>
      <p:sp>
        <p:nvSpPr>
          <p:cNvPr id="16" name="TextBox 15"/>
          <p:cNvSpPr txBox="1"/>
          <p:nvPr/>
        </p:nvSpPr>
        <p:spPr>
          <a:xfrm>
            <a:off x="502920" y="3246120"/>
            <a:ext cx="8138160" cy="274320"/>
          </a:xfrm>
          <a:prstGeom prst="rect">
            <a:avLst/>
          </a:prstGeom>
          <a:noFill/>
        </p:spPr>
        <p:txBody>
          <a:bodyPr wrap="square" lIns="0" tIns="0" rIns="0" bIns="0">
            <a:spAutoFit/>
          </a:bodyPr>
          <a:lstStyle/>
          <a:p>
            <a:pPr algn="l"/>
            <a:r>
              <a:rPr sz="1100" b="0" i="1">
                <a:solidFill>
                  <a:srgbClr val="595959"/>
                </a:solidFill>
                <a:latin typeface="Calibri"/>
              </a:rPr>
              <a:t>Test set, %. Final = E5 with per-class probability scale factors tuned on validation (only N × 3 changed).</a:t>
            </a:r>
          </a:p>
        </p:txBody>
      </p:sp>
      <p:sp>
        <p:nvSpPr>
          <p:cNvPr id="17" name="TextBox 16"/>
          <p:cNvSpPr txBox="1"/>
          <p:nvPr/>
        </p:nvSpPr>
        <p:spPr>
          <a:xfrm>
            <a:off x="502920" y="3657600"/>
            <a:ext cx="3977639" cy="320040"/>
          </a:xfrm>
          <a:prstGeom prst="rect">
            <a:avLst/>
          </a:prstGeom>
          <a:noFill/>
        </p:spPr>
        <p:txBody>
          <a:bodyPr wrap="square" lIns="0" tIns="0" rIns="0" bIns="0">
            <a:spAutoFit/>
          </a:bodyPr>
          <a:lstStyle/>
          <a:p>
            <a:pPr algn="l"/>
            <a:r>
              <a:rPr sz="1500" b="1" i="0">
                <a:solidFill>
                  <a:srgbClr val="548235"/>
                </a:solidFill>
                <a:latin typeface="Calibri"/>
              </a:rPr>
              <a:t>What helped</a:t>
            </a:r>
          </a:p>
        </p:txBody>
      </p:sp>
      <p:sp>
        <p:nvSpPr>
          <p:cNvPr id="18" name="TextBox 17"/>
          <p:cNvSpPr txBox="1"/>
          <p:nvPr/>
        </p:nvSpPr>
        <p:spPr>
          <a:xfrm>
            <a:off x="502920" y="4023360"/>
            <a:ext cx="3977639" cy="228600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 E1: selecting the epoch on validation macro F1: +7.67 macro F1.</a:t>
            </a:r>
          </a:p>
          <a:p>
            <a:pPr algn="l">
              <a:spcAft>
                <a:spcPts val="300"/>
              </a:spcAft>
            </a:pPr>
            <a:r>
              <a:rPr sz="1200" b="0" i="0">
                <a:solidFill>
                  <a:srgbClr val="202020"/>
                </a:solidFill>
                <a:latin typeface="Calibri"/>
              </a:rPr>
              <a:t>• E3: square-root class weights: +9.28 over E2 (largest gain).</a:t>
            </a:r>
          </a:p>
          <a:p>
            <a:pPr algn="l">
              <a:spcAft>
                <a:spcPts val="300"/>
              </a:spcAft>
            </a:pPr>
            <a:r>
              <a:rPr sz="1200" b="0" i="0">
                <a:solidFill>
                  <a:srgbClr val="202020"/>
                </a:solidFill>
                <a:latin typeface="Calibri"/>
              </a:rPr>
              <a:t>• E5: residual network: +4.57 over E4.</a:t>
            </a:r>
          </a:p>
        </p:txBody>
      </p:sp>
      <p:sp>
        <p:nvSpPr>
          <p:cNvPr id="19" name="TextBox 18"/>
          <p:cNvSpPr txBox="1"/>
          <p:nvPr/>
        </p:nvSpPr>
        <p:spPr>
          <a:xfrm>
            <a:off x="4663440" y="3657600"/>
            <a:ext cx="3977639" cy="320040"/>
          </a:xfrm>
          <a:prstGeom prst="rect">
            <a:avLst/>
          </a:prstGeom>
          <a:noFill/>
        </p:spPr>
        <p:txBody>
          <a:bodyPr wrap="square" lIns="0" tIns="0" rIns="0" bIns="0">
            <a:spAutoFit/>
          </a:bodyPr>
          <a:lstStyle/>
          <a:p>
            <a:pPr algn="l"/>
            <a:r>
              <a:rPr sz="1500" b="1" i="0">
                <a:solidFill>
                  <a:srgbClr val="ED7D31"/>
                </a:solidFill>
                <a:latin typeface="Calibri"/>
              </a:rPr>
              <a:t>What did not</a:t>
            </a:r>
          </a:p>
        </p:txBody>
      </p:sp>
      <p:sp>
        <p:nvSpPr>
          <p:cNvPr id="20" name="TextBox 19"/>
          <p:cNvSpPr txBox="1"/>
          <p:nvPr/>
        </p:nvSpPr>
        <p:spPr>
          <a:xfrm>
            <a:off x="4663440" y="4023360"/>
            <a:ext cx="3977639" cy="228600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 E2 stability settings: −5.66; validation swings not visibly removed.</a:t>
            </a:r>
          </a:p>
          <a:p>
            <a:pPr algn="l">
              <a:spcAft>
                <a:spcPts val="300"/>
              </a:spcAft>
            </a:pPr>
            <a:r>
              <a:rPr sz="1200" b="0" i="0">
                <a:solidFill>
                  <a:srgbClr val="202020"/>
                </a:solidFill>
                <a:latin typeface="Calibri"/>
              </a:rPr>
              <a:t>• E4 augmentation: −1.38.</a:t>
            </a:r>
          </a:p>
          <a:p>
            <a:pPr algn="l">
              <a:spcAft>
                <a:spcPts val="300"/>
              </a:spcAft>
            </a:pPr>
            <a:r>
              <a:rPr sz="1200" b="0" i="0">
                <a:solidFill>
                  <a:srgbClr val="202020"/>
                </a:solidFill>
                <a:latin typeface="Calibri"/>
              </a:rPr>
              <a:t>• Threshold tuning: only +0.33; traded some S and F recall for precision.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V2: Per-Class Progression</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V2_03_experiment_comparison.png"/>
          <p:cNvPicPr>
            <a:picLocks noChangeAspect="1"/>
          </p:cNvPicPr>
          <p:nvPr/>
        </p:nvPicPr>
        <p:blipFill>
          <a:blip r:embed="rId2"/>
          <a:stretch>
            <a:fillRect/>
          </a:stretch>
        </p:blipFill>
        <p:spPr>
          <a:xfrm>
            <a:off x="502920" y="1005840"/>
            <a:ext cx="3977639" cy="1663065"/>
          </a:xfrm>
          <a:prstGeom prst="rect">
            <a:avLst/>
          </a:prstGeom>
        </p:spPr>
      </p:pic>
      <p:sp>
        <p:nvSpPr>
          <p:cNvPr id="16" name="TextBox 15"/>
          <p:cNvSpPr txBox="1"/>
          <p:nvPr/>
        </p:nvSpPr>
        <p:spPr>
          <a:xfrm>
            <a:off x="502920" y="2697480"/>
            <a:ext cx="3977639" cy="274320"/>
          </a:xfrm>
          <a:prstGeom prst="rect">
            <a:avLst/>
          </a:prstGeom>
          <a:noFill/>
        </p:spPr>
        <p:txBody>
          <a:bodyPr wrap="square" lIns="0" tIns="0" rIns="0" bIns="0">
            <a:spAutoFit/>
          </a:bodyPr>
          <a:lstStyle/>
          <a:p>
            <a:pPr algn="ctr"/>
            <a:r>
              <a:rPr sz="1000" b="0" i="1">
                <a:solidFill>
                  <a:srgbClr val="595959"/>
                </a:solidFill>
                <a:latin typeface="Calibri"/>
              </a:rPr>
              <a:t>Test macro F1, S recall and F recall per step</a:t>
            </a:r>
          </a:p>
        </p:txBody>
      </p:sp>
      <p:pic>
        <p:nvPicPr>
          <p:cNvPr id="17" name="Picture 16" descr="V2_08_per_class_f1_progression.png"/>
          <p:cNvPicPr>
            <a:picLocks noChangeAspect="1"/>
          </p:cNvPicPr>
          <p:nvPr/>
        </p:nvPicPr>
        <p:blipFill>
          <a:blip r:embed="rId3"/>
          <a:stretch>
            <a:fillRect/>
          </a:stretch>
        </p:blipFill>
        <p:spPr>
          <a:xfrm>
            <a:off x="4663440" y="1005840"/>
            <a:ext cx="3977639" cy="2124491"/>
          </a:xfrm>
          <a:prstGeom prst="rect">
            <a:avLst/>
          </a:prstGeom>
        </p:spPr>
      </p:pic>
      <p:sp>
        <p:nvSpPr>
          <p:cNvPr id="18" name="TextBox 17"/>
          <p:cNvSpPr txBox="1"/>
          <p:nvPr/>
        </p:nvSpPr>
        <p:spPr>
          <a:xfrm>
            <a:off x="4663440" y="3154680"/>
            <a:ext cx="3977639" cy="274320"/>
          </a:xfrm>
          <a:prstGeom prst="rect">
            <a:avLst/>
          </a:prstGeom>
          <a:noFill/>
        </p:spPr>
        <p:txBody>
          <a:bodyPr wrap="square" lIns="0" tIns="0" rIns="0" bIns="0">
            <a:spAutoFit/>
          </a:bodyPr>
          <a:lstStyle/>
          <a:p>
            <a:pPr algn="ctr"/>
            <a:r>
              <a:rPr sz="1000" b="0" i="1">
                <a:solidFill>
                  <a:srgbClr val="595959"/>
                </a:solidFill>
                <a:latin typeface="Calibri"/>
              </a:rPr>
              <a:t>Per-class F1 across the V2 experiments</a:t>
            </a:r>
          </a:p>
        </p:txBody>
      </p:sp>
      <p:graphicFrame>
        <p:nvGraphicFramePr>
          <p:cNvPr id="19" name="Table 18"/>
          <p:cNvGraphicFramePr>
            <a:graphicFrameLocks noGrp="1"/>
          </p:cNvGraphicFramePr>
          <p:nvPr/>
        </p:nvGraphicFramePr>
        <p:xfrm>
          <a:off x="502920" y="3520440"/>
          <a:ext cx="8138160" cy="2194560"/>
        </p:xfrm>
        <a:graphic>
          <a:graphicData uri="http://schemas.openxmlformats.org/drawingml/2006/table">
            <a:tbl>
              <a:tblPr firstRow="1" bandRow="1">
                <a:tableStyleId>{5C22544A-7EE6-4342-B048-85BDC9FD1C3A}</a:tableStyleId>
              </a:tblPr>
              <a:tblGrid>
                <a:gridCol w="1005840"/>
                <a:gridCol w="1005840"/>
                <a:gridCol w="1097280"/>
                <a:gridCol w="1005840"/>
                <a:gridCol w="1005840"/>
                <a:gridCol w="1005840"/>
                <a:gridCol w="1005840"/>
                <a:gridCol w="1005840"/>
              </a:tblGrid>
              <a:tr h="274320">
                <a:tc>
                  <a:txBody>
                    <a:bodyPr/>
                    <a:lstStyle/>
                    <a:p>
                      <a:pPr algn="l"/>
                      <a:r>
                        <a:rPr sz="1100" b="1">
                          <a:solidFill>
                            <a:srgbClr val="FFFFFF"/>
                          </a:solidFill>
                          <a:latin typeface="Calibri"/>
                        </a:rPr>
                        <a:t>Model</a:t>
                      </a:r>
                    </a:p>
                  </a:txBody>
                  <a:tcPr marT="27432" marB="27432" marL="54864" marR="54864">
                    <a:solidFill>
                      <a:srgbClr val="1F3864"/>
                    </a:solidFill>
                  </a:tcPr>
                </a:tc>
                <a:tc>
                  <a:txBody>
                    <a:bodyPr/>
                    <a:lstStyle/>
                    <a:p>
                      <a:pPr algn="ctr"/>
                      <a:r>
                        <a:rPr sz="1100" b="1">
                          <a:solidFill>
                            <a:srgbClr val="FFFFFF"/>
                          </a:solidFill>
                          <a:latin typeface="Calibri"/>
                        </a:rPr>
                        <a:t>Acc.</a:t>
                      </a:r>
                    </a:p>
                  </a:txBody>
                  <a:tcPr marT="27432" marB="27432" marL="54864" marR="54864">
                    <a:solidFill>
                      <a:srgbClr val="1F3864"/>
                    </a:solidFill>
                  </a:tcPr>
                </a:tc>
                <a:tc>
                  <a:txBody>
                    <a:bodyPr/>
                    <a:lstStyle/>
                    <a:p>
                      <a:pPr algn="ctr"/>
                      <a:r>
                        <a:rPr sz="1100" b="1">
                          <a:solidFill>
                            <a:srgbClr val="FFFFFF"/>
                          </a:solidFill>
                          <a:latin typeface="Calibri"/>
                        </a:rPr>
                        <a:t>Macro F1</a:t>
                      </a:r>
                    </a:p>
                  </a:txBody>
                  <a:tcPr marT="27432" marB="27432" marL="54864" marR="54864">
                    <a:solidFill>
                      <a:srgbClr val="1F3864"/>
                    </a:solidFill>
                  </a:tcPr>
                </a:tc>
                <a:tc>
                  <a:txBody>
                    <a:bodyPr/>
                    <a:lstStyle/>
                    <a:p>
                      <a:pPr algn="ctr"/>
                      <a:r>
                        <a:rPr sz="1100" b="1">
                          <a:solidFill>
                            <a:srgbClr val="FFFFFF"/>
                          </a:solidFill>
                          <a:latin typeface="Calibri"/>
                        </a:rPr>
                        <a:t>N</a:t>
                      </a:r>
                    </a:p>
                  </a:txBody>
                  <a:tcPr marT="27432" marB="27432" marL="54864" marR="54864">
                    <a:solidFill>
                      <a:srgbClr val="1F3864"/>
                    </a:solidFill>
                  </a:tcPr>
                </a:tc>
                <a:tc>
                  <a:txBody>
                    <a:bodyPr/>
                    <a:lstStyle/>
                    <a:p>
                      <a:pPr algn="ctr"/>
                      <a:r>
                        <a:rPr sz="1100" b="1">
                          <a:solidFill>
                            <a:srgbClr val="FFFFFF"/>
                          </a:solidFill>
                          <a:latin typeface="Calibri"/>
                        </a:rPr>
                        <a:t>S</a:t>
                      </a:r>
                    </a:p>
                  </a:txBody>
                  <a:tcPr marT="27432" marB="27432" marL="54864" marR="54864">
                    <a:solidFill>
                      <a:srgbClr val="1F3864"/>
                    </a:solidFill>
                  </a:tcPr>
                </a:tc>
                <a:tc>
                  <a:txBody>
                    <a:bodyPr/>
                    <a:lstStyle/>
                    <a:p>
                      <a:pPr algn="ctr"/>
                      <a:r>
                        <a:rPr sz="1100" b="1">
                          <a:solidFill>
                            <a:srgbClr val="FFFFFF"/>
                          </a:solidFill>
                          <a:latin typeface="Calibri"/>
                        </a:rPr>
                        <a:t>V</a:t>
                      </a:r>
                    </a:p>
                  </a:txBody>
                  <a:tcPr marT="27432" marB="27432" marL="54864" marR="54864">
                    <a:solidFill>
                      <a:srgbClr val="1F3864"/>
                    </a:solidFill>
                  </a:tcPr>
                </a:tc>
                <a:tc>
                  <a:txBody>
                    <a:bodyPr/>
                    <a:lstStyle/>
                    <a:p>
                      <a:pPr algn="ctr"/>
                      <a:r>
                        <a:rPr sz="1100" b="1">
                          <a:solidFill>
                            <a:srgbClr val="FFFFFF"/>
                          </a:solidFill>
                          <a:latin typeface="Calibri"/>
                        </a:rPr>
                        <a:t>F</a:t>
                      </a:r>
                    </a:p>
                  </a:txBody>
                  <a:tcPr marT="27432" marB="27432" marL="54864" marR="54864">
                    <a:solidFill>
                      <a:srgbClr val="1F3864"/>
                    </a:solidFill>
                  </a:tcPr>
                </a:tc>
                <a:tc>
                  <a:txBody>
                    <a:bodyPr/>
                    <a:lstStyle/>
                    <a:p>
                      <a:pPr algn="ctr"/>
                      <a:r>
                        <a:rPr sz="1100" b="1">
                          <a:solidFill>
                            <a:srgbClr val="FFFFFF"/>
                          </a:solidFill>
                          <a:latin typeface="Calibri"/>
                        </a:rPr>
                        <a:t>Q</a:t>
                      </a:r>
                    </a:p>
                  </a:txBody>
                  <a:tcPr marT="27432" marB="27432" marL="54864" marR="54864">
                    <a:solidFill>
                      <a:srgbClr val="1F3864"/>
                    </a:solidFill>
                  </a:tcPr>
                </a:tc>
              </a:tr>
              <a:tr h="274320">
                <a:tc>
                  <a:txBody>
                    <a:bodyPr/>
                    <a:lstStyle/>
                    <a:p>
                      <a:pPr algn="l"/>
                      <a:r>
                        <a:rPr sz="1100" b="1">
                          <a:solidFill>
                            <a:srgbClr val="202020"/>
                          </a:solidFill>
                          <a:latin typeface="Calibri"/>
                        </a:rPr>
                        <a:t>B0</a:t>
                      </a:r>
                    </a:p>
                  </a:txBody>
                  <a:tcPr marT="27432" marB="27432" marL="54864" marR="54864">
                    <a:solidFill>
                      <a:srgbClr val="F2F2F2"/>
                    </a:solidFill>
                  </a:tcPr>
                </a:tc>
                <a:tc>
                  <a:txBody>
                    <a:bodyPr/>
                    <a:lstStyle/>
                    <a:p>
                      <a:pPr algn="ctr"/>
                      <a:r>
                        <a:rPr sz="1100" b="0">
                          <a:solidFill>
                            <a:srgbClr val="202020"/>
                          </a:solidFill>
                          <a:latin typeface="Calibri"/>
                        </a:rPr>
                        <a:t>94.41</a:t>
                      </a:r>
                    </a:p>
                  </a:txBody>
                  <a:tcPr marT="27432" marB="27432" marL="54864" marR="54864">
                    <a:solidFill>
                      <a:srgbClr val="F2F2F2"/>
                    </a:solidFill>
                  </a:tcPr>
                </a:tc>
                <a:tc>
                  <a:txBody>
                    <a:bodyPr/>
                    <a:lstStyle/>
                    <a:p>
                      <a:pPr algn="ctr"/>
                      <a:r>
                        <a:rPr sz="1100" b="0">
                          <a:solidFill>
                            <a:srgbClr val="202020"/>
                          </a:solidFill>
                          <a:latin typeface="Calibri"/>
                        </a:rPr>
                        <a:t>76.29</a:t>
                      </a:r>
                    </a:p>
                  </a:txBody>
                  <a:tcPr marT="27432" marB="27432" marL="54864" marR="54864">
                    <a:solidFill>
                      <a:srgbClr val="F2F2F2"/>
                    </a:solidFill>
                  </a:tcPr>
                </a:tc>
                <a:tc>
                  <a:txBody>
                    <a:bodyPr/>
                    <a:lstStyle/>
                    <a:p>
                      <a:pPr algn="ctr"/>
                      <a:r>
                        <a:rPr sz="1100" b="0">
                          <a:solidFill>
                            <a:srgbClr val="202020"/>
                          </a:solidFill>
                          <a:latin typeface="Calibri"/>
                        </a:rPr>
                        <a:t>97.00</a:t>
                      </a:r>
                    </a:p>
                  </a:txBody>
                  <a:tcPr marT="27432" marB="27432" marL="54864" marR="54864">
                    <a:solidFill>
                      <a:srgbClr val="F2F2F2"/>
                    </a:solidFill>
                  </a:tcPr>
                </a:tc>
                <a:tc>
                  <a:txBody>
                    <a:bodyPr/>
                    <a:lstStyle/>
                    <a:p>
                      <a:pPr algn="ctr"/>
                      <a:r>
                        <a:rPr sz="1100" b="0">
                          <a:solidFill>
                            <a:srgbClr val="202020"/>
                          </a:solidFill>
                          <a:latin typeface="Calibri"/>
                        </a:rPr>
                        <a:t>60.90</a:t>
                      </a:r>
                    </a:p>
                  </a:txBody>
                  <a:tcPr marT="27432" marB="27432" marL="54864" marR="54864">
                    <a:solidFill>
                      <a:srgbClr val="F2F2F2"/>
                    </a:solidFill>
                  </a:tcPr>
                </a:tc>
                <a:tc>
                  <a:txBody>
                    <a:bodyPr/>
                    <a:lstStyle/>
                    <a:p>
                      <a:pPr algn="ctr"/>
                      <a:r>
                        <a:rPr sz="1100" b="0">
                          <a:solidFill>
                            <a:srgbClr val="202020"/>
                          </a:solidFill>
                          <a:latin typeface="Calibri"/>
                        </a:rPr>
                        <a:t>86.60</a:t>
                      </a:r>
                    </a:p>
                  </a:txBody>
                  <a:tcPr marT="27432" marB="27432" marL="54864" marR="54864">
                    <a:solidFill>
                      <a:srgbClr val="F2F2F2"/>
                    </a:solidFill>
                  </a:tcPr>
                </a:tc>
                <a:tc>
                  <a:txBody>
                    <a:bodyPr/>
                    <a:lstStyle/>
                    <a:p>
                      <a:pPr algn="ctr"/>
                      <a:r>
                        <a:rPr sz="1100" b="0">
                          <a:solidFill>
                            <a:srgbClr val="202020"/>
                          </a:solidFill>
                          <a:latin typeface="Calibri"/>
                        </a:rPr>
                        <a:t>40.00</a:t>
                      </a:r>
                    </a:p>
                  </a:txBody>
                  <a:tcPr marT="27432" marB="27432" marL="54864" marR="54864">
                    <a:solidFill>
                      <a:srgbClr val="F2F2F2"/>
                    </a:solidFill>
                  </a:tcPr>
                </a:tc>
                <a:tc>
                  <a:txBody>
                    <a:bodyPr/>
                    <a:lstStyle/>
                    <a:p>
                      <a:pPr algn="ctr"/>
                      <a:r>
                        <a:rPr sz="1100" b="0">
                          <a:solidFill>
                            <a:srgbClr val="202020"/>
                          </a:solidFill>
                          <a:latin typeface="Calibri"/>
                        </a:rPr>
                        <a:t>97.00</a:t>
                      </a:r>
                    </a:p>
                  </a:txBody>
                  <a:tcPr marT="27432" marB="27432" marL="54864" marR="54864">
                    <a:solidFill>
                      <a:srgbClr val="F2F2F2"/>
                    </a:solidFill>
                  </a:tcPr>
                </a:tc>
              </a:tr>
              <a:tr h="274320">
                <a:tc>
                  <a:txBody>
                    <a:bodyPr/>
                    <a:lstStyle/>
                    <a:p>
                      <a:pPr algn="l"/>
                      <a:r>
                        <a:rPr sz="1100" b="1">
                          <a:solidFill>
                            <a:srgbClr val="202020"/>
                          </a:solidFill>
                          <a:latin typeface="Calibri"/>
                        </a:rPr>
                        <a:t>E1</a:t>
                      </a:r>
                    </a:p>
                  </a:txBody>
                  <a:tcPr marT="27432" marB="27432" marL="54864" marR="54864">
                    <a:solidFill>
                      <a:srgbClr val="FFFFFF"/>
                    </a:solidFill>
                  </a:tcPr>
                </a:tc>
                <a:tc>
                  <a:txBody>
                    <a:bodyPr/>
                    <a:lstStyle/>
                    <a:p>
                      <a:pPr algn="ctr"/>
                      <a:r>
                        <a:rPr sz="1100" b="0">
                          <a:solidFill>
                            <a:srgbClr val="202020"/>
                          </a:solidFill>
                          <a:latin typeface="Calibri"/>
                        </a:rPr>
                        <a:t>96.28</a:t>
                      </a:r>
                    </a:p>
                  </a:txBody>
                  <a:tcPr marT="27432" marB="27432" marL="54864" marR="54864">
                    <a:solidFill>
                      <a:srgbClr val="FFFFFF"/>
                    </a:solidFill>
                  </a:tcPr>
                </a:tc>
                <a:tc>
                  <a:txBody>
                    <a:bodyPr/>
                    <a:lstStyle/>
                    <a:p>
                      <a:pPr algn="ctr"/>
                      <a:r>
                        <a:rPr sz="1100" b="0">
                          <a:solidFill>
                            <a:srgbClr val="202020"/>
                          </a:solidFill>
                          <a:latin typeface="Calibri"/>
                        </a:rPr>
                        <a:t>83.96</a:t>
                      </a:r>
                    </a:p>
                  </a:txBody>
                  <a:tcPr marT="27432" marB="27432" marL="54864" marR="54864">
                    <a:solidFill>
                      <a:srgbClr val="FFFFFF"/>
                    </a:solidFill>
                  </a:tcPr>
                </a:tc>
                <a:tc>
                  <a:txBody>
                    <a:bodyPr/>
                    <a:lstStyle/>
                    <a:p>
                      <a:pPr algn="ctr"/>
                      <a:r>
                        <a:rPr sz="1100" b="0">
                          <a:solidFill>
                            <a:srgbClr val="202020"/>
                          </a:solidFill>
                          <a:latin typeface="Calibri"/>
                        </a:rPr>
                        <a:t>97.92</a:t>
                      </a:r>
                    </a:p>
                  </a:txBody>
                  <a:tcPr marT="27432" marB="27432" marL="54864" marR="54864">
                    <a:solidFill>
                      <a:srgbClr val="FFFFFF"/>
                    </a:solidFill>
                  </a:tcPr>
                </a:tc>
                <a:tc>
                  <a:txBody>
                    <a:bodyPr/>
                    <a:lstStyle/>
                    <a:p>
                      <a:pPr algn="ctr"/>
                      <a:r>
                        <a:rPr sz="1100" b="0">
                          <a:solidFill>
                            <a:srgbClr val="202020"/>
                          </a:solidFill>
                          <a:latin typeface="Calibri"/>
                        </a:rPr>
                        <a:t>63.48</a:t>
                      </a:r>
                    </a:p>
                  </a:txBody>
                  <a:tcPr marT="27432" marB="27432" marL="54864" marR="54864">
                    <a:solidFill>
                      <a:srgbClr val="FFFFFF"/>
                    </a:solidFill>
                  </a:tcPr>
                </a:tc>
                <a:tc>
                  <a:txBody>
                    <a:bodyPr/>
                    <a:lstStyle/>
                    <a:p>
                      <a:pPr algn="ctr"/>
                      <a:r>
                        <a:rPr sz="1100" b="0">
                          <a:solidFill>
                            <a:srgbClr val="202020"/>
                          </a:solidFill>
                          <a:latin typeface="Calibri"/>
                        </a:rPr>
                        <a:t>92.51</a:t>
                      </a:r>
                    </a:p>
                  </a:txBody>
                  <a:tcPr marT="27432" marB="27432" marL="54864" marR="54864">
                    <a:solidFill>
                      <a:srgbClr val="FFFFFF"/>
                    </a:solidFill>
                  </a:tcPr>
                </a:tc>
                <a:tc>
                  <a:txBody>
                    <a:bodyPr/>
                    <a:lstStyle/>
                    <a:p>
                      <a:pPr algn="ctr"/>
                      <a:r>
                        <a:rPr sz="1100" b="0">
                          <a:solidFill>
                            <a:srgbClr val="202020"/>
                          </a:solidFill>
                          <a:latin typeface="Calibri"/>
                        </a:rPr>
                        <a:t>68.12</a:t>
                      </a:r>
                    </a:p>
                  </a:txBody>
                  <a:tcPr marT="27432" marB="27432" marL="54864" marR="54864">
                    <a:solidFill>
                      <a:srgbClr val="FFFFFF"/>
                    </a:solidFill>
                  </a:tcPr>
                </a:tc>
                <a:tc>
                  <a:txBody>
                    <a:bodyPr/>
                    <a:lstStyle/>
                    <a:p>
                      <a:pPr algn="ctr"/>
                      <a:r>
                        <a:rPr sz="1100" b="0">
                          <a:solidFill>
                            <a:srgbClr val="202020"/>
                          </a:solidFill>
                          <a:latin typeface="Calibri"/>
                        </a:rPr>
                        <a:t>97.77</a:t>
                      </a:r>
                    </a:p>
                  </a:txBody>
                  <a:tcPr marT="27432" marB="27432" marL="54864" marR="54864">
                    <a:solidFill>
                      <a:srgbClr val="FFFFFF"/>
                    </a:solidFill>
                  </a:tcPr>
                </a:tc>
              </a:tr>
              <a:tr h="274320">
                <a:tc>
                  <a:txBody>
                    <a:bodyPr/>
                    <a:lstStyle/>
                    <a:p>
                      <a:pPr algn="l"/>
                      <a:r>
                        <a:rPr sz="1100" b="1">
                          <a:solidFill>
                            <a:srgbClr val="202020"/>
                          </a:solidFill>
                          <a:latin typeface="Calibri"/>
                        </a:rPr>
                        <a:t>E2</a:t>
                      </a:r>
                    </a:p>
                  </a:txBody>
                  <a:tcPr marT="27432" marB="27432" marL="54864" marR="54864">
                    <a:solidFill>
                      <a:srgbClr val="F2F2F2"/>
                    </a:solidFill>
                  </a:tcPr>
                </a:tc>
                <a:tc>
                  <a:txBody>
                    <a:bodyPr/>
                    <a:lstStyle/>
                    <a:p>
                      <a:pPr algn="ctr"/>
                      <a:r>
                        <a:rPr sz="1100" b="0">
                          <a:solidFill>
                            <a:srgbClr val="202020"/>
                          </a:solidFill>
                          <a:latin typeface="Calibri"/>
                        </a:rPr>
                        <a:t>93.58</a:t>
                      </a:r>
                    </a:p>
                  </a:txBody>
                  <a:tcPr marT="27432" marB="27432" marL="54864" marR="54864">
                    <a:solidFill>
                      <a:srgbClr val="F2F2F2"/>
                    </a:solidFill>
                  </a:tcPr>
                </a:tc>
                <a:tc>
                  <a:txBody>
                    <a:bodyPr/>
                    <a:lstStyle/>
                    <a:p>
                      <a:pPr algn="ctr"/>
                      <a:r>
                        <a:rPr sz="1100" b="0">
                          <a:solidFill>
                            <a:srgbClr val="202020"/>
                          </a:solidFill>
                          <a:latin typeface="Calibri"/>
                        </a:rPr>
                        <a:t>78.30</a:t>
                      </a:r>
                    </a:p>
                  </a:txBody>
                  <a:tcPr marT="27432" marB="27432" marL="54864" marR="54864">
                    <a:solidFill>
                      <a:srgbClr val="F2F2F2"/>
                    </a:solidFill>
                  </a:tcPr>
                </a:tc>
                <a:tc>
                  <a:txBody>
                    <a:bodyPr/>
                    <a:lstStyle/>
                    <a:p>
                      <a:pPr algn="ctr"/>
                      <a:r>
                        <a:rPr sz="1100" b="0">
                          <a:solidFill>
                            <a:srgbClr val="202020"/>
                          </a:solidFill>
                          <a:latin typeface="Calibri"/>
                        </a:rPr>
                        <a:t>96.27</a:t>
                      </a:r>
                    </a:p>
                  </a:txBody>
                  <a:tcPr marT="27432" marB="27432" marL="54864" marR="54864">
                    <a:solidFill>
                      <a:srgbClr val="F2F2F2"/>
                    </a:solidFill>
                  </a:tcPr>
                </a:tc>
                <a:tc>
                  <a:txBody>
                    <a:bodyPr/>
                    <a:lstStyle/>
                    <a:p>
                      <a:pPr algn="ctr"/>
                      <a:r>
                        <a:rPr sz="1100" b="0">
                          <a:solidFill>
                            <a:srgbClr val="202020"/>
                          </a:solidFill>
                          <a:latin typeface="Calibri"/>
                        </a:rPr>
                        <a:t>49.13</a:t>
                      </a:r>
                    </a:p>
                  </a:txBody>
                  <a:tcPr marT="27432" marB="27432" marL="54864" marR="54864">
                    <a:solidFill>
                      <a:srgbClr val="F2F2F2"/>
                    </a:solidFill>
                  </a:tcPr>
                </a:tc>
                <a:tc>
                  <a:txBody>
                    <a:bodyPr/>
                    <a:lstStyle/>
                    <a:p>
                      <a:pPr algn="ctr"/>
                      <a:r>
                        <a:rPr sz="1100" b="0">
                          <a:solidFill>
                            <a:srgbClr val="202020"/>
                          </a:solidFill>
                          <a:latin typeface="Calibri"/>
                        </a:rPr>
                        <a:t>90.77</a:t>
                      </a:r>
                    </a:p>
                  </a:txBody>
                  <a:tcPr marT="27432" marB="27432" marL="54864" marR="54864">
                    <a:solidFill>
                      <a:srgbClr val="F2F2F2"/>
                    </a:solidFill>
                  </a:tcPr>
                </a:tc>
                <a:tc>
                  <a:txBody>
                    <a:bodyPr/>
                    <a:lstStyle/>
                    <a:p>
                      <a:pPr algn="ctr"/>
                      <a:r>
                        <a:rPr sz="1100" b="0">
                          <a:solidFill>
                            <a:srgbClr val="202020"/>
                          </a:solidFill>
                          <a:latin typeface="Calibri"/>
                        </a:rPr>
                        <a:t>58.49</a:t>
                      </a:r>
                    </a:p>
                  </a:txBody>
                  <a:tcPr marT="27432" marB="27432" marL="54864" marR="54864">
                    <a:solidFill>
                      <a:srgbClr val="F2F2F2"/>
                    </a:solidFill>
                  </a:tcPr>
                </a:tc>
                <a:tc>
                  <a:txBody>
                    <a:bodyPr/>
                    <a:lstStyle/>
                    <a:p>
                      <a:pPr algn="ctr"/>
                      <a:r>
                        <a:rPr sz="1100" b="0">
                          <a:solidFill>
                            <a:srgbClr val="202020"/>
                          </a:solidFill>
                          <a:latin typeface="Calibri"/>
                        </a:rPr>
                        <a:t>96.84</a:t>
                      </a:r>
                    </a:p>
                  </a:txBody>
                  <a:tcPr marT="27432" marB="27432" marL="54864" marR="54864">
                    <a:solidFill>
                      <a:srgbClr val="F2F2F2"/>
                    </a:solidFill>
                  </a:tcPr>
                </a:tc>
              </a:tr>
              <a:tr h="274320">
                <a:tc>
                  <a:txBody>
                    <a:bodyPr/>
                    <a:lstStyle/>
                    <a:p>
                      <a:pPr algn="l"/>
                      <a:r>
                        <a:rPr sz="1100" b="1">
                          <a:solidFill>
                            <a:srgbClr val="202020"/>
                          </a:solidFill>
                          <a:latin typeface="Calibri"/>
                        </a:rPr>
                        <a:t>E3</a:t>
                      </a:r>
                    </a:p>
                  </a:txBody>
                  <a:tcPr marT="27432" marB="27432" marL="54864" marR="54864">
                    <a:solidFill>
                      <a:srgbClr val="FFFFFF"/>
                    </a:solidFill>
                  </a:tcPr>
                </a:tc>
                <a:tc>
                  <a:txBody>
                    <a:bodyPr/>
                    <a:lstStyle/>
                    <a:p>
                      <a:pPr algn="ctr"/>
                      <a:r>
                        <a:rPr sz="1100" b="0">
                          <a:solidFill>
                            <a:srgbClr val="202020"/>
                          </a:solidFill>
                          <a:latin typeface="Calibri"/>
                        </a:rPr>
                        <a:t>97.39</a:t>
                      </a:r>
                    </a:p>
                  </a:txBody>
                  <a:tcPr marT="27432" marB="27432" marL="54864" marR="54864">
                    <a:solidFill>
                      <a:srgbClr val="FFFFFF"/>
                    </a:solidFill>
                  </a:tcPr>
                </a:tc>
                <a:tc>
                  <a:txBody>
                    <a:bodyPr/>
                    <a:lstStyle/>
                    <a:p>
                      <a:pPr algn="ctr"/>
                      <a:r>
                        <a:rPr sz="1100" b="0">
                          <a:solidFill>
                            <a:srgbClr val="202020"/>
                          </a:solidFill>
                          <a:latin typeface="Calibri"/>
                        </a:rPr>
                        <a:t>87.58</a:t>
                      </a:r>
                    </a:p>
                  </a:txBody>
                  <a:tcPr marT="27432" marB="27432" marL="54864" marR="54864">
                    <a:solidFill>
                      <a:srgbClr val="FFFFFF"/>
                    </a:solidFill>
                  </a:tcPr>
                </a:tc>
                <a:tc>
                  <a:txBody>
                    <a:bodyPr/>
                    <a:lstStyle/>
                    <a:p>
                      <a:pPr algn="ctr"/>
                      <a:r>
                        <a:rPr sz="1100" b="0">
                          <a:solidFill>
                            <a:srgbClr val="202020"/>
                          </a:solidFill>
                          <a:latin typeface="Calibri"/>
                        </a:rPr>
                        <a:t>98.58</a:t>
                      </a:r>
                    </a:p>
                  </a:txBody>
                  <a:tcPr marT="27432" marB="27432" marL="54864" marR="54864">
                    <a:solidFill>
                      <a:srgbClr val="FFFFFF"/>
                    </a:solidFill>
                  </a:tcPr>
                </a:tc>
                <a:tc>
                  <a:txBody>
                    <a:bodyPr/>
                    <a:lstStyle/>
                    <a:p>
                      <a:pPr algn="ctr"/>
                      <a:r>
                        <a:rPr sz="1100" b="0">
                          <a:solidFill>
                            <a:srgbClr val="202020"/>
                          </a:solidFill>
                          <a:latin typeface="Calibri"/>
                        </a:rPr>
                        <a:t>69.84</a:t>
                      </a:r>
                    </a:p>
                  </a:txBody>
                  <a:tcPr marT="27432" marB="27432" marL="54864" marR="54864">
                    <a:solidFill>
                      <a:srgbClr val="FFFFFF"/>
                    </a:solidFill>
                  </a:tcPr>
                </a:tc>
                <a:tc>
                  <a:txBody>
                    <a:bodyPr/>
                    <a:lstStyle/>
                    <a:p>
                      <a:pPr algn="ctr"/>
                      <a:r>
                        <a:rPr sz="1100" b="0">
                          <a:solidFill>
                            <a:srgbClr val="202020"/>
                          </a:solidFill>
                          <a:latin typeface="Calibri"/>
                        </a:rPr>
                        <a:t>94.19</a:t>
                      </a:r>
                    </a:p>
                  </a:txBody>
                  <a:tcPr marT="27432" marB="27432" marL="54864" marR="54864">
                    <a:solidFill>
                      <a:srgbClr val="FFFFFF"/>
                    </a:solidFill>
                  </a:tcPr>
                </a:tc>
                <a:tc>
                  <a:txBody>
                    <a:bodyPr/>
                    <a:lstStyle/>
                    <a:p>
                      <a:pPr algn="ctr"/>
                      <a:r>
                        <a:rPr sz="1100" b="0">
                          <a:solidFill>
                            <a:srgbClr val="202020"/>
                          </a:solidFill>
                          <a:latin typeface="Calibri"/>
                        </a:rPr>
                        <a:t>76.97</a:t>
                      </a:r>
                    </a:p>
                  </a:txBody>
                  <a:tcPr marT="27432" marB="27432" marL="54864" marR="54864">
                    <a:solidFill>
                      <a:srgbClr val="FFFFFF"/>
                    </a:solidFill>
                  </a:tcPr>
                </a:tc>
                <a:tc>
                  <a:txBody>
                    <a:bodyPr/>
                    <a:lstStyle/>
                    <a:p>
                      <a:pPr algn="ctr"/>
                      <a:r>
                        <a:rPr sz="1100" b="0">
                          <a:solidFill>
                            <a:srgbClr val="202020"/>
                          </a:solidFill>
                          <a:latin typeface="Calibri"/>
                        </a:rPr>
                        <a:t>98.29</a:t>
                      </a:r>
                    </a:p>
                  </a:txBody>
                  <a:tcPr marT="27432" marB="27432" marL="54864" marR="54864">
                    <a:solidFill>
                      <a:srgbClr val="FFFFFF"/>
                    </a:solidFill>
                  </a:tcPr>
                </a:tc>
              </a:tr>
              <a:tr h="274320">
                <a:tc>
                  <a:txBody>
                    <a:bodyPr/>
                    <a:lstStyle/>
                    <a:p>
                      <a:pPr algn="l"/>
                      <a:r>
                        <a:rPr sz="1100" b="1">
                          <a:solidFill>
                            <a:srgbClr val="202020"/>
                          </a:solidFill>
                          <a:latin typeface="Calibri"/>
                        </a:rPr>
                        <a:t>E4</a:t>
                      </a:r>
                    </a:p>
                  </a:txBody>
                  <a:tcPr marT="27432" marB="27432" marL="54864" marR="54864">
                    <a:solidFill>
                      <a:srgbClr val="F2F2F2"/>
                    </a:solidFill>
                  </a:tcPr>
                </a:tc>
                <a:tc>
                  <a:txBody>
                    <a:bodyPr/>
                    <a:lstStyle/>
                    <a:p>
                      <a:pPr algn="ctr"/>
                      <a:r>
                        <a:rPr sz="1100" b="0">
                          <a:solidFill>
                            <a:srgbClr val="202020"/>
                          </a:solidFill>
                          <a:latin typeface="Calibri"/>
                        </a:rPr>
                        <a:t>97.02</a:t>
                      </a:r>
                    </a:p>
                  </a:txBody>
                  <a:tcPr marT="27432" marB="27432" marL="54864" marR="54864">
                    <a:solidFill>
                      <a:srgbClr val="F2F2F2"/>
                    </a:solidFill>
                  </a:tcPr>
                </a:tc>
                <a:tc>
                  <a:txBody>
                    <a:bodyPr/>
                    <a:lstStyle/>
                    <a:p>
                      <a:pPr algn="ctr"/>
                      <a:r>
                        <a:rPr sz="1100" b="0">
                          <a:solidFill>
                            <a:srgbClr val="202020"/>
                          </a:solidFill>
                          <a:latin typeface="Calibri"/>
                        </a:rPr>
                        <a:t>86.20</a:t>
                      </a:r>
                    </a:p>
                  </a:txBody>
                  <a:tcPr marT="27432" marB="27432" marL="54864" marR="54864">
                    <a:solidFill>
                      <a:srgbClr val="F2F2F2"/>
                    </a:solidFill>
                  </a:tcPr>
                </a:tc>
                <a:tc>
                  <a:txBody>
                    <a:bodyPr/>
                    <a:lstStyle/>
                    <a:p>
                      <a:pPr algn="ctr"/>
                      <a:r>
                        <a:rPr sz="1100" b="0">
                          <a:solidFill>
                            <a:srgbClr val="202020"/>
                          </a:solidFill>
                          <a:latin typeface="Calibri"/>
                        </a:rPr>
                        <a:t>98.40</a:t>
                      </a:r>
                    </a:p>
                  </a:txBody>
                  <a:tcPr marT="27432" marB="27432" marL="54864" marR="54864">
                    <a:solidFill>
                      <a:srgbClr val="F2F2F2"/>
                    </a:solidFill>
                  </a:tcPr>
                </a:tc>
                <a:tc>
                  <a:txBody>
                    <a:bodyPr/>
                    <a:lstStyle/>
                    <a:p>
                      <a:pPr algn="ctr"/>
                      <a:r>
                        <a:rPr sz="1100" b="0">
                          <a:solidFill>
                            <a:srgbClr val="202020"/>
                          </a:solidFill>
                          <a:latin typeface="Calibri"/>
                        </a:rPr>
                        <a:t>66.16</a:t>
                      </a:r>
                    </a:p>
                  </a:txBody>
                  <a:tcPr marT="27432" marB="27432" marL="54864" marR="54864">
                    <a:solidFill>
                      <a:srgbClr val="F2F2F2"/>
                    </a:solidFill>
                  </a:tcPr>
                </a:tc>
                <a:tc>
                  <a:txBody>
                    <a:bodyPr/>
                    <a:lstStyle/>
                    <a:p>
                      <a:pPr algn="ctr"/>
                      <a:r>
                        <a:rPr sz="1100" b="0">
                          <a:solidFill>
                            <a:srgbClr val="202020"/>
                          </a:solidFill>
                          <a:latin typeface="Calibri"/>
                        </a:rPr>
                        <a:t>91.93</a:t>
                      </a:r>
                    </a:p>
                  </a:txBody>
                  <a:tcPr marT="27432" marB="27432" marL="54864" marR="54864">
                    <a:solidFill>
                      <a:srgbClr val="F2F2F2"/>
                    </a:solidFill>
                  </a:tcPr>
                </a:tc>
                <a:tc>
                  <a:txBody>
                    <a:bodyPr/>
                    <a:lstStyle/>
                    <a:p>
                      <a:pPr algn="ctr"/>
                      <a:r>
                        <a:rPr sz="1100" b="0">
                          <a:solidFill>
                            <a:srgbClr val="202020"/>
                          </a:solidFill>
                          <a:latin typeface="Calibri"/>
                        </a:rPr>
                        <a:t>76.25</a:t>
                      </a:r>
                    </a:p>
                  </a:txBody>
                  <a:tcPr marT="27432" marB="27432" marL="54864" marR="54864">
                    <a:solidFill>
                      <a:srgbClr val="F2F2F2"/>
                    </a:solidFill>
                  </a:tcPr>
                </a:tc>
                <a:tc>
                  <a:txBody>
                    <a:bodyPr/>
                    <a:lstStyle/>
                    <a:p>
                      <a:pPr algn="ctr"/>
                      <a:r>
                        <a:rPr sz="1100" b="0">
                          <a:solidFill>
                            <a:srgbClr val="202020"/>
                          </a:solidFill>
                          <a:latin typeface="Calibri"/>
                        </a:rPr>
                        <a:t>98.29</a:t>
                      </a:r>
                    </a:p>
                  </a:txBody>
                  <a:tcPr marT="27432" marB="27432" marL="54864" marR="54864">
                    <a:solidFill>
                      <a:srgbClr val="F2F2F2"/>
                    </a:solidFill>
                  </a:tcPr>
                </a:tc>
              </a:tr>
              <a:tr h="274320">
                <a:tc>
                  <a:txBody>
                    <a:bodyPr/>
                    <a:lstStyle/>
                    <a:p>
                      <a:pPr algn="l"/>
                      <a:r>
                        <a:rPr sz="1100" b="1">
                          <a:solidFill>
                            <a:srgbClr val="202020"/>
                          </a:solidFill>
                          <a:latin typeface="Calibri"/>
                        </a:rPr>
                        <a:t>E5</a:t>
                      </a:r>
                    </a:p>
                  </a:txBody>
                  <a:tcPr marT="27432" marB="27432" marL="54864" marR="54864">
                    <a:solidFill>
                      <a:srgbClr val="FFFFFF"/>
                    </a:solidFill>
                  </a:tcPr>
                </a:tc>
                <a:tc>
                  <a:txBody>
                    <a:bodyPr/>
                    <a:lstStyle/>
                    <a:p>
                      <a:pPr algn="ctr"/>
                      <a:r>
                        <a:rPr sz="1100" b="0">
                          <a:solidFill>
                            <a:srgbClr val="202020"/>
                          </a:solidFill>
                          <a:latin typeface="Calibri"/>
                        </a:rPr>
                        <a:t>98.29</a:t>
                      </a:r>
                    </a:p>
                  </a:txBody>
                  <a:tcPr marT="27432" marB="27432" marL="54864" marR="54864">
                    <a:solidFill>
                      <a:srgbClr val="FFFFFF"/>
                    </a:solidFill>
                  </a:tcPr>
                </a:tc>
                <a:tc>
                  <a:txBody>
                    <a:bodyPr/>
                    <a:lstStyle/>
                    <a:p>
                      <a:pPr algn="ctr"/>
                      <a:r>
                        <a:rPr sz="1100" b="0">
                          <a:solidFill>
                            <a:srgbClr val="202020"/>
                          </a:solidFill>
                          <a:latin typeface="Calibri"/>
                        </a:rPr>
                        <a:t>90.77</a:t>
                      </a:r>
                    </a:p>
                  </a:txBody>
                  <a:tcPr marT="27432" marB="27432" marL="54864" marR="54864">
                    <a:solidFill>
                      <a:srgbClr val="FFFFFF"/>
                    </a:solidFill>
                  </a:tcPr>
                </a:tc>
                <a:tc>
                  <a:txBody>
                    <a:bodyPr/>
                    <a:lstStyle/>
                    <a:p>
                      <a:pPr algn="ctr"/>
                      <a:r>
                        <a:rPr sz="1100" b="0">
                          <a:solidFill>
                            <a:srgbClr val="202020"/>
                          </a:solidFill>
                          <a:latin typeface="Calibri"/>
                        </a:rPr>
                        <a:t>99.13</a:t>
                      </a:r>
                    </a:p>
                  </a:txBody>
                  <a:tcPr marT="27432" marB="27432" marL="54864" marR="54864">
                    <a:solidFill>
                      <a:srgbClr val="FFFFFF"/>
                    </a:solidFill>
                  </a:tcPr>
                </a:tc>
                <a:tc>
                  <a:txBody>
                    <a:bodyPr/>
                    <a:lstStyle/>
                    <a:p>
                      <a:pPr algn="ctr"/>
                      <a:r>
                        <a:rPr sz="1100" b="0">
                          <a:solidFill>
                            <a:srgbClr val="202020"/>
                          </a:solidFill>
                          <a:latin typeface="Calibri"/>
                        </a:rPr>
                        <a:t>81.22</a:t>
                      </a:r>
                    </a:p>
                  </a:txBody>
                  <a:tcPr marT="27432" marB="27432" marL="54864" marR="54864">
                    <a:solidFill>
                      <a:srgbClr val="FFFFFF"/>
                    </a:solidFill>
                  </a:tcPr>
                </a:tc>
                <a:tc>
                  <a:txBody>
                    <a:bodyPr/>
                    <a:lstStyle/>
                    <a:p>
                      <a:pPr algn="ctr"/>
                      <a:r>
                        <a:rPr sz="1100" b="0">
                          <a:solidFill>
                            <a:srgbClr val="202020"/>
                          </a:solidFill>
                          <a:latin typeface="Calibri"/>
                        </a:rPr>
                        <a:t>95.70</a:t>
                      </a:r>
                    </a:p>
                  </a:txBody>
                  <a:tcPr marT="27432" marB="27432" marL="54864" marR="54864">
                    <a:solidFill>
                      <a:srgbClr val="FFFFFF"/>
                    </a:solidFill>
                  </a:tcPr>
                </a:tc>
                <a:tc>
                  <a:txBody>
                    <a:bodyPr/>
                    <a:lstStyle/>
                    <a:p>
                      <a:pPr algn="ctr"/>
                      <a:r>
                        <a:rPr sz="1100" b="0">
                          <a:solidFill>
                            <a:srgbClr val="202020"/>
                          </a:solidFill>
                          <a:latin typeface="Calibri"/>
                        </a:rPr>
                        <a:t>78.53</a:t>
                      </a:r>
                    </a:p>
                  </a:txBody>
                  <a:tcPr marT="27432" marB="27432" marL="54864" marR="54864">
                    <a:solidFill>
                      <a:srgbClr val="FFFFFF"/>
                    </a:solidFill>
                  </a:tcPr>
                </a:tc>
                <a:tc>
                  <a:txBody>
                    <a:bodyPr/>
                    <a:lstStyle/>
                    <a:p>
                      <a:pPr algn="ctr"/>
                      <a:r>
                        <a:rPr sz="1100" b="0">
                          <a:solidFill>
                            <a:srgbClr val="202020"/>
                          </a:solidFill>
                          <a:latin typeface="Calibri"/>
                        </a:rPr>
                        <a:t>99.28</a:t>
                      </a:r>
                    </a:p>
                  </a:txBody>
                  <a:tcPr marT="27432" marB="27432" marL="54864" marR="54864">
                    <a:solidFill>
                      <a:srgbClr val="FFFFFF"/>
                    </a:solidFill>
                  </a:tcPr>
                </a:tc>
              </a:tr>
              <a:tr h="274320">
                <a:tc>
                  <a:txBody>
                    <a:bodyPr/>
                    <a:lstStyle/>
                    <a:p>
                      <a:pPr algn="l"/>
                      <a:r>
                        <a:rPr sz="1100" b="1">
                          <a:solidFill>
                            <a:srgbClr val="202020"/>
                          </a:solidFill>
                          <a:latin typeface="Calibri"/>
                        </a:rPr>
                        <a:t>Final</a:t>
                      </a:r>
                    </a:p>
                  </a:txBody>
                  <a:tcPr marT="27432" marB="27432" marL="54864" marR="54864">
                    <a:solidFill>
                      <a:srgbClr val="FCE4D6"/>
                    </a:solidFill>
                  </a:tcPr>
                </a:tc>
                <a:tc>
                  <a:txBody>
                    <a:bodyPr/>
                    <a:lstStyle/>
                    <a:p>
                      <a:pPr algn="ctr"/>
                      <a:r>
                        <a:rPr sz="1100" b="1">
                          <a:solidFill>
                            <a:srgbClr val="202020"/>
                          </a:solidFill>
                          <a:latin typeface="Calibri"/>
                        </a:rPr>
                        <a:t>98.41</a:t>
                      </a:r>
                    </a:p>
                  </a:txBody>
                  <a:tcPr marT="27432" marB="27432" marL="54864" marR="54864">
                    <a:solidFill>
                      <a:srgbClr val="FCE4D6"/>
                    </a:solidFill>
                  </a:tcPr>
                </a:tc>
                <a:tc>
                  <a:txBody>
                    <a:bodyPr/>
                    <a:lstStyle/>
                    <a:p>
                      <a:pPr algn="ctr"/>
                      <a:r>
                        <a:rPr sz="1100" b="1">
                          <a:solidFill>
                            <a:srgbClr val="202020"/>
                          </a:solidFill>
                          <a:latin typeface="Calibri"/>
                        </a:rPr>
                        <a:t>91.10</a:t>
                      </a:r>
                    </a:p>
                  </a:txBody>
                  <a:tcPr marT="27432" marB="27432" marL="54864" marR="54864">
                    <a:solidFill>
                      <a:srgbClr val="FCE4D6"/>
                    </a:solidFill>
                  </a:tcPr>
                </a:tc>
                <a:tc>
                  <a:txBody>
                    <a:bodyPr/>
                    <a:lstStyle/>
                    <a:p>
                      <a:pPr algn="ctr"/>
                      <a:r>
                        <a:rPr sz="1100" b="1">
                          <a:solidFill>
                            <a:srgbClr val="202020"/>
                          </a:solidFill>
                          <a:latin typeface="Calibri"/>
                        </a:rPr>
                        <a:t>99.18</a:t>
                      </a:r>
                    </a:p>
                  </a:txBody>
                  <a:tcPr marT="27432" marB="27432" marL="54864" marR="54864">
                    <a:solidFill>
                      <a:srgbClr val="FCE4D6"/>
                    </a:solidFill>
                  </a:tcPr>
                </a:tc>
                <a:tc>
                  <a:txBody>
                    <a:bodyPr/>
                    <a:lstStyle/>
                    <a:p>
                      <a:pPr algn="ctr"/>
                      <a:r>
                        <a:rPr sz="1100" b="1">
                          <a:solidFill>
                            <a:srgbClr val="202020"/>
                          </a:solidFill>
                          <a:latin typeface="Calibri"/>
                        </a:rPr>
                        <a:t>82.14</a:t>
                      </a:r>
                    </a:p>
                  </a:txBody>
                  <a:tcPr marT="27432" marB="27432" marL="54864" marR="54864">
                    <a:solidFill>
                      <a:srgbClr val="FCE4D6"/>
                    </a:solidFill>
                  </a:tcPr>
                </a:tc>
                <a:tc>
                  <a:txBody>
                    <a:bodyPr/>
                    <a:lstStyle/>
                    <a:p>
                      <a:pPr algn="ctr"/>
                      <a:r>
                        <a:rPr sz="1100" b="1">
                          <a:solidFill>
                            <a:srgbClr val="202020"/>
                          </a:solidFill>
                          <a:latin typeface="Calibri"/>
                        </a:rPr>
                        <a:t>95.87</a:t>
                      </a:r>
                    </a:p>
                  </a:txBody>
                  <a:tcPr marT="27432" marB="27432" marL="54864" marR="54864">
                    <a:solidFill>
                      <a:srgbClr val="FCE4D6"/>
                    </a:solidFill>
                  </a:tcPr>
                </a:tc>
                <a:tc>
                  <a:txBody>
                    <a:bodyPr/>
                    <a:lstStyle/>
                    <a:p>
                      <a:pPr algn="ctr"/>
                      <a:r>
                        <a:rPr sz="1100" b="1">
                          <a:solidFill>
                            <a:srgbClr val="202020"/>
                          </a:solidFill>
                          <a:latin typeface="Calibri"/>
                        </a:rPr>
                        <a:t>79.23</a:t>
                      </a:r>
                    </a:p>
                  </a:txBody>
                  <a:tcPr marT="27432" marB="27432" marL="54864" marR="54864">
                    <a:solidFill>
                      <a:srgbClr val="FCE4D6"/>
                    </a:solidFill>
                  </a:tcPr>
                </a:tc>
                <a:tc>
                  <a:txBody>
                    <a:bodyPr/>
                    <a:lstStyle/>
                    <a:p>
                      <a:pPr algn="ctr"/>
                      <a:r>
                        <a:rPr sz="1100" b="1">
                          <a:solidFill>
                            <a:srgbClr val="202020"/>
                          </a:solidFill>
                          <a:latin typeface="Calibri"/>
                        </a:rPr>
                        <a:t>99.06</a:t>
                      </a:r>
                    </a:p>
                  </a:txBody>
                  <a:tcPr marT="27432" marB="27432" marL="54864" marR="54864">
                    <a:solidFill>
                      <a:srgbClr val="FCE4D6"/>
                    </a:solidFill>
                  </a:tcPr>
                </a:tc>
              </a:tr>
            </a:tbl>
          </a:graphicData>
        </a:graphic>
      </p:graphicFrame>
      <p:sp>
        <p:nvSpPr>
          <p:cNvPr id="20" name="TextBox 19"/>
          <p:cNvSpPr txBox="1"/>
          <p:nvPr/>
        </p:nvSpPr>
        <p:spPr>
          <a:xfrm>
            <a:off x="502920" y="5806440"/>
            <a:ext cx="8138160" cy="274320"/>
          </a:xfrm>
          <a:prstGeom prst="rect">
            <a:avLst/>
          </a:prstGeom>
          <a:noFill/>
        </p:spPr>
        <p:txBody>
          <a:bodyPr wrap="square" lIns="0" tIns="0" rIns="0" bIns="0">
            <a:spAutoFit/>
          </a:bodyPr>
          <a:lstStyle/>
          <a:p>
            <a:pPr algn="l"/>
            <a:r>
              <a:rPr sz="1050" b="0" i="1">
                <a:solidFill>
                  <a:srgbClr val="595959"/>
                </a:solidFill>
                <a:latin typeface="Calibri"/>
              </a:rPr>
              <a:t>Per-class test F1 (%) of every model.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Final Model: Residual CNN + Tuned Thresholds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2"/>
          <a:stretch>
            <a:fillRect/>
          </a:stretch>
        </p:blipFill>
        <p:spPr>
          <a:xfrm>
            <a:off x="822960" y="1005840"/>
            <a:ext cx="7498079" cy="2920902"/>
          </a:xfrm>
          <a:prstGeom prst="rect">
            <a:avLst/>
          </a:prstGeom>
        </p:spPr>
      </p:pic>
      <p:graphicFrame>
        <p:nvGraphicFramePr>
          <p:cNvPr id="16" name="Table 15"/>
          <p:cNvGraphicFramePr>
            <a:graphicFrameLocks noGrp="1"/>
          </p:cNvGraphicFramePr>
          <p:nvPr/>
        </p:nvGraphicFramePr>
        <p:xfrm>
          <a:off x="502920" y="4069080"/>
          <a:ext cx="4023360" cy="1728216"/>
        </p:xfrm>
        <a:graphic>
          <a:graphicData uri="http://schemas.openxmlformats.org/drawingml/2006/table">
            <a:tbl>
              <a:tblPr firstRow="1" bandRow="1">
                <a:tableStyleId>{5C22544A-7EE6-4342-B048-85BDC9FD1C3A}</a:tableStyleId>
              </a:tblPr>
              <a:tblGrid>
                <a:gridCol w="731520"/>
                <a:gridCol w="822960"/>
                <a:gridCol w="822960"/>
                <a:gridCol w="822960"/>
                <a:gridCol w="822960"/>
              </a:tblGrid>
              <a:tr h="246888">
                <a:tc>
                  <a:txBody>
                    <a:bodyPr/>
                    <a:lstStyle/>
                    <a:p>
                      <a:pPr algn="l"/>
                      <a:r>
                        <a:rPr sz="1100" b="1">
                          <a:solidFill>
                            <a:srgbClr val="FFFFFF"/>
                          </a:solidFill>
                          <a:latin typeface="Calibri"/>
                        </a:rPr>
                        <a:t>Class</a:t>
                      </a:r>
                    </a:p>
                  </a:txBody>
                  <a:tcPr marT="27432" marB="27432" marL="54864" marR="54864">
                    <a:solidFill>
                      <a:srgbClr val="1F3864"/>
                    </a:solidFill>
                  </a:tcPr>
                </a:tc>
                <a:tc>
                  <a:txBody>
                    <a:bodyPr/>
                    <a:lstStyle/>
                    <a:p>
                      <a:pPr algn="ctr"/>
                      <a:r>
                        <a:rPr sz="1100" b="1">
                          <a:solidFill>
                            <a:srgbClr val="FFFFFF"/>
                          </a:solidFill>
                          <a:latin typeface="Calibri"/>
                        </a:rPr>
                        <a:t>Precision</a:t>
                      </a:r>
                    </a:p>
                  </a:txBody>
                  <a:tcPr marT="27432" marB="27432" marL="54864" marR="54864">
                    <a:solidFill>
                      <a:srgbClr val="1F3864"/>
                    </a:solidFill>
                  </a:tcPr>
                </a:tc>
                <a:tc>
                  <a:txBody>
                    <a:bodyPr/>
                    <a:lstStyle/>
                    <a:p>
                      <a:pPr algn="ctr"/>
                      <a:r>
                        <a:rPr sz="1100" b="1">
                          <a:solidFill>
                            <a:srgbClr val="FFFFFF"/>
                          </a:solidFill>
                          <a:latin typeface="Calibri"/>
                        </a:rPr>
                        <a:t>Recall</a:t>
                      </a:r>
                    </a:p>
                  </a:txBody>
                  <a:tcPr marT="27432" marB="27432" marL="54864" marR="54864">
                    <a:solidFill>
                      <a:srgbClr val="1F3864"/>
                    </a:solidFill>
                  </a:tcPr>
                </a:tc>
                <a:tc>
                  <a:txBody>
                    <a:bodyPr/>
                    <a:lstStyle/>
                    <a:p>
                      <a:pPr algn="ctr"/>
                      <a:r>
                        <a:rPr sz="1100" b="1">
                          <a:solidFill>
                            <a:srgbClr val="FFFFFF"/>
                          </a:solidFill>
                          <a:latin typeface="Calibri"/>
                        </a:rPr>
                        <a:t>F1</a:t>
                      </a:r>
                    </a:p>
                  </a:txBody>
                  <a:tcPr marT="27432" marB="27432" marL="54864" marR="54864">
                    <a:solidFill>
                      <a:srgbClr val="1F3864"/>
                    </a:solidFill>
                  </a:tcPr>
                </a:tc>
                <a:tc>
                  <a:txBody>
                    <a:bodyPr/>
                    <a:lstStyle/>
                    <a:p>
                      <a:pPr algn="ctr"/>
                      <a:r>
                        <a:rPr sz="1100" b="1">
                          <a:solidFill>
                            <a:srgbClr val="FFFFFF"/>
                          </a:solidFill>
                          <a:latin typeface="Calibri"/>
                        </a:rPr>
                        <a:t>Beats</a:t>
                      </a:r>
                    </a:p>
                  </a:txBody>
                  <a:tcPr marT="27432" marB="27432" marL="54864" marR="54864">
                    <a:solidFill>
                      <a:srgbClr val="1F3864"/>
                    </a:solidFill>
                  </a:tcPr>
                </a:tc>
              </a:tr>
              <a:tr h="246888">
                <a:tc>
                  <a:txBody>
                    <a:bodyPr/>
                    <a:lstStyle/>
                    <a:p>
                      <a:pPr algn="l"/>
                      <a:r>
                        <a:rPr sz="1100" b="1">
                          <a:solidFill>
                            <a:srgbClr val="202020"/>
                          </a:solidFill>
                          <a:latin typeface="Calibri"/>
                        </a:rPr>
                        <a:t>N</a:t>
                      </a:r>
                    </a:p>
                  </a:txBody>
                  <a:tcPr marT="27432" marB="27432" marL="54864" marR="54864">
                    <a:solidFill>
                      <a:srgbClr val="F2F2F2"/>
                    </a:solidFill>
                  </a:tcPr>
                </a:tc>
                <a:tc>
                  <a:txBody>
                    <a:bodyPr/>
                    <a:lstStyle/>
                    <a:p>
                      <a:pPr algn="ctr"/>
                      <a:r>
                        <a:rPr sz="1100" b="0">
                          <a:solidFill>
                            <a:srgbClr val="202020"/>
                          </a:solidFill>
                          <a:latin typeface="Calibri"/>
                        </a:rPr>
                        <a:t>0.9874</a:t>
                      </a:r>
                    </a:p>
                  </a:txBody>
                  <a:tcPr marT="27432" marB="27432" marL="54864" marR="54864">
                    <a:solidFill>
                      <a:srgbClr val="F2F2F2"/>
                    </a:solidFill>
                  </a:tcPr>
                </a:tc>
                <a:tc>
                  <a:txBody>
                    <a:bodyPr/>
                    <a:lstStyle/>
                    <a:p>
                      <a:pPr algn="ctr"/>
                      <a:r>
                        <a:rPr sz="1100" b="0">
                          <a:solidFill>
                            <a:srgbClr val="202020"/>
                          </a:solidFill>
                          <a:latin typeface="Calibri"/>
                        </a:rPr>
                        <a:t>0.9962</a:t>
                      </a:r>
                    </a:p>
                  </a:txBody>
                  <a:tcPr marT="27432" marB="27432" marL="54864" marR="54864">
                    <a:solidFill>
                      <a:srgbClr val="F2F2F2"/>
                    </a:solidFill>
                  </a:tcPr>
                </a:tc>
                <a:tc>
                  <a:txBody>
                    <a:bodyPr/>
                    <a:lstStyle/>
                    <a:p>
                      <a:pPr algn="ctr"/>
                      <a:r>
                        <a:rPr sz="1100" b="0">
                          <a:solidFill>
                            <a:srgbClr val="202020"/>
                          </a:solidFill>
                          <a:latin typeface="Calibri"/>
                        </a:rPr>
                        <a:t>0.9918</a:t>
                      </a:r>
                    </a:p>
                  </a:txBody>
                  <a:tcPr marT="27432" marB="27432" marL="54864" marR="54864">
                    <a:solidFill>
                      <a:srgbClr val="F2F2F2"/>
                    </a:solidFill>
                  </a:tcPr>
                </a:tc>
                <a:tc>
                  <a:txBody>
                    <a:bodyPr/>
                    <a:lstStyle/>
                    <a:p>
                      <a:pPr algn="ctr"/>
                      <a:r>
                        <a:rPr sz="1100" b="0">
                          <a:solidFill>
                            <a:srgbClr val="202020"/>
                          </a:solidFill>
                          <a:latin typeface="Calibri"/>
                        </a:rPr>
                        <a:t>18,118</a:t>
                      </a:r>
                    </a:p>
                  </a:txBody>
                  <a:tcPr marT="27432" marB="27432" marL="54864" marR="54864">
                    <a:solidFill>
                      <a:srgbClr val="F2F2F2"/>
                    </a:solidFill>
                  </a:tcPr>
                </a:tc>
              </a:tr>
              <a:tr h="246888">
                <a:tc>
                  <a:txBody>
                    <a:bodyPr/>
                    <a:lstStyle/>
                    <a:p>
                      <a:pPr algn="l"/>
                      <a:r>
                        <a:rPr sz="1100" b="1">
                          <a:solidFill>
                            <a:srgbClr val="202020"/>
                          </a:solidFill>
                          <a:latin typeface="Calibri"/>
                        </a:rPr>
                        <a:t>S</a:t>
                      </a:r>
                    </a:p>
                  </a:txBody>
                  <a:tcPr marT="27432" marB="27432" marL="54864" marR="54864">
                    <a:solidFill>
                      <a:srgbClr val="FFFFFF"/>
                    </a:solidFill>
                  </a:tcPr>
                </a:tc>
                <a:tc>
                  <a:txBody>
                    <a:bodyPr/>
                    <a:lstStyle/>
                    <a:p>
                      <a:pPr algn="ctr"/>
                      <a:r>
                        <a:rPr sz="1100" b="0">
                          <a:solidFill>
                            <a:srgbClr val="202020"/>
                          </a:solidFill>
                          <a:latin typeface="Calibri"/>
                        </a:rPr>
                        <a:t>0.8758</a:t>
                      </a:r>
                    </a:p>
                  </a:txBody>
                  <a:tcPr marT="27432" marB="27432" marL="54864" marR="54864">
                    <a:solidFill>
                      <a:srgbClr val="FFFFFF"/>
                    </a:solidFill>
                  </a:tcPr>
                </a:tc>
                <a:tc>
                  <a:txBody>
                    <a:bodyPr/>
                    <a:lstStyle/>
                    <a:p>
                      <a:pPr algn="ctr"/>
                      <a:r>
                        <a:rPr sz="1100" b="0">
                          <a:solidFill>
                            <a:srgbClr val="202020"/>
                          </a:solidFill>
                          <a:latin typeface="Calibri"/>
                        </a:rPr>
                        <a:t>0.7734</a:t>
                      </a:r>
                    </a:p>
                  </a:txBody>
                  <a:tcPr marT="27432" marB="27432" marL="54864" marR="54864">
                    <a:solidFill>
                      <a:srgbClr val="FFFFFF"/>
                    </a:solidFill>
                  </a:tcPr>
                </a:tc>
                <a:tc>
                  <a:txBody>
                    <a:bodyPr/>
                    <a:lstStyle/>
                    <a:p>
                      <a:pPr algn="ctr"/>
                      <a:r>
                        <a:rPr sz="1100" b="0">
                          <a:solidFill>
                            <a:srgbClr val="202020"/>
                          </a:solidFill>
                          <a:latin typeface="Calibri"/>
                        </a:rPr>
                        <a:t>0.8214</a:t>
                      </a:r>
                    </a:p>
                  </a:txBody>
                  <a:tcPr marT="27432" marB="27432" marL="54864" marR="54864">
                    <a:solidFill>
                      <a:srgbClr val="FFFFFF"/>
                    </a:solidFill>
                  </a:tcPr>
                </a:tc>
                <a:tc>
                  <a:txBody>
                    <a:bodyPr/>
                    <a:lstStyle/>
                    <a:p>
                      <a:pPr algn="ctr"/>
                      <a:r>
                        <a:rPr sz="1100" b="0">
                          <a:solidFill>
                            <a:srgbClr val="202020"/>
                          </a:solidFill>
                          <a:latin typeface="Calibri"/>
                        </a:rPr>
                        <a:t>556</a:t>
                      </a:r>
                    </a:p>
                  </a:txBody>
                  <a:tcPr marT="27432" marB="27432" marL="54864" marR="54864">
                    <a:solidFill>
                      <a:srgbClr val="FFFFFF"/>
                    </a:solidFill>
                  </a:tcPr>
                </a:tc>
              </a:tr>
              <a:tr h="246888">
                <a:tc>
                  <a:txBody>
                    <a:bodyPr/>
                    <a:lstStyle/>
                    <a:p>
                      <a:pPr algn="l"/>
                      <a:r>
                        <a:rPr sz="1100" b="1">
                          <a:solidFill>
                            <a:srgbClr val="202020"/>
                          </a:solidFill>
                          <a:latin typeface="Calibri"/>
                        </a:rPr>
                        <a:t>V</a:t>
                      </a:r>
                    </a:p>
                  </a:txBody>
                  <a:tcPr marT="27432" marB="27432" marL="54864" marR="54864">
                    <a:solidFill>
                      <a:srgbClr val="F2F2F2"/>
                    </a:solidFill>
                  </a:tcPr>
                </a:tc>
                <a:tc>
                  <a:txBody>
                    <a:bodyPr/>
                    <a:lstStyle/>
                    <a:p>
                      <a:pPr algn="ctr"/>
                      <a:r>
                        <a:rPr sz="1100" b="0">
                          <a:solidFill>
                            <a:srgbClr val="202020"/>
                          </a:solidFill>
                          <a:latin typeface="Calibri"/>
                        </a:rPr>
                        <a:t>0.9805</a:t>
                      </a:r>
                    </a:p>
                  </a:txBody>
                  <a:tcPr marT="27432" marB="27432" marL="54864" marR="54864">
                    <a:solidFill>
                      <a:srgbClr val="F2F2F2"/>
                    </a:solidFill>
                  </a:tcPr>
                </a:tc>
                <a:tc>
                  <a:txBody>
                    <a:bodyPr/>
                    <a:lstStyle/>
                    <a:p>
                      <a:pPr algn="ctr"/>
                      <a:r>
                        <a:rPr sz="1100" b="0">
                          <a:solidFill>
                            <a:srgbClr val="202020"/>
                          </a:solidFill>
                          <a:latin typeface="Calibri"/>
                        </a:rPr>
                        <a:t>0.9378</a:t>
                      </a:r>
                    </a:p>
                  </a:txBody>
                  <a:tcPr marT="27432" marB="27432" marL="54864" marR="54864">
                    <a:solidFill>
                      <a:srgbClr val="F2F2F2"/>
                    </a:solidFill>
                  </a:tcPr>
                </a:tc>
                <a:tc>
                  <a:txBody>
                    <a:bodyPr/>
                    <a:lstStyle/>
                    <a:p>
                      <a:pPr algn="ctr"/>
                      <a:r>
                        <a:rPr sz="1100" b="0">
                          <a:solidFill>
                            <a:srgbClr val="202020"/>
                          </a:solidFill>
                          <a:latin typeface="Calibri"/>
                        </a:rPr>
                        <a:t>0.9587</a:t>
                      </a:r>
                    </a:p>
                  </a:txBody>
                  <a:tcPr marT="27432" marB="27432" marL="54864" marR="54864">
                    <a:solidFill>
                      <a:srgbClr val="F2F2F2"/>
                    </a:solidFill>
                  </a:tcPr>
                </a:tc>
                <a:tc>
                  <a:txBody>
                    <a:bodyPr/>
                    <a:lstStyle/>
                    <a:p>
                      <a:pPr algn="ctr"/>
                      <a:r>
                        <a:rPr sz="1100" b="0">
                          <a:solidFill>
                            <a:srgbClr val="202020"/>
                          </a:solidFill>
                          <a:latin typeface="Calibri"/>
                        </a:rPr>
                        <a:t>1,448</a:t>
                      </a:r>
                    </a:p>
                  </a:txBody>
                  <a:tcPr marT="27432" marB="27432" marL="54864" marR="54864">
                    <a:solidFill>
                      <a:srgbClr val="F2F2F2"/>
                    </a:solidFill>
                  </a:tcPr>
                </a:tc>
              </a:tr>
              <a:tr h="246888">
                <a:tc>
                  <a:txBody>
                    <a:bodyPr/>
                    <a:lstStyle/>
                    <a:p>
                      <a:pPr algn="l"/>
                      <a:r>
                        <a:rPr sz="1100" b="1">
                          <a:solidFill>
                            <a:srgbClr val="202020"/>
                          </a:solidFill>
                          <a:latin typeface="Calibri"/>
                        </a:rPr>
                        <a:t>F</a:t>
                      </a:r>
                    </a:p>
                  </a:txBody>
                  <a:tcPr marT="27432" marB="27432" marL="54864" marR="54864">
                    <a:solidFill>
                      <a:srgbClr val="FFFFFF"/>
                    </a:solidFill>
                  </a:tcPr>
                </a:tc>
                <a:tc>
                  <a:txBody>
                    <a:bodyPr/>
                    <a:lstStyle/>
                    <a:p>
                      <a:pPr algn="ctr"/>
                      <a:r>
                        <a:rPr sz="1100" b="0">
                          <a:solidFill>
                            <a:srgbClr val="202020"/>
                          </a:solidFill>
                          <a:latin typeface="Calibri"/>
                        </a:rPr>
                        <a:t>0.8212</a:t>
                      </a:r>
                    </a:p>
                  </a:txBody>
                  <a:tcPr marT="27432" marB="27432" marL="54864" marR="54864">
                    <a:solidFill>
                      <a:srgbClr val="FFFFFF"/>
                    </a:solidFill>
                  </a:tcPr>
                </a:tc>
                <a:tc>
                  <a:txBody>
                    <a:bodyPr/>
                    <a:lstStyle/>
                    <a:p>
                      <a:pPr algn="ctr"/>
                      <a:r>
                        <a:rPr sz="1100" b="0">
                          <a:solidFill>
                            <a:srgbClr val="202020"/>
                          </a:solidFill>
                          <a:latin typeface="Calibri"/>
                        </a:rPr>
                        <a:t>0.7654</a:t>
                      </a:r>
                    </a:p>
                  </a:txBody>
                  <a:tcPr marT="27432" marB="27432" marL="54864" marR="54864">
                    <a:solidFill>
                      <a:srgbClr val="FFFFFF"/>
                    </a:solidFill>
                  </a:tcPr>
                </a:tc>
                <a:tc>
                  <a:txBody>
                    <a:bodyPr/>
                    <a:lstStyle/>
                    <a:p>
                      <a:pPr algn="ctr"/>
                      <a:r>
                        <a:rPr sz="1100" b="0">
                          <a:solidFill>
                            <a:srgbClr val="202020"/>
                          </a:solidFill>
                          <a:latin typeface="Calibri"/>
                        </a:rPr>
                        <a:t>0.7923</a:t>
                      </a:r>
                    </a:p>
                  </a:txBody>
                  <a:tcPr marT="27432" marB="27432" marL="54864" marR="54864">
                    <a:solidFill>
                      <a:srgbClr val="FFFFFF"/>
                    </a:solidFill>
                  </a:tcPr>
                </a:tc>
                <a:tc>
                  <a:txBody>
                    <a:bodyPr/>
                    <a:lstStyle/>
                    <a:p>
                      <a:pPr algn="ctr"/>
                      <a:r>
                        <a:rPr sz="1100" b="0">
                          <a:solidFill>
                            <a:srgbClr val="202020"/>
                          </a:solidFill>
                          <a:latin typeface="Calibri"/>
                        </a:rPr>
                        <a:t>162</a:t>
                      </a:r>
                    </a:p>
                  </a:txBody>
                  <a:tcPr marT="27432" marB="27432" marL="54864" marR="54864">
                    <a:solidFill>
                      <a:srgbClr val="FFFFFF"/>
                    </a:solidFill>
                  </a:tcPr>
                </a:tc>
              </a:tr>
              <a:tr h="246888">
                <a:tc>
                  <a:txBody>
                    <a:bodyPr/>
                    <a:lstStyle/>
                    <a:p>
                      <a:pPr algn="l"/>
                      <a:r>
                        <a:rPr sz="1100" b="1">
                          <a:solidFill>
                            <a:srgbClr val="202020"/>
                          </a:solidFill>
                          <a:latin typeface="Calibri"/>
                        </a:rPr>
                        <a:t>Q</a:t>
                      </a:r>
                    </a:p>
                  </a:txBody>
                  <a:tcPr marT="27432" marB="27432" marL="54864" marR="54864">
                    <a:solidFill>
                      <a:srgbClr val="F2F2F2"/>
                    </a:solidFill>
                  </a:tcPr>
                </a:tc>
                <a:tc>
                  <a:txBody>
                    <a:bodyPr/>
                    <a:lstStyle/>
                    <a:p>
                      <a:pPr algn="ctr"/>
                      <a:r>
                        <a:rPr sz="1100" b="0">
                          <a:solidFill>
                            <a:srgbClr val="202020"/>
                          </a:solidFill>
                          <a:latin typeface="Calibri"/>
                        </a:rPr>
                        <a:t>0.9981</a:t>
                      </a:r>
                    </a:p>
                  </a:txBody>
                  <a:tcPr marT="27432" marB="27432" marL="54864" marR="54864">
                    <a:solidFill>
                      <a:srgbClr val="F2F2F2"/>
                    </a:solidFill>
                  </a:tcPr>
                </a:tc>
                <a:tc>
                  <a:txBody>
                    <a:bodyPr/>
                    <a:lstStyle/>
                    <a:p>
                      <a:pPr algn="ctr"/>
                      <a:r>
                        <a:rPr sz="1100" b="0">
                          <a:solidFill>
                            <a:srgbClr val="202020"/>
                          </a:solidFill>
                          <a:latin typeface="Calibri"/>
                        </a:rPr>
                        <a:t>0.9832</a:t>
                      </a:r>
                    </a:p>
                  </a:txBody>
                  <a:tcPr marT="27432" marB="27432" marL="54864" marR="54864">
                    <a:solidFill>
                      <a:srgbClr val="F2F2F2"/>
                    </a:solidFill>
                  </a:tcPr>
                </a:tc>
                <a:tc>
                  <a:txBody>
                    <a:bodyPr/>
                    <a:lstStyle/>
                    <a:p>
                      <a:pPr algn="ctr"/>
                      <a:r>
                        <a:rPr sz="1100" b="0">
                          <a:solidFill>
                            <a:srgbClr val="202020"/>
                          </a:solidFill>
                          <a:latin typeface="Calibri"/>
                        </a:rPr>
                        <a:t>0.9906</a:t>
                      </a:r>
                    </a:p>
                  </a:txBody>
                  <a:tcPr marT="27432" marB="27432" marL="54864" marR="54864">
                    <a:solidFill>
                      <a:srgbClr val="F2F2F2"/>
                    </a:solidFill>
                  </a:tcPr>
                </a:tc>
                <a:tc>
                  <a:txBody>
                    <a:bodyPr/>
                    <a:lstStyle/>
                    <a:p>
                      <a:pPr algn="ctr"/>
                      <a:r>
                        <a:rPr sz="1100" b="0">
                          <a:solidFill>
                            <a:srgbClr val="202020"/>
                          </a:solidFill>
                          <a:latin typeface="Calibri"/>
                        </a:rPr>
                        <a:t>1,608</a:t>
                      </a:r>
                    </a:p>
                  </a:txBody>
                  <a:tcPr marT="27432" marB="27432" marL="54864" marR="54864">
                    <a:solidFill>
                      <a:srgbClr val="F2F2F2"/>
                    </a:solidFill>
                  </a:tcPr>
                </a:tc>
              </a:tr>
              <a:tr h="246888">
                <a:tc>
                  <a:txBody>
                    <a:bodyPr/>
                    <a:lstStyle/>
                    <a:p>
                      <a:pPr algn="l"/>
                      <a:r>
                        <a:rPr sz="1100" b="1">
                          <a:solidFill>
                            <a:srgbClr val="202020"/>
                          </a:solidFill>
                          <a:latin typeface="Calibri"/>
                        </a:rPr>
                        <a:t>Macro</a:t>
                      </a:r>
                    </a:p>
                  </a:txBody>
                  <a:tcPr marT="27432" marB="27432" marL="54864" marR="54864">
                    <a:solidFill>
                      <a:srgbClr val="FCE4D6"/>
                    </a:solidFill>
                  </a:tcPr>
                </a:tc>
                <a:tc>
                  <a:txBody>
                    <a:bodyPr/>
                    <a:lstStyle/>
                    <a:p>
                      <a:pPr algn="ctr"/>
                      <a:r>
                        <a:rPr sz="1100" b="1">
                          <a:solidFill>
                            <a:srgbClr val="202020"/>
                          </a:solidFill>
                          <a:latin typeface="Calibri"/>
                        </a:rPr>
                        <a:t>0.9326</a:t>
                      </a:r>
                    </a:p>
                  </a:txBody>
                  <a:tcPr marT="27432" marB="27432" marL="54864" marR="54864">
                    <a:solidFill>
                      <a:srgbClr val="FCE4D6"/>
                    </a:solidFill>
                  </a:tcPr>
                </a:tc>
                <a:tc>
                  <a:txBody>
                    <a:bodyPr/>
                    <a:lstStyle/>
                    <a:p>
                      <a:pPr algn="ctr"/>
                      <a:r>
                        <a:rPr sz="1100" b="1">
                          <a:solidFill>
                            <a:srgbClr val="202020"/>
                          </a:solidFill>
                          <a:latin typeface="Calibri"/>
                        </a:rPr>
                        <a:t>0.8912</a:t>
                      </a:r>
                    </a:p>
                  </a:txBody>
                  <a:tcPr marT="27432" marB="27432" marL="54864" marR="54864">
                    <a:solidFill>
                      <a:srgbClr val="FCE4D6"/>
                    </a:solidFill>
                  </a:tcPr>
                </a:tc>
                <a:tc>
                  <a:txBody>
                    <a:bodyPr/>
                    <a:lstStyle/>
                    <a:p>
                      <a:pPr algn="ctr"/>
                      <a:r>
                        <a:rPr sz="1100" b="1">
                          <a:solidFill>
                            <a:srgbClr val="202020"/>
                          </a:solidFill>
                          <a:latin typeface="Calibri"/>
                        </a:rPr>
                        <a:t>0.9110</a:t>
                      </a:r>
                    </a:p>
                  </a:txBody>
                  <a:tcPr marT="27432" marB="27432" marL="54864" marR="54864">
                    <a:solidFill>
                      <a:srgbClr val="FCE4D6"/>
                    </a:solidFill>
                  </a:tcPr>
                </a:tc>
                <a:tc>
                  <a:txBody>
                    <a:bodyPr/>
                    <a:lstStyle/>
                    <a:p>
                      <a:pPr algn="ctr"/>
                      <a:r>
                        <a:rPr sz="1100" b="1">
                          <a:solidFill>
                            <a:srgbClr val="202020"/>
                          </a:solidFill>
                          <a:latin typeface="Calibri"/>
                        </a:rPr>
                        <a:t>21,892</a:t>
                      </a:r>
                    </a:p>
                  </a:txBody>
                  <a:tcPr marT="27432" marB="27432" marL="54864" marR="54864">
                    <a:solidFill>
                      <a:srgbClr val="FCE4D6"/>
                    </a:solidFill>
                  </a:tcPr>
                </a:tc>
              </a:tr>
            </a:tbl>
          </a:graphicData>
        </a:graphic>
      </p:graphicFrame>
      <p:sp>
        <p:nvSpPr>
          <p:cNvPr id="17" name="TextBox 16"/>
          <p:cNvSpPr txBox="1"/>
          <p:nvPr/>
        </p:nvSpPr>
        <p:spPr>
          <a:xfrm>
            <a:off x="4709160" y="4023360"/>
            <a:ext cx="3931920" cy="320040"/>
          </a:xfrm>
          <a:prstGeom prst="rect">
            <a:avLst/>
          </a:prstGeom>
          <a:noFill/>
        </p:spPr>
        <p:txBody>
          <a:bodyPr wrap="square" lIns="0" tIns="0" rIns="0" bIns="0">
            <a:spAutoFit/>
          </a:bodyPr>
          <a:lstStyle/>
          <a:p>
            <a:pPr algn="l"/>
            <a:r>
              <a:rPr sz="1400" b="1" i="0">
                <a:solidFill>
                  <a:srgbClr val="202020"/>
                </a:solidFill>
                <a:latin typeface="Calibri"/>
              </a:rPr>
              <a:t>Accuracy 98.41%  |  Macro F1 91.10%</a:t>
            </a:r>
          </a:p>
        </p:txBody>
      </p:sp>
      <p:sp>
        <p:nvSpPr>
          <p:cNvPr id="18" name="TextBox 17"/>
          <p:cNvSpPr txBox="1"/>
          <p:nvPr/>
        </p:nvSpPr>
        <p:spPr>
          <a:xfrm>
            <a:off x="4709160" y="4407408"/>
            <a:ext cx="3931920" cy="182880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Selected model: E5, highest validation macro F1 (93.19%).</a:t>
            </a:r>
          </a:p>
          <a:p>
            <a:pPr algn="l">
              <a:spcAft>
                <a:spcPts val="300"/>
              </a:spcAft>
            </a:pPr>
            <a:r>
              <a:rPr sz="1100" b="0" i="0">
                <a:solidFill>
                  <a:srgbClr val="202020"/>
                </a:solidFill>
                <a:latin typeface="Calibri"/>
              </a:rPr>
              <a:t>• Tuned scale factors: N = 3.0, all others 1.0, so non-N predictions need more confidence.</a:t>
            </a:r>
          </a:p>
          <a:p>
            <a:pPr algn="l">
              <a:spcAft>
                <a:spcPts val="300"/>
              </a:spcAft>
            </a:pPr>
            <a:r>
              <a:rPr sz="1100" b="0" i="0">
                <a:solidFill>
                  <a:srgbClr val="202020"/>
                </a:solidFill>
                <a:latin typeface="Calibri"/>
              </a:rPr>
              <a:t>• Tuning raised accuracy 98.29% → 98.41% and macro F1 90.77% → 91.10%.</a:t>
            </a:r>
          </a:p>
          <a:p>
            <a:pPr algn="l">
              <a:spcAft>
                <a:spcPts val="300"/>
              </a:spcAft>
            </a:pPr>
            <a:r>
              <a:rPr sz="1100" b="0" i="0">
                <a:solidFill>
                  <a:srgbClr val="202020"/>
                </a:solidFill>
                <a:latin typeface="Calibri"/>
              </a:rPr>
              <a:t>• Weighted-average F1: 98.37%.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Baseline (V1) vs Final Model (V2)</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V2_09_final_per_class_metrics.png"/>
          <p:cNvPicPr>
            <a:picLocks noChangeAspect="1"/>
          </p:cNvPicPr>
          <p:nvPr/>
        </p:nvPicPr>
        <p:blipFill>
          <a:blip r:embed="rId2"/>
          <a:stretch>
            <a:fillRect/>
          </a:stretch>
        </p:blipFill>
        <p:spPr>
          <a:xfrm>
            <a:off x="502920" y="1005840"/>
            <a:ext cx="3840480" cy="2277133"/>
          </a:xfrm>
          <a:prstGeom prst="rect">
            <a:avLst/>
          </a:prstGeom>
        </p:spPr>
      </p:pic>
      <p:sp>
        <p:nvSpPr>
          <p:cNvPr id="16" name="TextBox 15"/>
          <p:cNvSpPr txBox="1"/>
          <p:nvPr/>
        </p:nvSpPr>
        <p:spPr>
          <a:xfrm>
            <a:off x="502920" y="3310128"/>
            <a:ext cx="3840480" cy="274320"/>
          </a:xfrm>
          <a:prstGeom prst="rect">
            <a:avLst/>
          </a:prstGeom>
          <a:noFill/>
        </p:spPr>
        <p:txBody>
          <a:bodyPr wrap="square" lIns="0" tIns="0" rIns="0" bIns="0">
            <a:spAutoFit/>
          </a:bodyPr>
          <a:lstStyle/>
          <a:p>
            <a:pPr algn="ctr"/>
            <a:r>
              <a:rPr sz="1000" b="0" i="1">
                <a:solidFill>
                  <a:srgbClr val="595959"/>
                </a:solidFill>
                <a:latin typeface="Calibri"/>
              </a:rPr>
              <a:t>Per-class P / R / F1 of the final model</a:t>
            </a:r>
          </a:p>
        </p:txBody>
      </p:sp>
      <p:graphicFrame>
        <p:nvGraphicFramePr>
          <p:cNvPr id="17" name="Table 16"/>
          <p:cNvGraphicFramePr>
            <a:graphicFrameLocks noGrp="1"/>
          </p:cNvGraphicFramePr>
          <p:nvPr/>
        </p:nvGraphicFramePr>
        <p:xfrm>
          <a:off x="4526280" y="1005840"/>
          <a:ext cx="4114800" cy="2468880"/>
        </p:xfrm>
        <a:graphic>
          <a:graphicData uri="http://schemas.openxmlformats.org/drawingml/2006/table">
            <a:tbl>
              <a:tblPr firstRow="1" bandRow="1">
                <a:tableStyleId>{5C22544A-7EE6-4342-B048-85BDC9FD1C3A}</a:tableStyleId>
              </a:tblPr>
              <a:tblGrid>
                <a:gridCol w="1371600"/>
                <a:gridCol w="868680"/>
                <a:gridCol w="868680"/>
                <a:gridCol w="1005840"/>
              </a:tblGrid>
              <a:tr h="246888">
                <a:tc>
                  <a:txBody>
                    <a:bodyPr/>
                    <a:lstStyle/>
                    <a:p>
                      <a:pPr algn="l"/>
                      <a:r>
                        <a:rPr sz="950" b="1">
                          <a:solidFill>
                            <a:srgbClr val="FFFFFF"/>
                          </a:solidFill>
                          <a:latin typeface="Calibri"/>
                        </a:rPr>
                        <a:t>Metric</a:t>
                      </a:r>
                    </a:p>
                  </a:txBody>
                  <a:tcPr marT="27432" marB="27432" marL="54864" marR="54864">
                    <a:solidFill>
                      <a:srgbClr val="1F3864"/>
                    </a:solidFill>
                  </a:tcPr>
                </a:tc>
                <a:tc>
                  <a:txBody>
                    <a:bodyPr/>
                    <a:lstStyle/>
                    <a:p>
                      <a:pPr algn="ctr"/>
                      <a:r>
                        <a:rPr sz="950" b="1">
                          <a:solidFill>
                            <a:srgbClr val="FFFFFF"/>
                          </a:solidFill>
                          <a:latin typeface="Calibri"/>
                        </a:rPr>
                        <a:t>B0</a:t>
                      </a:r>
                    </a:p>
                  </a:txBody>
                  <a:tcPr marT="27432" marB="27432" marL="54864" marR="54864">
                    <a:solidFill>
                      <a:srgbClr val="1F3864"/>
                    </a:solidFill>
                  </a:tcPr>
                </a:tc>
                <a:tc>
                  <a:txBody>
                    <a:bodyPr/>
                    <a:lstStyle/>
                    <a:p>
                      <a:pPr algn="ctr"/>
                      <a:r>
                        <a:rPr sz="950" b="1">
                          <a:solidFill>
                            <a:srgbClr val="FFFFFF"/>
                          </a:solidFill>
                          <a:latin typeface="Calibri"/>
                        </a:rPr>
                        <a:t>Final</a:t>
                      </a:r>
                    </a:p>
                  </a:txBody>
                  <a:tcPr marT="27432" marB="27432" marL="54864" marR="54864">
                    <a:solidFill>
                      <a:srgbClr val="1F3864"/>
                    </a:solidFill>
                  </a:tcPr>
                </a:tc>
                <a:tc>
                  <a:txBody>
                    <a:bodyPr/>
                    <a:lstStyle/>
                    <a:p>
                      <a:pPr algn="ctr"/>
                      <a:r>
                        <a:rPr sz="950" b="1">
                          <a:solidFill>
                            <a:srgbClr val="FFFFFF"/>
                          </a:solidFill>
                          <a:latin typeface="Calibri"/>
                        </a:rPr>
                        <a:t>Change</a:t>
                      </a:r>
                    </a:p>
                  </a:txBody>
                  <a:tcPr marT="27432" marB="27432" marL="54864" marR="54864">
                    <a:solidFill>
                      <a:srgbClr val="1F3864"/>
                    </a:solidFill>
                  </a:tcPr>
                </a:tc>
              </a:tr>
              <a:tr h="246888">
                <a:tc>
                  <a:txBody>
                    <a:bodyPr/>
                    <a:lstStyle/>
                    <a:p>
                      <a:pPr algn="l"/>
                      <a:r>
                        <a:rPr sz="950" b="1">
                          <a:solidFill>
                            <a:srgbClr val="202020"/>
                          </a:solidFill>
                          <a:latin typeface="Calibri"/>
                        </a:rPr>
                        <a:t>Accuracy (%)</a:t>
                      </a:r>
                    </a:p>
                  </a:txBody>
                  <a:tcPr marT="27432" marB="27432" marL="54864" marR="54864">
                    <a:solidFill>
                      <a:srgbClr val="F2F2F2"/>
                    </a:solidFill>
                  </a:tcPr>
                </a:tc>
                <a:tc>
                  <a:txBody>
                    <a:bodyPr/>
                    <a:lstStyle/>
                    <a:p>
                      <a:pPr algn="ctr"/>
                      <a:r>
                        <a:rPr sz="950" b="0">
                          <a:solidFill>
                            <a:srgbClr val="202020"/>
                          </a:solidFill>
                          <a:latin typeface="Calibri"/>
                        </a:rPr>
                        <a:t>94.41</a:t>
                      </a:r>
                    </a:p>
                  </a:txBody>
                  <a:tcPr marT="27432" marB="27432" marL="54864" marR="54864">
                    <a:solidFill>
                      <a:srgbClr val="F2F2F2"/>
                    </a:solidFill>
                  </a:tcPr>
                </a:tc>
                <a:tc>
                  <a:txBody>
                    <a:bodyPr/>
                    <a:lstStyle/>
                    <a:p>
                      <a:pPr algn="ctr"/>
                      <a:r>
                        <a:rPr sz="950" b="0">
                          <a:solidFill>
                            <a:srgbClr val="202020"/>
                          </a:solidFill>
                          <a:latin typeface="Calibri"/>
                        </a:rPr>
                        <a:t>98.41</a:t>
                      </a:r>
                    </a:p>
                  </a:txBody>
                  <a:tcPr marT="27432" marB="27432" marL="54864" marR="54864">
                    <a:solidFill>
                      <a:srgbClr val="F2F2F2"/>
                    </a:solidFill>
                  </a:tcPr>
                </a:tc>
                <a:tc>
                  <a:txBody>
                    <a:bodyPr/>
                    <a:lstStyle/>
                    <a:p>
                      <a:pPr algn="ctr"/>
                      <a:r>
                        <a:rPr sz="950" b="0">
                          <a:solidFill>
                            <a:srgbClr val="202020"/>
                          </a:solidFill>
                          <a:latin typeface="Calibri"/>
                        </a:rPr>
                        <a:t>+4.00</a:t>
                      </a:r>
                    </a:p>
                  </a:txBody>
                  <a:tcPr marT="27432" marB="27432" marL="54864" marR="54864">
                    <a:solidFill>
                      <a:srgbClr val="F2F2F2"/>
                    </a:solidFill>
                  </a:tcPr>
                </a:tc>
              </a:tr>
              <a:tr h="246888">
                <a:tc>
                  <a:txBody>
                    <a:bodyPr/>
                    <a:lstStyle/>
                    <a:p>
                      <a:pPr algn="l"/>
                      <a:r>
                        <a:rPr sz="950" b="1">
                          <a:solidFill>
                            <a:srgbClr val="202020"/>
                          </a:solidFill>
                          <a:latin typeface="Calibri"/>
                        </a:rPr>
                        <a:t>Macro F1 (%)</a:t>
                      </a:r>
                    </a:p>
                  </a:txBody>
                  <a:tcPr marT="27432" marB="27432" marL="54864" marR="54864">
                    <a:solidFill>
                      <a:srgbClr val="FCE4D6"/>
                    </a:solidFill>
                  </a:tcPr>
                </a:tc>
                <a:tc>
                  <a:txBody>
                    <a:bodyPr/>
                    <a:lstStyle/>
                    <a:p>
                      <a:pPr algn="ctr"/>
                      <a:r>
                        <a:rPr sz="950" b="1">
                          <a:solidFill>
                            <a:srgbClr val="202020"/>
                          </a:solidFill>
                          <a:latin typeface="Calibri"/>
                        </a:rPr>
                        <a:t>76.29</a:t>
                      </a:r>
                    </a:p>
                  </a:txBody>
                  <a:tcPr marT="27432" marB="27432" marL="54864" marR="54864">
                    <a:solidFill>
                      <a:srgbClr val="FCE4D6"/>
                    </a:solidFill>
                  </a:tcPr>
                </a:tc>
                <a:tc>
                  <a:txBody>
                    <a:bodyPr/>
                    <a:lstStyle/>
                    <a:p>
                      <a:pPr algn="ctr"/>
                      <a:r>
                        <a:rPr sz="950" b="1">
                          <a:solidFill>
                            <a:srgbClr val="202020"/>
                          </a:solidFill>
                          <a:latin typeface="Calibri"/>
                        </a:rPr>
                        <a:t>91.10</a:t>
                      </a:r>
                    </a:p>
                  </a:txBody>
                  <a:tcPr marT="27432" marB="27432" marL="54864" marR="54864">
                    <a:solidFill>
                      <a:srgbClr val="FCE4D6"/>
                    </a:solidFill>
                  </a:tcPr>
                </a:tc>
                <a:tc>
                  <a:txBody>
                    <a:bodyPr/>
                    <a:lstStyle/>
                    <a:p>
                      <a:pPr algn="ctr"/>
                      <a:r>
                        <a:rPr sz="950" b="1">
                          <a:solidFill>
                            <a:srgbClr val="202020"/>
                          </a:solidFill>
                          <a:latin typeface="Calibri"/>
                        </a:rPr>
                        <a:t>+14.81</a:t>
                      </a:r>
                    </a:p>
                  </a:txBody>
                  <a:tcPr marT="27432" marB="27432" marL="54864" marR="54864">
                    <a:solidFill>
                      <a:srgbClr val="FCE4D6"/>
                    </a:solidFill>
                  </a:tcPr>
                </a:tc>
              </a:tr>
              <a:tr h="246888">
                <a:tc>
                  <a:txBody>
                    <a:bodyPr/>
                    <a:lstStyle/>
                    <a:p>
                      <a:pPr algn="l"/>
                      <a:r>
                        <a:rPr sz="950" b="1">
                          <a:solidFill>
                            <a:srgbClr val="202020"/>
                          </a:solidFill>
                          <a:latin typeface="Calibri"/>
                        </a:rPr>
                        <a:t>Weighted F1 (%)</a:t>
                      </a:r>
                    </a:p>
                  </a:txBody>
                  <a:tcPr marT="27432" marB="27432" marL="54864" marR="54864">
                    <a:solidFill>
                      <a:srgbClr val="F2F2F2"/>
                    </a:solidFill>
                  </a:tcPr>
                </a:tc>
                <a:tc>
                  <a:txBody>
                    <a:bodyPr/>
                    <a:lstStyle/>
                    <a:p>
                      <a:pPr algn="ctr"/>
                      <a:r>
                        <a:rPr sz="950" b="0">
                          <a:solidFill>
                            <a:srgbClr val="202020"/>
                          </a:solidFill>
                          <a:latin typeface="Calibri"/>
                        </a:rPr>
                        <a:t>94.98</a:t>
                      </a:r>
                    </a:p>
                  </a:txBody>
                  <a:tcPr marT="27432" marB="27432" marL="54864" marR="54864">
                    <a:solidFill>
                      <a:srgbClr val="F2F2F2"/>
                    </a:solidFill>
                  </a:tcPr>
                </a:tc>
                <a:tc>
                  <a:txBody>
                    <a:bodyPr/>
                    <a:lstStyle/>
                    <a:p>
                      <a:pPr algn="ctr"/>
                      <a:r>
                        <a:rPr sz="950" b="0">
                          <a:solidFill>
                            <a:srgbClr val="202020"/>
                          </a:solidFill>
                          <a:latin typeface="Calibri"/>
                        </a:rPr>
                        <a:t>98.37</a:t>
                      </a:r>
                    </a:p>
                  </a:txBody>
                  <a:tcPr marT="27432" marB="27432" marL="54864" marR="54864">
                    <a:solidFill>
                      <a:srgbClr val="F2F2F2"/>
                    </a:solidFill>
                  </a:tcPr>
                </a:tc>
                <a:tc>
                  <a:txBody>
                    <a:bodyPr/>
                    <a:lstStyle/>
                    <a:p>
                      <a:pPr algn="ctr"/>
                      <a:r>
                        <a:rPr sz="950" b="0">
                          <a:solidFill>
                            <a:srgbClr val="202020"/>
                          </a:solidFill>
                          <a:latin typeface="Calibri"/>
                        </a:rPr>
                        <a:t>+3.39</a:t>
                      </a:r>
                    </a:p>
                  </a:txBody>
                  <a:tcPr marT="27432" marB="27432" marL="54864" marR="54864">
                    <a:solidFill>
                      <a:srgbClr val="F2F2F2"/>
                    </a:solidFill>
                  </a:tcPr>
                </a:tc>
              </a:tr>
              <a:tr h="246888">
                <a:tc>
                  <a:txBody>
                    <a:bodyPr/>
                    <a:lstStyle/>
                    <a:p>
                      <a:pPr algn="l"/>
                      <a:r>
                        <a:rPr sz="950" b="1">
                          <a:solidFill>
                            <a:srgbClr val="202020"/>
                          </a:solidFill>
                          <a:latin typeface="Calibri"/>
                        </a:rPr>
                        <a:t>Precision / Recall S</a:t>
                      </a:r>
                    </a:p>
                  </a:txBody>
                  <a:tcPr marT="27432" marB="27432" marL="54864" marR="54864">
                    <a:solidFill>
                      <a:srgbClr val="FFFFFF"/>
                    </a:solidFill>
                  </a:tcPr>
                </a:tc>
                <a:tc>
                  <a:txBody>
                    <a:bodyPr/>
                    <a:lstStyle/>
                    <a:p>
                      <a:pPr algn="ctr"/>
                      <a:r>
                        <a:rPr sz="950" b="0">
                          <a:solidFill>
                            <a:srgbClr val="202020"/>
                          </a:solidFill>
                          <a:latin typeface="Calibri"/>
                        </a:rPr>
                        <a:t>55.86 / 66.91</a:t>
                      </a:r>
                    </a:p>
                  </a:txBody>
                  <a:tcPr marT="27432" marB="27432" marL="54864" marR="54864">
                    <a:solidFill>
                      <a:srgbClr val="FFFFFF"/>
                    </a:solidFill>
                  </a:tcPr>
                </a:tc>
                <a:tc>
                  <a:txBody>
                    <a:bodyPr/>
                    <a:lstStyle/>
                    <a:p>
                      <a:pPr algn="ctr"/>
                      <a:r>
                        <a:rPr sz="950" b="0">
                          <a:solidFill>
                            <a:srgbClr val="202020"/>
                          </a:solidFill>
                          <a:latin typeface="Calibri"/>
                        </a:rPr>
                        <a:t>87.58 / 77.34</a:t>
                      </a:r>
                    </a:p>
                  </a:txBody>
                  <a:tcPr marT="27432" marB="27432" marL="54864" marR="54864">
                    <a:solidFill>
                      <a:srgbClr val="FFFFFF"/>
                    </a:solidFill>
                  </a:tcPr>
                </a:tc>
                <a:tc>
                  <a:txBody>
                    <a:bodyPr/>
                    <a:lstStyle/>
                    <a:p>
                      <a:pPr algn="ctr"/>
                      <a:r>
                        <a:rPr sz="950" b="0">
                          <a:solidFill>
                            <a:srgbClr val="202020"/>
                          </a:solidFill>
                          <a:latin typeface="Calibri"/>
                        </a:rPr>
                        <a:t>+31.72 / +10.43</a:t>
                      </a:r>
                    </a:p>
                  </a:txBody>
                  <a:tcPr marT="27432" marB="27432" marL="54864" marR="54864">
                    <a:solidFill>
                      <a:srgbClr val="FFFFFF"/>
                    </a:solidFill>
                  </a:tcPr>
                </a:tc>
              </a:tr>
              <a:tr h="246888">
                <a:tc>
                  <a:txBody>
                    <a:bodyPr/>
                    <a:lstStyle/>
                    <a:p>
                      <a:pPr algn="l"/>
                      <a:r>
                        <a:rPr sz="950" b="1">
                          <a:solidFill>
                            <a:srgbClr val="202020"/>
                          </a:solidFill>
                          <a:latin typeface="Calibri"/>
                        </a:rPr>
                        <a:t>Precision / Recall F</a:t>
                      </a:r>
                    </a:p>
                  </a:txBody>
                  <a:tcPr marT="27432" marB="27432" marL="54864" marR="54864">
                    <a:solidFill>
                      <a:srgbClr val="F2F2F2"/>
                    </a:solidFill>
                  </a:tcPr>
                </a:tc>
                <a:tc>
                  <a:txBody>
                    <a:bodyPr/>
                    <a:lstStyle/>
                    <a:p>
                      <a:pPr algn="ctr"/>
                      <a:r>
                        <a:rPr sz="950" b="0">
                          <a:solidFill>
                            <a:srgbClr val="202020"/>
                          </a:solidFill>
                          <a:latin typeface="Calibri"/>
                        </a:rPr>
                        <a:t>26.02 / 86.42</a:t>
                      </a:r>
                    </a:p>
                  </a:txBody>
                  <a:tcPr marT="27432" marB="27432" marL="54864" marR="54864">
                    <a:solidFill>
                      <a:srgbClr val="F2F2F2"/>
                    </a:solidFill>
                  </a:tcPr>
                </a:tc>
                <a:tc>
                  <a:txBody>
                    <a:bodyPr/>
                    <a:lstStyle/>
                    <a:p>
                      <a:pPr algn="ctr"/>
                      <a:r>
                        <a:rPr sz="950" b="0">
                          <a:solidFill>
                            <a:srgbClr val="202020"/>
                          </a:solidFill>
                          <a:latin typeface="Calibri"/>
                        </a:rPr>
                        <a:t>82.12 / 76.54</a:t>
                      </a:r>
                    </a:p>
                  </a:txBody>
                  <a:tcPr marT="27432" marB="27432" marL="54864" marR="54864">
                    <a:solidFill>
                      <a:srgbClr val="F2F2F2"/>
                    </a:solidFill>
                  </a:tcPr>
                </a:tc>
                <a:tc>
                  <a:txBody>
                    <a:bodyPr/>
                    <a:lstStyle/>
                    <a:p>
                      <a:pPr algn="ctr"/>
                      <a:r>
                        <a:rPr sz="950" b="0">
                          <a:solidFill>
                            <a:srgbClr val="202020"/>
                          </a:solidFill>
                          <a:latin typeface="Calibri"/>
                        </a:rPr>
                        <a:t>+56.10 / −9.88</a:t>
                      </a:r>
                    </a:p>
                  </a:txBody>
                  <a:tcPr marT="27432" marB="27432" marL="54864" marR="54864">
                    <a:solidFill>
                      <a:srgbClr val="F2F2F2"/>
                    </a:solidFill>
                  </a:tcPr>
                </a:tc>
              </a:tr>
              <a:tr h="246888">
                <a:tc>
                  <a:txBody>
                    <a:bodyPr/>
                    <a:lstStyle/>
                    <a:p>
                      <a:pPr algn="l"/>
                      <a:r>
                        <a:rPr sz="950" b="1">
                          <a:solidFill>
                            <a:srgbClr val="202020"/>
                          </a:solidFill>
                          <a:latin typeface="Calibri"/>
                        </a:rPr>
                        <a:t>Wrongly predicted F</a:t>
                      </a:r>
                    </a:p>
                  </a:txBody>
                  <a:tcPr marT="27432" marB="27432" marL="54864" marR="54864">
                    <a:solidFill>
                      <a:srgbClr val="FFFFFF"/>
                    </a:solidFill>
                  </a:tcPr>
                </a:tc>
                <a:tc>
                  <a:txBody>
                    <a:bodyPr/>
                    <a:lstStyle/>
                    <a:p>
                      <a:pPr algn="ctr"/>
                      <a:r>
                        <a:rPr sz="950" b="0">
                          <a:solidFill>
                            <a:srgbClr val="202020"/>
                          </a:solidFill>
                          <a:latin typeface="Calibri"/>
                        </a:rPr>
                        <a:t>398</a:t>
                      </a:r>
                    </a:p>
                  </a:txBody>
                  <a:tcPr marT="27432" marB="27432" marL="54864" marR="54864">
                    <a:solidFill>
                      <a:srgbClr val="FFFFFF"/>
                    </a:solidFill>
                  </a:tcPr>
                </a:tc>
                <a:tc>
                  <a:txBody>
                    <a:bodyPr/>
                    <a:lstStyle/>
                    <a:p>
                      <a:pPr algn="ctr"/>
                      <a:r>
                        <a:rPr sz="950" b="0">
                          <a:solidFill>
                            <a:srgbClr val="202020"/>
                          </a:solidFill>
                          <a:latin typeface="Calibri"/>
                        </a:rPr>
                        <a:t>27</a:t>
                      </a:r>
                    </a:p>
                  </a:txBody>
                  <a:tcPr marT="27432" marB="27432" marL="54864" marR="54864">
                    <a:solidFill>
                      <a:srgbClr val="FFFFFF"/>
                    </a:solidFill>
                  </a:tcPr>
                </a:tc>
                <a:tc>
                  <a:txBody>
                    <a:bodyPr/>
                    <a:lstStyle/>
                    <a:p>
                      <a:pPr algn="ctr"/>
                      <a:r>
                        <a:rPr sz="950" b="0">
                          <a:solidFill>
                            <a:srgbClr val="202020"/>
                          </a:solidFill>
                          <a:latin typeface="Calibri"/>
                        </a:rPr>
                        <a:t>−371</a:t>
                      </a:r>
                    </a:p>
                  </a:txBody>
                  <a:tcPr marT="27432" marB="27432" marL="54864" marR="54864">
                    <a:solidFill>
                      <a:srgbClr val="FFFFFF"/>
                    </a:solidFill>
                  </a:tcPr>
                </a:tc>
              </a:tr>
              <a:tr h="246888">
                <a:tc>
                  <a:txBody>
                    <a:bodyPr/>
                    <a:lstStyle/>
                    <a:p>
                      <a:pPr algn="l"/>
                      <a:r>
                        <a:rPr sz="950" b="1">
                          <a:solidFill>
                            <a:srgbClr val="202020"/>
                          </a:solidFill>
                          <a:latin typeface="Calibri"/>
                        </a:rPr>
                        <a:t>Wrongly predicted S</a:t>
                      </a:r>
                    </a:p>
                  </a:txBody>
                  <a:tcPr marT="27432" marB="27432" marL="54864" marR="54864">
                    <a:solidFill>
                      <a:srgbClr val="F2F2F2"/>
                    </a:solidFill>
                  </a:tcPr>
                </a:tc>
                <a:tc>
                  <a:txBody>
                    <a:bodyPr/>
                    <a:lstStyle/>
                    <a:p>
                      <a:pPr algn="ctr"/>
                      <a:r>
                        <a:rPr sz="950" b="0">
                          <a:solidFill>
                            <a:srgbClr val="202020"/>
                          </a:solidFill>
                          <a:latin typeface="Calibri"/>
                        </a:rPr>
                        <a:t>294</a:t>
                      </a:r>
                    </a:p>
                  </a:txBody>
                  <a:tcPr marT="27432" marB="27432" marL="54864" marR="54864">
                    <a:solidFill>
                      <a:srgbClr val="F2F2F2"/>
                    </a:solidFill>
                  </a:tcPr>
                </a:tc>
                <a:tc>
                  <a:txBody>
                    <a:bodyPr/>
                    <a:lstStyle/>
                    <a:p>
                      <a:pPr algn="ctr"/>
                      <a:r>
                        <a:rPr sz="950" b="0">
                          <a:solidFill>
                            <a:srgbClr val="202020"/>
                          </a:solidFill>
                          <a:latin typeface="Calibri"/>
                        </a:rPr>
                        <a:t>61</a:t>
                      </a:r>
                    </a:p>
                  </a:txBody>
                  <a:tcPr marT="27432" marB="27432" marL="54864" marR="54864">
                    <a:solidFill>
                      <a:srgbClr val="F2F2F2"/>
                    </a:solidFill>
                  </a:tcPr>
                </a:tc>
                <a:tc>
                  <a:txBody>
                    <a:bodyPr/>
                    <a:lstStyle/>
                    <a:p>
                      <a:pPr algn="ctr"/>
                      <a:r>
                        <a:rPr sz="950" b="0">
                          <a:solidFill>
                            <a:srgbClr val="202020"/>
                          </a:solidFill>
                          <a:latin typeface="Calibri"/>
                        </a:rPr>
                        <a:t>−233</a:t>
                      </a:r>
                    </a:p>
                  </a:txBody>
                  <a:tcPr marT="27432" marB="27432" marL="54864" marR="54864">
                    <a:solidFill>
                      <a:srgbClr val="F2F2F2"/>
                    </a:solidFill>
                  </a:tcPr>
                </a:tc>
              </a:tr>
              <a:tr h="246888">
                <a:tc>
                  <a:txBody>
                    <a:bodyPr/>
                    <a:lstStyle/>
                    <a:p>
                      <a:pPr algn="l"/>
                      <a:r>
                        <a:rPr sz="950" b="1">
                          <a:solidFill>
                            <a:srgbClr val="202020"/>
                          </a:solidFill>
                          <a:latin typeface="Calibri"/>
                        </a:rPr>
                        <a:t>S predicted as N</a:t>
                      </a:r>
                    </a:p>
                  </a:txBody>
                  <a:tcPr marT="27432" marB="27432" marL="54864" marR="54864">
                    <a:solidFill>
                      <a:srgbClr val="FFFFFF"/>
                    </a:solidFill>
                  </a:tcPr>
                </a:tc>
                <a:tc>
                  <a:txBody>
                    <a:bodyPr/>
                    <a:lstStyle/>
                    <a:p>
                      <a:pPr algn="ctr"/>
                      <a:r>
                        <a:rPr sz="950" b="0">
                          <a:solidFill>
                            <a:srgbClr val="202020"/>
                          </a:solidFill>
                          <a:latin typeface="Calibri"/>
                        </a:rPr>
                        <a:t>163 (29%)</a:t>
                      </a:r>
                    </a:p>
                  </a:txBody>
                  <a:tcPr marT="27432" marB="27432" marL="54864" marR="54864">
                    <a:solidFill>
                      <a:srgbClr val="FFFFFF"/>
                    </a:solidFill>
                  </a:tcPr>
                </a:tc>
                <a:tc>
                  <a:txBody>
                    <a:bodyPr/>
                    <a:lstStyle/>
                    <a:p>
                      <a:pPr algn="ctr"/>
                      <a:r>
                        <a:rPr sz="950" b="0">
                          <a:solidFill>
                            <a:srgbClr val="202020"/>
                          </a:solidFill>
                          <a:latin typeface="Calibri"/>
                        </a:rPr>
                        <a:t>120 (22%)</a:t>
                      </a:r>
                    </a:p>
                  </a:txBody>
                  <a:tcPr marT="27432" marB="27432" marL="54864" marR="54864">
                    <a:solidFill>
                      <a:srgbClr val="FFFFFF"/>
                    </a:solidFill>
                  </a:tcPr>
                </a:tc>
                <a:tc>
                  <a:txBody>
                    <a:bodyPr/>
                    <a:lstStyle/>
                    <a:p>
                      <a:pPr algn="ctr"/>
                      <a:r>
                        <a:rPr sz="950" b="0">
                          <a:solidFill>
                            <a:srgbClr val="202020"/>
                          </a:solidFill>
                          <a:latin typeface="Calibri"/>
                        </a:rPr>
                        <a:t>−43</a:t>
                      </a:r>
                    </a:p>
                  </a:txBody>
                  <a:tcPr marT="27432" marB="27432" marL="54864" marR="54864">
                    <a:solidFill>
                      <a:srgbClr val="FFFFFF"/>
                    </a:solidFill>
                  </a:tcPr>
                </a:tc>
              </a:tr>
              <a:tr h="246888">
                <a:tc>
                  <a:txBody>
                    <a:bodyPr/>
                    <a:lstStyle/>
                    <a:p>
                      <a:pPr algn="l"/>
                      <a:r>
                        <a:rPr sz="950" b="1">
                          <a:solidFill>
                            <a:srgbClr val="202020"/>
                          </a:solidFill>
                          <a:latin typeface="Calibri"/>
                        </a:rPr>
                        <a:t>Parameters</a:t>
                      </a:r>
                    </a:p>
                  </a:txBody>
                  <a:tcPr marT="27432" marB="27432" marL="54864" marR="54864">
                    <a:solidFill>
                      <a:srgbClr val="F2F2F2"/>
                    </a:solidFill>
                  </a:tcPr>
                </a:tc>
                <a:tc>
                  <a:txBody>
                    <a:bodyPr/>
                    <a:lstStyle/>
                    <a:p>
                      <a:pPr algn="ctr"/>
                      <a:r>
                        <a:rPr sz="950" b="0">
                          <a:solidFill>
                            <a:srgbClr val="202020"/>
                          </a:solidFill>
                          <a:latin typeface="Calibri"/>
                        </a:rPr>
                        <a:t>44,741</a:t>
                      </a:r>
                    </a:p>
                  </a:txBody>
                  <a:tcPr marT="27432" marB="27432" marL="54864" marR="54864">
                    <a:solidFill>
                      <a:srgbClr val="F2F2F2"/>
                    </a:solidFill>
                  </a:tcPr>
                </a:tc>
                <a:tc>
                  <a:txBody>
                    <a:bodyPr/>
                    <a:lstStyle/>
                    <a:p>
                      <a:pPr algn="ctr"/>
                      <a:r>
                        <a:rPr sz="950" b="0">
                          <a:solidFill>
                            <a:srgbClr val="202020"/>
                          </a:solidFill>
                          <a:latin typeface="Calibri"/>
                        </a:rPr>
                        <a:t>185,477</a:t>
                      </a:r>
                    </a:p>
                  </a:txBody>
                  <a:tcPr marT="27432" marB="27432" marL="54864" marR="54864">
                    <a:solidFill>
                      <a:srgbClr val="F2F2F2"/>
                    </a:solidFill>
                  </a:tcPr>
                </a:tc>
                <a:tc>
                  <a:txBody>
                    <a:bodyPr/>
                    <a:lstStyle/>
                    <a:p>
                      <a:pPr algn="ctr"/>
                      <a:r>
                        <a:rPr sz="950" b="0">
                          <a:solidFill>
                            <a:srgbClr val="202020"/>
                          </a:solidFill>
                          <a:latin typeface="Calibri"/>
                        </a:rPr>
                        <a:t>≈ 4×</a:t>
                      </a:r>
                    </a:p>
                  </a:txBody>
                  <a:tcPr marT="27432" marB="27432" marL="54864" marR="54864">
                    <a:solidFill>
                      <a:srgbClr val="F2F2F2"/>
                    </a:solidFill>
                  </a:tcPr>
                </a:tc>
              </a:tr>
            </a:tbl>
          </a:graphicData>
        </a:graphic>
      </p:graphicFrame>
      <p:sp>
        <p:nvSpPr>
          <p:cNvPr id="18" name="TextBox 17"/>
          <p:cNvSpPr txBox="1"/>
          <p:nvPr/>
        </p:nvSpPr>
        <p:spPr>
          <a:xfrm>
            <a:off x="502920" y="3794760"/>
            <a:ext cx="8138160" cy="246888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 F1 improved for every class: S 60.9 → 82.1, V 86.6 → 95.9, F 40.0 → 79.2.</a:t>
            </a:r>
          </a:p>
          <a:p>
            <a:pPr algn="l">
              <a:spcAft>
                <a:spcPts val="300"/>
              </a:spcAft>
            </a:pPr>
            <a:r>
              <a:rPr sz="1200" b="0" i="0">
                <a:solidFill>
                  <a:srgbClr val="202020"/>
                </a:solidFill>
                <a:latin typeface="Calibri"/>
              </a:rPr>
              <a:t>• Fusion recall is lower than the baseline's (76.5% vs 86.4%), because the baseline's high recall came from over-predicting F.</a:t>
            </a:r>
          </a:p>
          <a:p>
            <a:pPr algn="l">
              <a:spcAft>
                <a:spcPts val="300"/>
              </a:spcAft>
            </a:pPr>
            <a:r>
              <a:rPr sz="1200" b="0" i="0">
                <a:solidFill>
                  <a:srgbClr val="202020"/>
                </a:solidFill>
                <a:latin typeface="Calibri"/>
              </a:rPr>
              <a:t>• Largest remaining error: S → N (120 of 556 S beats, 22%). S beats differ from N mainly in timing, which supports adding explicit RR-interval features in the proposed model.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Grad-CAM Explanations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987552"/>
            <a:ext cx="8138160" cy="320040"/>
          </a:xfrm>
          <a:prstGeom prst="rect">
            <a:avLst/>
          </a:prstGeom>
          <a:noFill/>
        </p:spPr>
        <p:txBody>
          <a:bodyPr wrap="square" lIns="0" tIns="0" rIns="0" bIns="0">
            <a:spAutoFit/>
          </a:bodyPr>
          <a:lstStyle/>
          <a:p>
            <a:pPr algn="l"/>
            <a:r>
              <a:rPr sz="1300" b="1" i="0">
                <a:solidFill>
                  <a:srgbClr val="202020"/>
                </a:solidFill>
                <a:latin typeface="Calibri"/>
              </a:rPr>
              <a:t>V1 baseline CNN</a:t>
            </a:r>
          </a:p>
        </p:txBody>
      </p:sp>
      <p:pic>
        <p:nvPicPr>
          <p:cNvPr id="16" name="Picture 15" descr="image.png"/>
          <p:cNvPicPr>
            <a:picLocks noChangeAspect="1"/>
          </p:cNvPicPr>
          <p:nvPr/>
        </p:nvPicPr>
        <p:blipFill>
          <a:blip r:embed="rId2"/>
          <a:stretch>
            <a:fillRect/>
          </a:stretch>
        </p:blipFill>
        <p:spPr>
          <a:xfrm>
            <a:off x="502920" y="1280160"/>
            <a:ext cx="8138160" cy="1654971"/>
          </a:xfrm>
          <a:prstGeom prst="rect">
            <a:avLst/>
          </a:prstGeom>
        </p:spPr>
      </p:pic>
      <p:sp>
        <p:nvSpPr>
          <p:cNvPr id="17" name="TextBox 16"/>
          <p:cNvSpPr txBox="1"/>
          <p:nvPr/>
        </p:nvSpPr>
        <p:spPr>
          <a:xfrm>
            <a:off x="502920" y="3017520"/>
            <a:ext cx="8138160" cy="320040"/>
          </a:xfrm>
          <a:prstGeom prst="rect">
            <a:avLst/>
          </a:prstGeom>
          <a:noFill/>
        </p:spPr>
        <p:txBody>
          <a:bodyPr wrap="square" lIns="0" tIns="0" rIns="0" bIns="0">
            <a:spAutoFit/>
          </a:bodyPr>
          <a:lstStyle/>
          <a:p>
            <a:pPr algn="l"/>
            <a:r>
              <a:rPr sz="1300" b="1" i="0">
                <a:solidFill>
                  <a:srgbClr val="202020"/>
                </a:solidFill>
                <a:latin typeface="Calibri"/>
              </a:rPr>
              <a:t>V2 final model (residual CNN)</a:t>
            </a:r>
          </a:p>
        </p:txBody>
      </p:sp>
      <p:pic>
        <p:nvPicPr>
          <p:cNvPr id="18" name="Picture 17" descr="image.png"/>
          <p:cNvPicPr>
            <a:picLocks noChangeAspect="1"/>
          </p:cNvPicPr>
          <p:nvPr/>
        </p:nvPicPr>
        <p:blipFill>
          <a:blip r:embed="rId3"/>
          <a:stretch>
            <a:fillRect/>
          </a:stretch>
        </p:blipFill>
        <p:spPr>
          <a:xfrm>
            <a:off x="502920" y="3291840"/>
            <a:ext cx="8138160" cy="1679380"/>
          </a:xfrm>
          <a:prstGeom prst="rect">
            <a:avLst/>
          </a:prstGeom>
        </p:spPr>
      </p:pic>
      <p:sp>
        <p:nvSpPr>
          <p:cNvPr id="19" name="TextBox 18"/>
          <p:cNvSpPr txBox="1"/>
          <p:nvPr/>
        </p:nvSpPr>
        <p:spPr>
          <a:xfrm>
            <a:off x="502920" y="5074920"/>
            <a:ext cx="8138160" cy="128016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Grad-CAM [37] on the last convolutional activation (46 time steps, interpolated to 187 samples); the most confidently and correctly classified test beat of each class.</a:t>
            </a:r>
          </a:p>
          <a:p>
            <a:pPr algn="l">
              <a:spcAft>
                <a:spcPts val="300"/>
              </a:spcAft>
            </a:pPr>
            <a:r>
              <a:rPr sz="1100" b="0" i="0">
                <a:solidFill>
                  <a:srgbClr val="202020"/>
                </a:solidFill>
                <a:latin typeface="Calibri"/>
              </a:rPr>
              <a:t>• Baseline: mostly the window start and the second large peak / end of signal. Final model: broader maps that more often cover bumps and troughs.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Grad-CAM: Where the Heat Is Concentrated</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502920" y="1005840"/>
          <a:ext cx="8138158" cy="3017520"/>
        </p:xfrm>
        <a:graphic>
          <a:graphicData uri="http://schemas.openxmlformats.org/drawingml/2006/table">
            <a:tbl>
              <a:tblPr firstRow="1" bandRow="1">
                <a:tableStyleId>{5C22544A-7EE6-4342-B048-85BDC9FD1C3A}</a:tableStyleId>
              </a:tblPr>
              <a:tblGrid>
                <a:gridCol w="640080"/>
                <a:gridCol w="3749039"/>
                <a:gridCol w="3749039"/>
              </a:tblGrid>
              <a:tr h="502920">
                <a:tc>
                  <a:txBody>
                    <a:bodyPr/>
                    <a:lstStyle/>
                    <a:p>
                      <a:pPr algn="l"/>
                      <a:r>
                        <a:rPr sz="1100" b="1">
                          <a:solidFill>
                            <a:srgbClr val="FFFFFF"/>
                          </a:solidFill>
                          <a:latin typeface="Calibri"/>
                        </a:rPr>
                        <a:t>Class</a:t>
                      </a:r>
                    </a:p>
                  </a:txBody>
                  <a:tcPr marT="27432" marB="27432" marL="54864" marR="54864">
                    <a:solidFill>
                      <a:srgbClr val="1F3864"/>
                    </a:solidFill>
                  </a:tcPr>
                </a:tc>
                <a:tc>
                  <a:txBody>
                    <a:bodyPr/>
                    <a:lstStyle/>
                    <a:p>
                      <a:pPr algn="l"/>
                      <a:r>
                        <a:rPr sz="1100" b="1">
                          <a:solidFill>
                            <a:srgbClr val="FFFFFF"/>
                          </a:solidFill>
                          <a:latin typeface="Calibri"/>
                        </a:rPr>
                        <a:t>V1 baseline CNN</a:t>
                      </a:r>
                    </a:p>
                  </a:txBody>
                  <a:tcPr marT="27432" marB="27432" marL="54864" marR="54864">
                    <a:solidFill>
                      <a:srgbClr val="1F3864"/>
                    </a:solidFill>
                  </a:tcPr>
                </a:tc>
                <a:tc>
                  <a:txBody>
                    <a:bodyPr/>
                    <a:lstStyle/>
                    <a:p>
                      <a:pPr algn="l"/>
                      <a:r>
                        <a:rPr sz="1100" b="1">
                          <a:solidFill>
                            <a:srgbClr val="FFFFFF"/>
                          </a:solidFill>
                          <a:latin typeface="Calibri"/>
                        </a:rPr>
                        <a:t>Final model (residual CNN)</a:t>
                      </a:r>
                    </a:p>
                  </a:txBody>
                  <a:tcPr marT="27432" marB="27432" marL="54864" marR="54864">
                    <a:solidFill>
                      <a:srgbClr val="1F3864"/>
                    </a:solidFill>
                  </a:tcPr>
                </a:tc>
              </a:tr>
              <a:tr h="502920">
                <a:tc>
                  <a:txBody>
                    <a:bodyPr/>
                    <a:lstStyle/>
                    <a:p>
                      <a:pPr algn="l"/>
                      <a:r>
                        <a:rPr sz="1100" b="1">
                          <a:solidFill>
                            <a:srgbClr val="202020"/>
                          </a:solidFill>
                          <a:latin typeface="Calibri"/>
                        </a:rPr>
                        <a:t>N</a:t>
                      </a:r>
                    </a:p>
                  </a:txBody>
                  <a:tcPr marT="27432" marB="27432" marL="54864" marR="54864">
                    <a:solidFill>
                      <a:srgbClr val="F2F2F2"/>
                    </a:solidFill>
                  </a:tcPr>
                </a:tc>
                <a:tc>
                  <a:txBody>
                    <a:bodyPr/>
                    <a:lstStyle/>
                    <a:p>
                      <a:pPr algn="l"/>
                      <a:r>
                        <a:rPr sz="1100" b="0">
                          <a:solidFill>
                            <a:srgbClr val="202020"/>
                          </a:solidFill>
                          <a:latin typeface="Calibri"/>
                        </a:rPr>
                        <a:t>Window start (0–0.1 s) and 1.15–1.3 s around the second peak / start of padding</a:t>
                      </a:r>
                    </a:p>
                  </a:txBody>
                  <a:tcPr marT="27432" marB="27432" marL="54864" marR="54864">
                    <a:solidFill>
                      <a:srgbClr val="F2F2F2"/>
                    </a:solidFill>
                  </a:tcPr>
                </a:tc>
                <a:tc>
                  <a:txBody>
                    <a:bodyPr/>
                    <a:lstStyle/>
                    <a:p>
                      <a:pPr algn="l"/>
                      <a:r>
                        <a:rPr sz="1100" b="0">
                          <a:solidFill>
                            <a:srgbClr val="202020"/>
                          </a:solidFill>
                          <a:latin typeface="Calibri"/>
                        </a:rPr>
                        <a:t>0.12–0.2 s and 0.4–0.5 s, before the second R peak (P-wave-like bump); second peak itself low</a:t>
                      </a:r>
                    </a:p>
                  </a:txBody>
                  <a:tcPr marT="27432" marB="27432" marL="54864" marR="54864">
                    <a:solidFill>
                      <a:srgbClr val="F2F2F2"/>
                    </a:solidFill>
                  </a:tcPr>
                </a:tc>
              </a:tr>
              <a:tr h="502920">
                <a:tc>
                  <a:txBody>
                    <a:bodyPr/>
                    <a:lstStyle/>
                    <a:p>
                      <a:pPr algn="l"/>
                      <a:r>
                        <a:rPr sz="1100" b="1">
                          <a:solidFill>
                            <a:srgbClr val="202020"/>
                          </a:solidFill>
                          <a:latin typeface="Calibri"/>
                        </a:rPr>
                        <a:t>S</a:t>
                      </a:r>
                    </a:p>
                  </a:txBody>
                  <a:tcPr marT="27432" marB="27432" marL="54864" marR="54864">
                    <a:solidFill>
                      <a:srgbClr val="FFFFFF"/>
                    </a:solidFill>
                  </a:tcPr>
                </a:tc>
                <a:tc>
                  <a:txBody>
                    <a:bodyPr/>
                    <a:lstStyle/>
                    <a:p>
                      <a:pPr algn="l"/>
                      <a:r>
                        <a:rPr sz="1100" b="0">
                          <a:solidFill>
                            <a:srgbClr val="202020"/>
                          </a:solidFill>
                          <a:latin typeface="Calibri"/>
                        </a:rPr>
                        <a:t>0.35–0.45 s over the second (sharp) peak and the drop into padding</a:t>
                      </a:r>
                    </a:p>
                  </a:txBody>
                  <a:tcPr marT="27432" marB="27432" marL="54864" marR="54864">
                    <a:solidFill>
                      <a:srgbClr val="FFFFFF"/>
                    </a:solidFill>
                  </a:tcPr>
                </a:tc>
                <a:tc>
                  <a:txBody>
                    <a:bodyPr/>
                    <a:lstStyle/>
                    <a:p>
                      <a:pPr algn="l"/>
                      <a:r>
                        <a:rPr sz="1100" b="0">
                          <a:solidFill>
                            <a:srgbClr val="202020"/>
                          </a:solidFill>
                          <a:latin typeface="Calibri"/>
                        </a:rPr>
                        <a:t>Window start (0–0.2 s) and 0.75–0.9 s just after the second peak</a:t>
                      </a:r>
                    </a:p>
                  </a:txBody>
                  <a:tcPr marT="27432" marB="27432" marL="54864" marR="54864">
                    <a:solidFill>
                      <a:srgbClr val="FFFFFF"/>
                    </a:solidFill>
                  </a:tcPr>
                </a:tc>
              </a:tr>
              <a:tr h="502920">
                <a:tc>
                  <a:txBody>
                    <a:bodyPr/>
                    <a:lstStyle/>
                    <a:p>
                      <a:pPr algn="l"/>
                      <a:r>
                        <a:rPr sz="1100" b="1">
                          <a:solidFill>
                            <a:srgbClr val="202020"/>
                          </a:solidFill>
                          <a:latin typeface="Calibri"/>
                        </a:rPr>
                        <a:t>V</a:t>
                      </a:r>
                    </a:p>
                  </a:txBody>
                  <a:tcPr marT="27432" marB="27432" marL="54864" marR="54864">
                    <a:solidFill>
                      <a:srgbClr val="F2F2F2"/>
                    </a:solidFill>
                  </a:tcPr>
                </a:tc>
                <a:tc>
                  <a:txBody>
                    <a:bodyPr/>
                    <a:lstStyle/>
                    <a:p>
                      <a:pPr algn="l"/>
                      <a:r>
                        <a:rPr sz="1100" b="0">
                          <a:solidFill>
                            <a:srgbClr val="202020"/>
                          </a:solidFill>
                          <a:latin typeface="Calibri"/>
                        </a:rPr>
                        <a:t>Window start, broad 0.3–0.9 s region, strong band at 1.0–1.1 s where the signal ends</a:t>
                      </a:r>
                    </a:p>
                  </a:txBody>
                  <a:tcPr marT="27432" marB="27432" marL="54864" marR="54864">
                    <a:solidFill>
                      <a:srgbClr val="F2F2F2"/>
                    </a:solidFill>
                  </a:tcPr>
                </a:tc>
                <a:tc>
                  <a:txBody>
                    <a:bodyPr/>
                    <a:lstStyle/>
                    <a:p>
                      <a:pPr algn="l"/>
                      <a:r>
                        <a:rPr sz="1100" b="0">
                          <a:solidFill>
                            <a:srgbClr val="202020"/>
                          </a:solidFill>
                          <a:latin typeface="Calibri"/>
                        </a:rPr>
                        <a:t>Window start, 0.27–0.35 s, and 1.15–1.3 s around the second peak / end of signal</a:t>
                      </a:r>
                    </a:p>
                  </a:txBody>
                  <a:tcPr marT="27432" marB="27432" marL="54864" marR="54864">
                    <a:solidFill>
                      <a:srgbClr val="F2F2F2"/>
                    </a:solidFill>
                  </a:tcPr>
                </a:tc>
              </a:tr>
              <a:tr h="502920">
                <a:tc>
                  <a:txBody>
                    <a:bodyPr/>
                    <a:lstStyle/>
                    <a:p>
                      <a:pPr algn="l"/>
                      <a:r>
                        <a:rPr sz="1100" b="1">
                          <a:solidFill>
                            <a:srgbClr val="202020"/>
                          </a:solidFill>
                          <a:latin typeface="Calibri"/>
                        </a:rPr>
                        <a:t>F</a:t>
                      </a:r>
                    </a:p>
                  </a:txBody>
                  <a:tcPr marT="27432" marB="27432" marL="54864" marR="54864">
                    <a:solidFill>
                      <a:srgbClr val="FFFFFF"/>
                    </a:solidFill>
                  </a:tcPr>
                </a:tc>
                <a:tc>
                  <a:txBody>
                    <a:bodyPr/>
                    <a:lstStyle/>
                    <a:p>
                      <a:pPr algn="l"/>
                      <a:r>
                        <a:rPr sz="1100" b="0">
                          <a:solidFill>
                            <a:srgbClr val="202020"/>
                          </a:solidFill>
                          <a:latin typeface="Calibri"/>
                        </a:rPr>
                        <a:t>Window start and two narrow bands either side of the second peak (~0.4 and ~0.53 s)</a:t>
                      </a:r>
                    </a:p>
                  </a:txBody>
                  <a:tcPr marT="27432" marB="27432" marL="54864" marR="54864">
                    <a:solidFill>
                      <a:srgbClr val="FFFFFF"/>
                    </a:solidFill>
                  </a:tcPr>
                </a:tc>
                <a:tc>
                  <a:txBody>
                    <a:bodyPr/>
                    <a:lstStyle/>
                    <a:p>
                      <a:pPr algn="l"/>
                      <a:r>
                        <a:rPr sz="1100" b="0">
                          <a:solidFill>
                            <a:srgbClr val="202020"/>
                          </a:solidFill>
                          <a:latin typeface="Calibri"/>
                        </a:rPr>
                        <a:t>One strong broad band at 0.3–0.5 s centred on the second peak</a:t>
                      </a:r>
                    </a:p>
                  </a:txBody>
                  <a:tcPr marT="27432" marB="27432" marL="54864" marR="54864">
                    <a:solidFill>
                      <a:srgbClr val="FFFFFF"/>
                    </a:solidFill>
                  </a:tcPr>
                </a:tc>
              </a:tr>
              <a:tr h="502920">
                <a:tc>
                  <a:txBody>
                    <a:bodyPr/>
                    <a:lstStyle/>
                    <a:p>
                      <a:pPr algn="l"/>
                      <a:r>
                        <a:rPr sz="1100" b="1">
                          <a:solidFill>
                            <a:srgbClr val="202020"/>
                          </a:solidFill>
                          <a:latin typeface="Calibri"/>
                        </a:rPr>
                        <a:t>Q</a:t>
                      </a:r>
                    </a:p>
                  </a:txBody>
                  <a:tcPr marT="27432" marB="27432" marL="54864" marR="54864">
                    <a:solidFill>
                      <a:srgbClr val="F2F2F2"/>
                    </a:solidFill>
                  </a:tcPr>
                </a:tc>
                <a:tc>
                  <a:txBody>
                    <a:bodyPr/>
                    <a:lstStyle/>
                    <a:p>
                      <a:pPr algn="l"/>
                      <a:r>
                        <a:rPr sz="1100" b="0">
                          <a:solidFill>
                            <a:srgbClr val="202020"/>
                          </a:solidFill>
                          <a:latin typeface="Calibri"/>
                        </a:rPr>
                        <a:t>Window start and a strong band at 0.75–0.85 s over the second peak</a:t>
                      </a:r>
                    </a:p>
                  </a:txBody>
                  <a:tcPr marT="27432" marB="27432" marL="54864" marR="54864">
                    <a:solidFill>
                      <a:srgbClr val="F2F2F2"/>
                    </a:solidFill>
                  </a:tcPr>
                </a:tc>
                <a:tc>
                  <a:txBody>
                    <a:bodyPr/>
                    <a:lstStyle/>
                    <a:p>
                      <a:pPr algn="l"/>
                      <a:r>
                        <a:rPr sz="1100" b="0">
                          <a:solidFill>
                            <a:srgbClr val="202020"/>
                          </a:solidFill>
                          <a:latin typeface="Calibri"/>
                        </a:rPr>
                        <a:t>~0.1 s (deep trough) and 0.75–0.95 s around the second peak</a:t>
                      </a:r>
                    </a:p>
                  </a:txBody>
                  <a:tcPr marT="27432" marB="27432" marL="54864" marR="54864">
                    <a:solidFill>
                      <a:srgbClr val="F2F2F2"/>
                    </a:solidFill>
                  </a:tcPr>
                </a:tc>
              </a:tr>
            </a:tbl>
          </a:graphicData>
        </a:graphic>
      </p:graphicFrame>
      <p:sp>
        <p:nvSpPr>
          <p:cNvPr id="16" name="TextBox 15"/>
          <p:cNvSpPr txBox="1"/>
          <p:nvPr/>
        </p:nvSpPr>
        <p:spPr>
          <a:xfrm>
            <a:off x="502920" y="4114800"/>
            <a:ext cx="8138160" cy="274320"/>
          </a:xfrm>
          <a:prstGeom prst="rect">
            <a:avLst/>
          </a:prstGeom>
          <a:noFill/>
        </p:spPr>
        <p:txBody>
          <a:bodyPr wrap="square" lIns="0" tIns="0" rIns="0" bIns="0">
            <a:spAutoFit/>
          </a:bodyPr>
          <a:lstStyle/>
          <a:p>
            <a:pPr algn="l"/>
            <a:r>
              <a:rPr sz="1050" b="0" i="1">
                <a:solidFill>
                  <a:srgbClr val="595959"/>
                </a:solidFill>
                <a:latin typeface="Calibri"/>
              </a:rPr>
              <a:t>Read from the heatmap figures; all beats predicted with p = 1.00.</a:t>
            </a:r>
          </a:p>
        </p:txBody>
      </p:sp>
      <p:sp>
        <p:nvSpPr>
          <p:cNvPr id="17" name="TextBox 16"/>
          <p:cNvSpPr txBox="1"/>
          <p:nvPr/>
        </p:nvSpPr>
        <p:spPr>
          <a:xfrm>
            <a:off x="502920" y="4480560"/>
            <a:ext cx="8138160" cy="182880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 Each window starts at the current R peak, so the second peak is likely the next R peak: the models may partly use the timing of the next beat (an implicit RR cue) as well as beat shape.</a:t>
            </a:r>
          </a:p>
          <a:p>
            <a:pPr algn="l">
              <a:spcAft>
                <a:spcPts val="300"/>
              </a:spcAft>
            </a:pPr>
            <a:r>
              <a:rPr sz="1150" b="0" i="0">
                <a:solidFill>
                  <a:srgbClr val="202020"/>
                </a:solidFill>
                <a:latin typeface="Calibri"/>
              </a:rPr>
              <a:t>• One Grad-CAM step ≈ 4 samples (≈ 32 ms); heat at the very first samples may partly be an edge effect of 'same' padding.</a:t>
            </a:r>
          </a:p>
          <a:p>
            <a:pPr algn="l">
              <a:spcAft>
                <a:spcPts val="300"/>
              </a:spcAft>
            </a:pPr>
            <a:r>
              <a:rPr sz="1150" b="0" i="0">
                <a:solidFill>
                  <a:srgbClr val="202020"/>
                </a:solidFill>
                <a:latin typeface="Calibri"/>
              </a:rPr>
              <a:t>• Qualitative only: to be tested with the region-share and deletion measures.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Challenges Faced</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1280160"/>
            <a:ext cx="64008" cy="1920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1325880"/>
            <a:ext cx="3794759" cy="320040"/>
          </a:xfrm>
          <a:prstGeom prst="rect">
            <a:avLst/>
          </a:prstGeom>
          <a:noFill/>
        </p:spPr>
        <p:txBody>
          <a:bodyPr wrap="square" lIns="0" tIns="0" rIns="0" bIns="0">
            <a:spAutoFit/>
          </a:bodyPr>
          <a:lstStyle/>
          <a:p>
            <a:pPr algn="l"/>
            <a:r>
              <a:rPr sz="1300" b="1" i="0">
                <a:solidFill>
                  <a:srgbClr val="1F3864"/>
                </a:solidFill>
                <a:latin typeface="Calibri"/>
              </a:rPr>
              <a:t>Severe class imbalance</a:t>
            </a:r>
          </a:p>
        </p:txBody>
      </p:sp>
      <p:sp>
        <p:nvSpPr>
          <p:cNvPr id="17" name="TextBox 16"/>
          <p:cNvSpPr txBox="1"/>
          <p:nvPr/>
        </p:nvSpPr>
        <p:spPr>
          <a:xfrm>
            <a:off x="667512" y="1664207"/>
            <a:ext cx="3794759" cy="1508760"/>
          </a:xfrm>
          <a:prstGeom prst="rect">
            <a:avLst/>
          </a:prstGeom>
          <a:noFill/>
        </p:spPr>
        <p:txBody>
          <a:bodyPr wrap="square" lIns="0" tIns="0" rIns="0" bIns="0">
            <a:spAutoFit/>
          </a:bodyPr>
          <a:lstStyle/>
          <a:p>
            <a:pPr algn="l">
              <a:spcAft>
                <a:spcPts val="300"/>
              </a:spcAft>
            </a:pPr>
            <a:r>
              <a:rPr sz="1250" b="0" i="0">
                <a:solidFill>
                  <a:srgbClr val="202020"/>
                </a:solidFill>
                <a:latin typeface="Calibri"/>
              </a:rPr>
              <a:t>Fully balanced class weights made the baseline over-predict the rare classes (F precision 26.0%). Softer, square-root weights fixed most of this.</a:t>
            </a:r>
          </a:p>
        </p:txBody>
      </p:sp>
      <p:sp>
        <p:nvSpPr>
          <p:cNvPr id="18" name="Rectangle 17"/>
          <p:cNvSpPr/>
          <p:nvPr/>
        </p:nvSpPr>
        <p:spPr>
          <a:xfrm>
            <a:off x="4663440" y="1280160"/>
            <a:ext cx="64008" cy="192024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1" y="1325880"/>
            <a:ext cx="3794759" cy="320040"/>
          </a:xfrm>
          <a:prstGeom prst="rect">
            <a:avLst/>
          </a:prstGeom>
          <a:noFill/>
        </p:spPr>
        <p:txBody>
          <a:bodyPr wrap="square" lIns="0" tIns="0" rIns="0" bIns="0">
            <a:spAutoFit/>
          </a:bodyPr>
          <a:lstStyle/>
          <a:p>
            <a:pPr algn="l"/>
            <a:r>
              <a:rPr sz="1300" b="1" i="0">
                <a:solidFill>
                  <a:srgbClr val="ED7D31"/>
                </a:solidFill>
                <a:latin typeface="Calibri"/>
              </a:rPr>
              <a:t>Unstable training</a:t>
            </a:r>
          </a:p>
        </p:txBody>
      </p:sp>
      <p:sp>
        <p:nvSpPr>
          <p:cNvPr id="20" name="TextBox 19"/>
          <p:cNvSpPr txBox="1"/>
          <p:nvPr/>
        </p:nvSpPr>
        <p:spPr>
          <a:xfrm>
            <a:off x="4828031" y="1664207"/>
            <a:ext cx="3794759" cy="1508760"/>
          </a:xfrm>
          <a:prstGeom prst="rect">
            <a:avLst/>
          </a:prstGeom>
          <a:noFill/>
        </p:spPr>
        <p:txBody>
          <a:bodyPr wrap="square" lIns="0" tIns="0" rIns="0" bIns="0">
            <a:spAutoFit/>
          </a:bodyPr>
          <a:lstStyle/>
          <a:p>
            <a:pPr algn="l">
              <a:spcAft>
                <a:spcPts val="300"/>
              </a:spcAft>
            </a:pPr>
            <a:r>
              <a:rPr sz="1250" b="0" i="0">
                <a:solidFill>
                  <a:srgbClr val="202020"/>
                </a:solidFill>
                <a:latin typeface="Calibri"/>
              </a:rPr>
              <a:t>The baseline's validation accuracy swung between 14.5% and 95.1%, so early stopping on validation loss stopped training too early. Choosing the epoch on validation macro F1 and the residual network gave smoother, better results.</a:t>
            </a:r>
          </a:p>
        </p:txBody>
      </p:sp>
      <p:sp>
        <p:nvSpPr>
          <p:cNvPr id="21" name="Rectangle 20"/>
          <p:cNvSpPr/>
          <p:nvPr/>
        </p:nvSpPr>
        <p:spPr>
          <a:xfrm>
            <a:off x="502920" y="3657600"/>
            <a:ext cx="64008" cy="192024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3703320"/>
            <a:ext cx="3794759" cy="320040"/>
          </a:xfrm>
          <a:prstGeom prst="rect">
            <a:avLst/>
          </a:prstGeom>
          <a:noFill/>
        </p:spPr>
        <p:txBody>
          <a:bodyPr wrap="square" lIns="0" tIns="0" rIns="0" bIns="0">
            <a:spAutoFit/>
          </a:bodyPr>
          <a:lstStyle/>
          <a:p>
            <a:pPr algn="l"/>
            <a:r>
              <a:rPr sz="1300" b="1" i="0">
                <a:solidFill>
                  <a:srgbClr val="548235"/>
                </a:solidFill>
                <a:latin typeface="Calibri"/>
              </a:rPr>
              <a:t>Not every improvement helped</a:t>
            </a:r>
          </a:p>
        </p:txBody>
      </p:sp>
      <p:sp>
        <p:nvSpPr>
          <p:cNvPr id="23" name="TextBox 22"/>
          <p:cNvSpPr txBox="1"/>
          <p:nvPr/>
        </p:nvSpPr>
        <p:spPr>
          <a:xfrm>
            <a:off x="667512" y="4041648"/>
            <a:ext cx="3794759" cy="1508760"/>
          </a:xfrm>
          <a:prstGeom prst="rect">
            <a:avLst/>
          </a:prstGeom>
          <a:noFill/>
        </p:spPr>
        <p:txBody>
          <a:bodyPr wrap="square" lIns="0" tIns="0" rIns="0" bIns="0">
            <a:spAutoFit/>
          </a:bodyPr>
          <a:lstStyle/>
          <a:p>
            <a:pPr algn="l">
              <a:spcAft>
                <a:spcPts val="300"/>
              </a:spcAft>
            </a:pPr>
            <a:r>
              <a:rPr sz="1250" b="0" i="0">
                <a:solidFill>
                  <a:srgbClr val="202020"/>
                </a:solidFill>
                <a:latin typeface="Calibri"/>
              </a:rPr>
              <a:t>The stability settings (E2) and augmentation (E4) lowered macro F1; because the experiments were cumulative, the best combination of changes is not yet known.</a:t>
            </a:r>
          </a:p>
        </p:txBody>
      </p:sp>
      <p:sp>
        <p:nvSpPr>
          <p:cNvPr id="24" name="Rectangle 23"/>
          <p:cNvSpPr/>
          <p:nvPr/>
        </p:nvSpPr>
        <p:spPr>
          <a:xfrm>
            <a:off x="4663440" y="3657600"/>
            <a:ext cx="64008" cy="19202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031" y="3703320"/>
            <a:ext cx="3794759" cy="320040"/>
          </a:xfrm>
          <a:prstGeom prst="rect">
            <a:avLst/>
          </a:prstGeom>
          <a:noFill/>
        </p:spPr>
        <p:txBody>
          <a:bodyPr wrap="square" lIns="0" tIns="0" rIns="0" bIns="0">
            <a:spAutoFit/>
          </a:bodyPr>
          <a:lstStyle/>
          <a:p>
            <a:pPr algn="l"/>
            <a:r>
              <a:rPr sz="1300" b="1" i="0">
                <a:solidFill>
                  <a:srgbClr val="2E75B6"/>
                </a:solidFill>
                <a:latin typeface="Calibri"/>
              </a:rPr>
              <a:t>Optimistic preliminary setting</a:t>
            </a:r>
          </a:p>
        </p:txBody>
      </p:sp>
      <p:sp>
        <p:nvSpPr>
          <p:cNvPr id="26" name="TextBox 25"/>
          <p:cNvSpPr txBox="1"/>
          <p:nvPr/>
        </p:nvSpPr>
        <p:spPr>
          <a:xfrm>
            <a:off x="4828031" y="4041648"/>
            <a:ext cx="3794759" cy="1508760"/>
          </a:xfrm>
          <a:prstGeom prst="rect">
            <a:avLst/>
          </a:prstGeom>
          <a:noFill/>
        </p:spPr>
        <p:txBody>
          <a:bodyPr wrap="square" lIns="0" tIns="0" rIns="0" bIns="0">
            <a:spAutoFit/>
          </a:bodyPr>
          <a:lstStyle/>
          <a:p>
            <a:pPr algn="l">
              <a:spcAft>
                <a:spcPts val="300"/>
              </a:spcAft>
            </a:pPr>
            <a:r>
              <a:rPr sz="1250" b="0" i="0">
                <a:solidFill>
                  <a:srgbClr val="202020"/>
                </a:solidFill>
                <a:latin typeface="Calibri"/>
              </a:rPr>
              <a:t>Pre-processed, intra-patient data including the Q class, so results are optimistic and not directly comparable with the planned four-class, inter-patient results. Each experiment was run once with one seed.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Work Plan for Next Phase</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51560"/>
            <a:ext cx="8138160" cy="274320"/>
          </a:xfrm>
          <a:prstGeom prst="rect">
            <a:avLst/>
          </a:prstGeom>
          <a:noFill/>
        </p:spPr>
        <p:txBody>
          <a:bodyPr wrap="square" lIns="0" tIns="0" rIns="0" bIns="0">
            <a:spAutoFit/>
          </a:bodyPr>
          <a:lstStyle/>
          <a:p>
            <a:pPr algn="l"/>
            <a:r>
              <a:rPr sz="1250" b="0" i="1">
                <a:solidFill>
                  <a:srgbClr val="595959"/>
                </a:solidFill>
                <a:latin typeface="Calibri"/>
              </a:rPr>
              <a:t>The following tasks follow from the project objectives and build on the pipeline developed so far.</a:t>
            </a:r>
          </a:p>
        </p:txBody>
      </p:sp>
      <p:sp>
        <p:nvSpPr>
          <p:cNvPr id="16" name="TextBox 15"/>
          <p:cNvSpPr txBox="1"/>
          <p:nvPr/>
        </p:nvSpPr>
        <p:spPr>
          <a:xfrm>
            <a:off x="685800" y="1600200"/>
            <a:ext cx="548640" cy="457200"/>
          </a:xfrm>
          <a:prstGeom prst="rect">
            <a:avLst/>
          </a:prstGeom>
          <a:noFill/>
        </p:spPr>
        <p:txBody>
          <a:bodyPr wrap="square" lIns="0" tIns="0" rIns="0" bIns="0">
            <a:spAutoFit/>
          </a:bodyPr>
          <a:lstStyle/>
          <a:p>
            <a:pPr algn="l"/>
            <a:r>
              <a:rPr sz="2200" b="1" i="0">
                <a:solidFill>
                  <a:srgbClr val="ED7D31"/>
                </a:solidFill>
                <a:latin typeface="Calibri"/>
              </a:rPr>
              <a:t>1</a:t>
            </a:r>
          </a:p>
        </p:txBody>
      </p:sp>
      <p:sp>
        <p:nvSpPr>
          <p:cNvPr id="17" name="Rectangle 16"/>
          <p:cNvSpPr/>
          <p:nvPr/>
        </p:nvSpPr>
        <p:spPr>
          <a:xfrm>
            <a:off x="1188720" y="1618488"/>
            <a:ext cx="4572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1673352"/>
            <a:ext cx="7223760" cy="457200"/>
          </a:xfrm>
          <a:prstGeom prst="rect">
            <a:avLst/>
          </a:prstGeom>
          <a:noFill/>
        </p:spPr>
        <p:txBody>
          <a:bodyPr wrap="square" lIns="0" tIns="0" rIns="0" bIns="0">
            <a:spAutoFit/>
          </a:bodyPr>
          <a:lstStyle/>
          <a:p>
            <a:pPr algn="l">
              <a:spcAft>
                <a:spcPts val="300"/>
              </a:spcAft>
            </a:pPr>
            <a:r>
              <a:rPr sz="1400" b="0" i="0">
                <a:solidFill>
                  <a:srgbClr val="202020"/>
                </a:solidFill>
                <a:latin typeface="Calibri"/>
              </a:rPr>
              <a:t>Port the pipeline from the pre-segmented Kaggle beats to the raw MIT-BIH dataset.</a:t>
            </a:r>
          </a:p>
        </p:txBody>
      </p:sp>
      <p:sp>
        <p:nvSpPr>
          <p:cNvPr id="19" name="TextBox 18"/>
          <p:cNvSpPr txBox="1"/>
          <p:nvPr/>
        </p:nvSpPr>
        <p:spPr>
          <a:xfrm>
            <a:off x="685800" y="2350008"/>
            <a:ext cx="548640" cy="457200"/>
          </a:xfrm>
          <a:prstGeom prst="rect">
            <a:avLst/>
          </a:prstGeom>
          <a:noFill/>
        </p:spPr>
        <p:txBody>
          <a:bodyPr wrap="square" lIns="0" tIns="0" rIns="0" bIns="0">
            <a:spAutoFit/>
          </a:bodyPr>
          <a:lstStyle/>
          <a:p>
            <a:pPr algn="l"/>
            <a:r>
              <a:rPr sz="2200" b="1" i="0">
                <a:solidFill>
                  <a:srgbClr val="ED7D31"/>
                </a:solidFill>
                <a:latin typeface="Calibri"/>
              </a:rPr>
              <a:t>2</a:t>
            </a:r>
          </a:p>
        </p:txBody>
      </p:sp>
      <p:sp>
        <p:nvSpPr>
          <p:cNvPr id="20" name="Rectangle 19"/>
          <p:cNvSpPr/>
          <p:nvPr/>
        </p:nvSpPr>
        <p:spPr>
          <a:xfrm>
            <a:off x="1188720" y="2368296"/>
            <a:ext cx="4572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2423160"/>
            <a:ext cx="7223760" cy="457200"/>
          </a:xfrm>
          <a:prstGeom prst="rect">
            <a:avLst/>
          </a:prstGeom>
          <a:noFill/>
        </p:spPr>
        <p:txBody>
          <a:bodyPr wrap="square" lIns="0" tIns="0" rIns="0" bIns="0">
            <a:spAutoFit/>
          </a:bodyPr>
          <a:lstStyle/>
          <a:p>
            <a:pPr algn="l">
              <a:spcAft>
                <a:spcPts val="300"/>
              </a:spcAft>
            </a:pPr>
            <a:r>
              <a:rPr sz="1400" b="0" i="0">
                <a:solidFill>
                  <a:srgbClr val="202020"/>
                </a:solidFill>
                <a:latin typeface="Calibri"/>
              </a:rPr>
              <a:t>Implement pre-processing and the inter-patient DS1/DS2 split of the MIT-BIH database.</a:t>
            </a:r>
          </a:p>
        </p:txBody>
      </p:sp>
      <p:sp>
        <p:nvSpPr>
          <p:cNvPr id="22" name="TextBox 21"/>
          <p:cNvSpPr txBox="1"/>
          <p:nvPr/>
        </p:nvSpPr>
        <p:spPr>
          <a:xfrm>
            <a:off x="685800" y="3099815"/>
            <a:ext cx="548640" cy="457200"/>
          </a:xfrm>
          <a:prstGeom prst="rect">
            <a:avLst/>
          </a:prstGeom>
          <a:noFill/>
        </p:spPr>
        <p:txBody>
          <a:bodyPr wrap="square" lIns="0" tIns="0" rIns="0" bIns="0">
            <a:spAutoFit/>
          </a:bodyPr>
          <a:lstStyle/>
          <a:p>
            <a:pPr algn="l"/>
            <a:r>
              <a:rPr sz="2200" b="1" i="0">
                <a:solidFill>
                  <a:srgbClr val="ED7D31"/>
                </a:solidFill>
                <a:latin typeface="Calibri"/>
              </a:rPr>
              <a:t>3</a:t>
            </a:r>
          </a:p>
        </p:txBody>
      </p:sp>
      <p:sp>
        <p:nvSpPr>
          <p:cNvPr id="23" name="Rectangle 22"/>
          <p:cNvSpPr/>
          <p:nvPr/>
        </p:nvSpPr>
        <p:spPr>
          <a:xfrm>
            <a:off x="1188720" y="3118103"/>
            <a:ext cx="4572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1600" y="3172968"/>
            <a:ext cx="7223760" cy="457200"/>
          </a:xfrm>
          <a:prstGeom prst="rect">
            <a:avLst/>
          </a:prstGeom>
          <a:noFill/>
        </p:spPr>
        <p:txBody>
          <a:bodyPr wrap="square" lIns="0" tIns="0" rIns="0" bIns="0">
            <a:spAutoFit/>
          </a:bodyPr>
          <a:lstStyle/>
          <a:p>
            <a:pPr algn="l">
              <a:spcAft>
                <a:spcPts val="300"/>
              </a:spcAft>
            </a:pPr>
            <a:r>
              <a:rPr sz="1400" b="0" i="0">
                <a:solidFill>
                  <a:srgbClr val="202020"/>
                </a:solidFill>
                <a:latin typeface="Calibri"/>
              </a:rPr>
              <a:t>Implement and train the hybrid classifier; report per-class and macro F1; test on the external database.</a:t>
            </a:r>
          </a:p>
        </p:txBody>
      </p:sp>
      <p:sp>
        <p:nvSpPr>
          <p:cNvPr id="25" name="TextBox 24"/>
          <p:cNvSpPr txBox="1"/>
          <p:nvPr/>
        </p:nvSpPr>
        <p:spPr>
          <a:xfrm>
            <a:off x="685800" y="3849624"/>
            <a:ext cx="548640" cy="457200"/>
          </a:xfrm>
          <a:prstGeom prst="rect">
            <a:avLst/>
          </a:prstGeom>
          <a:noFill/>
        </p:spPr>
        <p:txBody>
          <a:bodyPr wrap="square" lIns="0" tIns="0" rIns="0" bIns="0">
            <a:spAutoFit/>
          </a:bodyPr>
          <a:lstStyle/>
          <a:p>
            <a:pPr algn="l"/>
            <a:r>
              <a:rPr sz="2200" b="1" i="0">
                <a:solidFill>
                  <a:srgbClr val="ED7D31"/>
                </a:solidFill>
                <a:latin typeface="Calibri"/>
              </a:rPr>
              <a:t>4</a:t>
            </a:r>
          </a:p>
        </p:txBody>
      </p:sp>
      <p:sp>
        <p:nvSpPr>
          <p:cNvPr id="26" name="Rectangle 25"/>
          <p:cNvSpPr/>
          <p:nvPr/>
        </p:nvSpPr>
        <p:spPr>
          <a:xfrm>
            <a:off x="1188720" y="3867911"/>
            <a:ext cx="4572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71600" y="3922776"/>
            <a:ext cx="7223760" cy="457200"/>
          </a:xfrm>
          <a:prstGeom prst="rect">
            <a:avLst/>
          </a:prstGeom>
          <a:noFill/>
        </p:spPr>
        <p:txBody>
          <a:bodyPr wrap="square" lIns="0" tIns="0" rIns="0" bIns="0">
            <a:spAutoFit/>
          </a:bodyPr>
          <a:lstStyle/>
          <a:p>
            <a:pPr algn="l">
              <a:spcAft>
                <a:spcPts val="300"/>
              </a:spcAft>
            </a:pPr>
            <a:r>
              <a:rPr sz="1400" b="0" i="0">
                <a:solidFill>
                  <a:srgbClr val="202020"/>
                </a:solidFill>
                <a:latin typeface="Calibri"/>
              </a:rPr>
              <a:t>Apply XAI methods and evaluate explanation consistency.</a:t>
            </a:r>
          </a:p>
        </p:txBody>
      </p:sp>
      <p:sp>
        <p:nvSpPr>
          <p:cNvPr id="28" name="TextBox 27"/>
          <p:cNvSpPr txBox="1"/>
          <p:nvPr/>
        </p:nvSpPr>
        <p:spPr>
          <a:xfrm>
            <a:off x="685800" y="4599431"/>
            <a:ext cx="548640" cy="457200"/>
          </a:xfrm>
          <a:prstGeom prst="rect">
            <a:avLst/>
          </a:prstGeom>
          <a:noFill/>
        </p:spPr>
        <p:txBody>
          <a:bodyPr wrap="square" lIns="0" tIns="0" rIns="0" bIns="0">
            <a:spAutoFit/>
          </a:bodyPr>
          <a:lstStyle/>
          <a:p>
            <a:pPr algn="l"/>
            <a:r>
              <a:rPr sz="2200" b="1" i="0">
                <a:solidFill>
                  <a:srgbClr val="ED7D31"/>
                </a:solidFill>
                <a:latin typeface="Calibri"/>
              </a:rPr>
              <a:t>5</a:t>
            </a:r>
          </a:p>
        </p:txBody>
      </p:sp>
      <p:sp>
        <p:nvSpPr>
          <p:cNvPr id="29" name="Rectangle 28"/>
          <p:cNvSpPr/>
          <p:nvPr/>
        </p:nvSpPr>
        <p:spPr>
          <a:xfrm>
            <a:off x="1188720" y="4617719"/>
            <a:ext cx="4572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71600" y="4672583"/>
            <a:ext cx="7223760" cy="457200"/>
          </a:xfrm>
          <a:prstGeom prst="rect">
            <a:avLst/>
          </a:prstGeom>
          <a:noFill/>
        </p:spPr>
        <p:txBody>
          <a:bodyPr wrap="square" lIns="0" tIns="0" rIns="0" bIns="0">
            <a:spAutoFit/>
          </a:bodyPr>
          <a:lstStyle/>
          <a:p>
            <a:pPr algn="l">
              <a:spcAft>
                <a:spcPts val="300"/>
              </a:spcAft>
            </a:pPr>
            <a:r>
              <a:rPr sz="1400" b="0" i="0">
                <a:solidFill>
                  <a:srgbClr val="202020"/>
                </a:solidFill>
                <a:latin typeface="Calibri"/>
              </a:rPr>
              <a:t>Generate NSTDB noise at graded SNRs; evaluate classification, explanation stability and uncertainty.</a:t>
            </a:r>
          </a:p>
        </p:txBody>
      </p:sp>
      <p:sp>
        <p:nvSpPr>
          <p:cNvPr id="31" name="TextBox 30"/>
          <p:cNvSpPr txBox="1"/>
          <p:nvPr/>
        </p:nvSpPr>
        <p:spPr>
          <a:xfrm>
            <a:off x="685800" y="5349240"/>
            <a:ext cx="548640" cy="457200"/>
          </a:xfrm>
          <a:prstGeom prst="rect">
            <a:avLst/>
          </a:prstGeom>
          <a:noFill/>
        </p:spPr>
        <p:txBody>
          <a:bodyPr wrap="square" lIns="0" tIns="0" rIns="0" bIns="0">
            <a:spAutoFit/>
          </a:bodyPr>
          <a:lstStyle/>
          <a:p>
            <a:pPr algn="l"/>
            <a:r>
              <a:rPr sz="2200" b="1" i="0">
                <a:solidFill>
                  <a:srgbClr val="ED7D31"/>
                </a:solidFill>
                <a:latin typeface="Calibri"/>
              </a:rPr>
              <a:t>6</a:t>
            </a:r>
          </a:p>
        </p:txBody>
      </p:sp>
      <p:sp>
        <p:nvSpPr>
          <p:cNvPr id="32" name="Rectangle 31"/>
          <p:cNvSpPr/>
          <p:nvPr/>
        </p:nvSpPr>
        <p:spPr>
          <a:xfrm>
            <a:off x="1188720" y="5367527"/>
            <a:ext cx="4572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71600" y="5422392"/>
            <a:ext cx="7223760" cy="457200"/>
          </a:xfrm>
          <a:prstGeom prst="rect">
            <a:avLst/>
          </a:prstGeom>
          <a:noFill/>
        </p:spPr>
        <p:txBody>
          <a:bodyPr wrap="square" lIns="0" tIns="0" rIns="0" bIns="0">
            <a:spAutoFit/>
          </a:bodyPr>
          <a:lstStyle/>
          <a:p>
            <a:pPr algn="l">
              <a:spcAft>
                <a:spcPts val="300"/>
              </a:spcAft>
            </a:pPr>
            <a:r>
              <a:rPr sz="1400" b="0" i="0">
                <a:solidFill>
                  <a:srgbClr val="202020"/>
                </a:solidFill>
                <a:latin typeface="Calibri"/>
              </a:rPr>
              <a:t>Analyse results, prepare the final report and presentation.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Expected Outcomes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51560"/>
            <a:ext cx="8138160" cy="320040"/>
          </a:xfrm>
          <a:prstGeom prst="rect">
            <a:avLst/>
          </a:prstGeom>
          <a:noFill/>
        </p:spPr>
        <p:txBody>
          <a:bodyPr wrap="square" lIns="0" tIns="0" rIns="0" bIns="0">
            <a:spAutoFit/>
          </a:bodyPr>
          <a:lstStyle/>
          <a:p>
            <a:pPr algn="l"/>
            <a:r>
              <a:rPr sz="1500" b="1" i="0">
                <a:solidFill>
                  <a:srgbClr val="202020"/>
                </a:solidFill>
                <a:latin typeface="Calibri"/>
              </a:rPr>
              <a:t>Deliverables</a:t>
            </a:r>
          </a:p>
        </p:txBody>
      </p:sp>
      <p:sp>
        <p:nvSpPr>
          <p:cNvPr id="16" name="TextBox 15"/>
          <p:cNvSpPr txBox="1"/>
          <p:nvPr/>
        </p:nvSpPr>
        <p:spPr>
          <a:xfrm>
            <a:off x="502920" y="1417320"/>
            <a:ext cx="8138160" cy="1645920"/>
          </a:xfrm>
          <a:prstGeom prst="rect">
            <a:avLst/>
          </a:prstGeom>
          <a:noFill/>
        </p:spPr>
        <p:txBody>
          <a:bodyPr wrap="square" lIns="0" tIns="0" rIns="0" bIns="0">
            <a:spAutoFit/>
          </a:bodyPr>
          <a:lstStyle/>
          <a:p>
            <a:pPr algn="l">
              <a:spcAft>
                <a:spcPts val="300"/>
              </a:spcAft>
            </a:pPr>
            <a:r>
              <a:rPr sz="1300" b="0" i="0">
                <a:solidFill>
                  <a:srgbClr val="202020"/>
                </a:solidFill>
                <a:latin typeface="Calibri"/>
              </a:rPr>
              <a:t>• A patient-independent ECG arrhythmia classifier with per-class and macro-averaged results under an inter-patient protocol and on an external database.</a:t>
            </a:r>
          </a:p>
          <a:p>
            <a:pPr algn="l">
              <a:spcAft>
                <a:spcPts val="300"/>
              </a:spcAft>
            </a:pPr>
            <a:r>
              <a:rPr sz="1300" b="0" i="0">
                <a:solidFill>
                  <a:srgbClr val="202020"/>
                </a:solidFill>
                <a:latin typeface="Calibri"/>
              </a:rPr>
              <a:t>• A quantitative evaluation of explanation with two XAI methods.</a:t>
            </a:r>
          </a:p>
          <a:p>
            <a:pPr algn="l">
              <a:spcAft>
                <a:spcPts val="300"/>
              </a:spcAft>
            </a:pPr>
            <a:r>
              <a:rPr sz="1300" b="0" i="0">
                <a:solidFill>
                  <a:srgbClr val="202020"/>
                </a:solidFill>
                <a:latin typeface="Calibri"/>
              </a:rPr>
              <a:t>• A robustness and uncertainty analysis of both predictions and explanations under realistic NSTDB noise.</a:t>
            </a:r>
          </a:p>
          <a:p>
            <a:pPr algn="l">
              <a:spcAft>
                <a:spcPts val="300"/>
              </a:spcAft>
            </a:pPr>
            <a:r>
              <a:rPr sz="1300" b="0" i="0">
                <a:solidFill>
                  <a:srgbClr val="202020"/>
                </a:solidFill>
                <a:latin typeface="Calibri"/>
              </a:rPr>
              <a:t>• Final report and presentation.</a:t>
            </a:r>
          </a:p>
        </p:txBody>
      </p:sp>
      <p:sp>
        <p:nvSpPr>
          <p:cNvPr id="17" name="TextBox 16"/>
          <p:cNvSpPr txBox="1"/>
          <p:nvPr/>
        </p:nvSpPr>
        <p:spPr>
          <a:xfrm>
            <a:off x="502920" y="3246120"/>
            <a:ext cx="8138160" cy="320040"/>
          </a:xfrm>
          <a:prstGeom prst="rect">
            <a:avLst/>
          </a:prstGeom>
          <a:noFill/>
        </p:spPr>
        <p:txBody>
          <a:bodyPr wrap="square" lIns="0" tIns="0" rIns="0" bIns="0">
            <a:spAutoFit/>
          </a:bodyPr>
          <a:lstStyle/>
          <a:p>
            <a:pPr algn="l"/>
            <a:r>
              <a:rPr sz="1500" b="1" i="0">
                <a:solidFill>
                  <a:srgbClr val="202020"/>
                </a:solidFill>
                <a:latin typeface="Calibri"/>
              </a:rPr>
              <a:t>Expected Results</a:t>
            </a:r>
          </a:p>
        </p:txBody>
      </p:sp>
      <p:sp>
        <p:nvSpPr>
          <p:cNvPr id="18" name="TextBox 17"/>
          <p:cNvSpPr txBox="1"/>
          <p:nvPr/>
        </p:nvSpPr>
        <p:spPr>
          <a:xfrm>
            <a:off x="502920" y="3611880"/>
            <a:ext cx="8138160" cy="2651760"/>
          </a:xfrm>
          <a:prstGeom prst="rect">
            <a:avLst/>
          </a:prstGeom>
          <a:noFill/>
        </p:spPr>
        <p:txBody>
          <a:bodyPr wrap="square" lIns="0" tIns="0" rIns="0" bIns="0">
            <a:spAutoFit/>
          </a:bodyPr>
          <a:lstStyle/>
          <a:p>
            <a:pPr algn="l">
              <a:spcAft>
                <a:spcPts val="300"/>
              </a:spcAft>
            </a:pPr>
            <a:r>
              <a:rPr sz="1300" b="0" i="0">
                <a:solidFill>
                  <a:srgbClr val="202020"/>
                </a:solidFill>
                <a:latin typeface="Calibri"/>
              </a:rPr>
              <a:t>• Intra-patient: macro F1 of about 90%, in line with the 91.10% already reached.</a:t>
            </a:r>
          </a:p>
          <a:p>
            <a:pPr algn="l">
              <a:spcAft>
                <a:spcPts val="300"/>
              </a:spcAft>
            </a:pPr>
            <a:r>
              <a:rPr sz="1300" b="0" i="0">
                <a:solidFill>
                  <a:srgbClr val="202020"/>
                </a:solidFill>
                <a:latin typeface="Calibri"/>
              </a:rPr>
              <a:t>• Inter-patient (DS1/DS2): clearly lower, as reported in the literature [1], [11]; S and F remain the hardest classes; RR features expected to improve S recall in particular.</a:t>
            </a:r>
          </a:p>
          <a:p>
            <a:pPr algn="l">
              <a:spcAft>
                <a:spcPts val="300"/>
              </a:spcAft>
            </a:pPr>
            <a:r>
              <a:rPr sz="1300" b="0" i="0">
                <a:solidFill>
                  <a:srgbClr val="202020"/>
                </a:solidFill>
                <a:latin typeface="Calibri"/>
              </a:rPr>
              <a:t>• Explanations: V beats should place a larger share of importance on the QRS region than N beats; deleting the most important samples should lower confidence much more than deleting random ones.</a:t>
            </a:r>
          </a:p>
          <a:p>
            <a:pPr algn="l">
              <a:spcAft>
                <a:spcPts val="300"/>
              </a:spcAft>
            </a:pPr>
            <a:r>
              <a:rPr sz="1300" b="0" i="0">
                <a:solidFill>
                  <a:srgbClr val="202020"/>
                </a:solidFill>
                <a:latin typeface="Calibri"/>
              </a:rPr>
              <a:t>• Under NSTDB noise, macro F1 and explanation stability expected to fall as SNR decreases from 18 dB to 0 dB.</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Summary</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143000"/>
            <a:ext cx="8138160" cy="5029200"/>
          </a:xfrm>
          <a:prstGeom prst="rect">
            <a:avLst/>
          </a:prstGeom>
          <a:noFill/>
        </p:spPr>
        <p:txBody>
          <a:bodyPr wrap="square" lIns="0" tIns="0" rIns="0" bIns="0">
            <a:spAutoFit/>
          </a:bodyPr>
          <a:lstStyle/>
          <a:p>
            <a:pPr algn="l">
              <a:spcAft>
                <a:spcPts val="800"/>
              </a:spcAft>
            </a:pPr>
            <a:r>
              <a:rPr sz="1400" b="0" i="0">
                <a:solidFill>
                  <a:srgbClr val="202020"/>
                </a:solidFill>
                <a:latin typeface="Calibri"/>
              </a:rPr>
              <a:t>• Reported accuracies above 98% fall considerably on unseen patients, external databases or noisy signals, and explanations are rarely validated against clinical ECG knowledge [1], [2], [3].</a:t>
            </a:r>
          </a:p>
          <a:p>
            <a:pPr algn="l">
              <a:spcAft>
                <a:spcPts val="800"/>
              </a:spcAft>
            </a:pPr>
            <a:r>
              <a:rPr sz="1400" b="0" i="0">
                <a:solidFill>
                  <a:srgbClr val="202020"/>
                </a:solidFill>
                <a:latin typeface="Calibri"/>
              </a:rPr>
              <a:t>• A working training, evaluation and Grad-CAM pipeline has been built and tested on the pre-segmented MIT-BIH dataset [35] (five AAMI classes, intra-patient split).</a:t>
            </a:r>
          </a:p>
          <a:p>
            <a:pPr algn="l">
              <a:spcAft>
                <a:spcPts val="800"/>
              </a:spcAft>
            </a:pPr>
            <a:r>
              <a:rPr sz="1400" b="0" i="0">
                <a:solidFill>
                  <a:srgbClr val="202020"/>
                </a:solidFill>
                <a:latin typeface="Calibri"/>
              </a:rPr>
              <a:t>• Baseline 1D CNN: </a:t>
            </a:r>
            <a:r>
              <a:rPr sz="1400" b="1" i="0">
                <a:solidFill>
                  <a:srgbClr val="202020"/>
                </a:solidFill>
                <a:latin typeface="Calibri"/>
              </a:rPr>
              <a:t>94.41% accuracy, 76.29% macro F1</a:t>
            </a:r>
            <a:r>
              <a:rPr sz="1400" b="0" i="0">
                <a:solidFill>
                  <a:srgbClr val="202020"/>
                </a:solidFill>
                <a:latin typeface="Calibri"/>
              </a:rPr>
              <a:t> – very low precision on Fusion (26.0%) and S (55.9%).</a:t>
            </a:r>
          </a:p>
          <a:p>
            <a:pPr algn="l">
              <a:spcAft>
                <a:spcPts val="800"/>
              </a:spcAft>
            </a:pPr>
            <a:r>
              <a:rPr sz="1400" b="0" i="0">
                <a:solidFill>
                  <a:srgbClr val="202020"/>
                </a:solidFill>
                <a:latin typeface="Calibri"/>
              </a:rPr>
              <a:t>• Epoch selection on validation macro F1, square-root class weights and a residual network gave the largest gains: </a:t>
            </a:r>
            <a:r>
              <a:rPr sz="1400" b="1" i="0">
                <a:solidFill>
                  <a:srgbClr val="202020"/>
                </a:solidFill>
                <a:latin typeface="Calibri"/>
              </a:rPr>
              <a:t>98.41% accuracy, 91.10% macro F1</a:t>
            </a:r>
            <a:r>
              <a:rPr sz="1400" b="0" i="0">
                <a:solidFill>
                  <a:srgbClr val="202020"/>
                </a:solidFill>
                <a:latin typeface="Calibri"/>
              </a:rPr>
              <a:t> on the same 21,892-beat test set.</a:t>
            </a:r>
          </a:p>
          <a:p>
            <a:pPr algn="l">
              <a:spcAft>
                <a:spcPts val="800"/>
              </a:spcAft>
            </a:pPr>
            <a:r>
              <a:rPr sz="1400" b="0" i="0">
                <a:solidFill>
                  <a:srgbClr val="202020"/>
                </a:solidFill>
                <a:latin typeface="Calibri"/>
              </a:rPr>
              <a:t>• Grad-CAM heatmaps were produced for every class.</a:t>
            </a:r>
          </a:p>
          <a:p>
            <a:pPr algn="l">
              <a:spcAft>
                <a:spcPts val="800"/>
              </a:spcAft>
            </a:pPr>
            <a:r>
              <a:rPr sz="1400" b="0" i="0">
                <a:solidFill>
                  <a:srgbClr val="202020"/>
                </a:solidFill>
                <a:latin typeface="Calibri"/>
              </a:rPr>
              <a:t>• These results are intra-patient and are treated as a development baseline for the patient-independent framework.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References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97280"/>
            <a:ext cx="8138160" cy="5303520"/>
          </a:xfrm>
          <a:prstGeom prst="rect">
            <a:avLst/>
          </a:prstGeom>
          <a:noFill/>
        </p:spPr>
        <p:txBody>
          <a:bodyPr wrap="square" lIns="0" tIns="0" rIns="0" bIns="0">
            <a:spAutoFit/>
          </a:bodyPr>
          <a:lstStyle/>
          <a:p>
            <a:pPr algn="l">
              <a:spcAft>
                <a:spcPts val="800"/>
              </a:spcAft>
            </a:pPr>
            <a:r>
              <a:rPr sz="1200" b="0" i="0">
                <a:solidFill>
                  <a:srgbClr val="202020"/>
                </a:solidFill>
                <a:latin typeface="Calibri"/>
              </a:rPr>
              <a:t>[1] Q. Xiao, K. Lee, S. A. Mokhtar, I. Ismail, A. L. bin Md Pauzi, Q. Zhang, and P. Y. Lim, "Deep learning-based ECG arrhythmia classification: A systematic review," Applied Sciences, vol. 13, Art. no. 4964, 2023.</a:t>
            </a:r>
          </a:p>
          <a:p>
            <a:pPr algn="l">
              <a:spcAft>
                <a:spcPts val="800"/>
              </a:spcAft>
            </a:pPr>
            <a:r>
              <a:rPr sz="1200" b="0" i="0">
                <a:solidFill>
                  <a:srgbClr val="202020"/>
                </a:solidFill>
                <a:latin typeface="Calibri"/>
              </a:rPr>
              <a:t>[2] N. N. Kulkarni, Nagaraja G. S., B. G. Sudarshan, and Yeriswamy M. C., "Recent advances in deep learning based arrhythmia classification using ECG and PPG signals: A systematic review," Discover Computing, vol. 29, Art. no. 666, 2026.</a:t>
            </a:r>
          </a:p>
          <a:p>
            <a:pPr algn="l">
              <a:spcAft>
                <a:spcPts val="800"/>
              </a:spcAft>
            </a:pPr>
            <a:r>
              <a:rPr sz="1200" b="0" i="0">
                <a:solidFill>
                  <a:srgbClr val="202020"/>
                </a:solidFill>
                <a:latin typeface="Calibri"/>
              </a:rPr>
              <a:t>[3] J. Beck and A. John, "Explainable AI (XAI) for arrhythmia detection from electrocardiograms," arXiv:2508.17294, 2025.</a:t>
            </a:r>
          </a:p>
          <a:p>
            <a:pPr algn="l">
              <a:spcAft>
                <a:spcPts val="800"/>
              </a:spcAft>
            </a:pPr>
            <a:r>
              <a:rPr sz="1200" b="0" i="0">
                <a:solidFill>
                  <a:srgbClr val="202020"/>
                </a:solidFill>
                <a:latin typeface="Calibri"/>
              </a:rPr>
              <a:t>[4] G. A. L. Silva, P. H. L. Silva, G. J. P. Moreira, V. L. S. Freitas, J. C. Gertrudes, and E. J. S. Luz, "A systematic review of ECG arrhythmia classification: Adherence to standards, fair evaluation, and embedded feasibility," arXiv:2503.07276, 2025.</a:t>
            </a:r>
          </a:p>
          <a:p>
            <a:pPr algn="l">
              <a:spcAft>
                <a:spcPts val="800"/>
              </a:spcAft>
            </a:pPr>
            <a:r>
              <a:rPr sz="1200" b="0" i="0">
                <a:solidFill>
                  <a:srgbClr val="202020"/>
                </a:solidFill>
                <a:latin typeface="Calibri"/>
              </a:rPr>
              <a:t>[5] B. A. Hassoon, S. Xiong, M. A. Hasson, R. Salahudeen, A. O. Abdulsalami, and T. Khan, "Dual-branch bidirectional attention fusion of temporal and hierarchical representations for robust ECG arrhythmia classification," Expert Systems with Applications, vol. 331, Art. no. 133409, 2026.</a:t>
            </a:r>
          </a:p>
          <a:p>
            <a:pPr algn="l">
              <a:spcAft>
                <a:spcPts val="800"/>
              </a:spcAft>
            </a:pPr>
            <a:r>
              <a:rPr sz="1200" b="0" i="0">
                <a:solidFill>
                  <a:srgbClr val="202020"/>
                </a:solidFill>
                <a:latin typeface="Calibri"/>
              </a:rPr>
              <a:t>[8] N. Alamatsaz, L. Tabatabaei, M. Yazdchi, H. Payan, N. Alamatsaz, and F. Nasimi, "A lightweight hybrid CNN-LSTM explainable model for ECG-based arrhythmia detection," Biomedical Signal Processing and Control, vol. 90, Art. no. 105884, 2024.</a:t>
            </a:r>
          </a:p>
          <a:p>
            <a:pPr algn="l">
              <a:spcAft>
                <a:spcPts val="800"/>
              </a:spcAft>
            </a:pPr>
            <a:r>
              <a:rPr sz="1200" b="0" i="0">
                <a:solidFill>
                  <a:srgbClr val="202020"/>
                </a:solidFill>
                <a:latin typeface="Calibri"/>
              </a:rPr>
              <a:t>[11] Sa. I. Ibrahim, "A hybrid deep learning algorithm for ECG-based heart disease classification," Scientific Reports, vol. 16, Art. no. 29911, 2026.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References (contd.)</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97280"/>
            <a:ext cx="8138160" cy="5303520"/>
          </a:xfrm>
          <a:prstGeom prst="rect">
            <a:avLst/>
          </a:prstGeom>
          <a:noFill/>
        </p:spPr>
        <p:txBody>
          <a:bodyPr wrap="square" lIns="0" tIns="0" rIns="0" bIns="0">
            <a:spAutoFit/>
          </a:bodyPr>
          <a:lstStyle/>
          <a:p>
            <a:pPr algn="l">
              <a:spcAft>
                <a:spcPts val="800"/>
              </a:spcAft>
            </a:pPr>
            <a:r>
              <a:rPr sz="1200" b="0" i="0">
                <a:solidFill>
                  <a:srgbClr val="202020"/>
                </a:solidFill>
                <a:latin typeface="Calibri"/>
              </a:rPr>
              <a:t>[29] Y. Jeong, J. Lee, and M. Shin, "Enhancing inter-patient performance for arrhythmia classification with adversarial learning using beat-score maps," Applied Sciences, vol. 14, Art. no. 7227, 2024.</a:t>
            </a:r>
          </a:p>
          <a:p>
            <a:pPr algn="l">
              <a:spcAft>
                <a:spcPts val="800"/>
              </a:spcAft>
            </a:pPr>
            <a:r>
              <a:rPr sz="1200" b="0" i="0">
                <a:solidFill>
                  <a:srgbClr val="202020"/>
                </a:solidFill>
                <a:latin typeface="Calibri"/>
              </a:rPr>
              <a:t>[30] M. Ashhad, S. Rahmani, M. Fayiz, A. Etemad, and J. Hashemi, "Uncertainty-aware multi-view arrhythmia classification from ECG," arXiv:2506.06342, 2025 (published at IJCNN 2024).</a:t>
            </a:r>
          </a:p>
          <a:p>
            <a:pPr algn="l">
              <a:spcAft>
                <a:spcPts val="800"/>
              </a:spcAft>
            </a:pPr>
            <a:r>
              <a:rPr sz="1200" b="0" i="0">
                <a:solidFill>
                  <a:srgbClr val="202020"/>
                </a:solidFill>
                <a:latin typeface="Calibri"/>
              </a:rPr>
              <a:t>[33] W. Zhang, X. Di, G. Wei, S. Geng, Z. Fu, and S. Hong, "Cardiac arrhythmia classification with rejection of ECG recordings based on uncertainty estimation from deep neural networks," Neural Computing and Applications, vol. 36, pp. 4047–4058, 2024.</a:t>
            </a:r>
          </a:p>
          <a:p>
            <a:pPr algn="l">
              <a:spcAft>
                <a:spcPts val="800"/>
              </a:spcAft>
            </a:pPr>
            <a:r>
              <a:rPr sz="1200" b="0" i="0">
                <a:solidFill>
                  <a:srgbClr val="202020"/>
                </a:solidFill>
                <a:latin typeface="Calibri"/>
              </a:rPr>
              <a:t>[35] M. Kachuee, S. Fazeli, and M. Sarrafzadeh, "ECG heartbeat classification: A deep transferable representation," in Proc. IEEE Int. Conf. Healthcare Informatics (ICHI), 2018, pp. 443–444.</a:t>
            </a:r>
          </a:p>
          <a:p>
            <a:pPr algn="l">
              <a:spcAft>
                <a:spcPts val="800"/>
              </a:spcAft>
            </a:pPr>
            <a:r>
              <a:rPr sz="1200" b="0" i="0">
                <a:solidFill>
                  <a:srgbClr val="202020"/>
                </a:solidFill>
                <a:latin typeface="Calibri"/>
              </a:rPr>
              <a:t>[36] K. He, X. Zhang, S. Ren, and J. Sun, "Deep residual learning for image recognition," in Proc. IEEE Conf. Computer Vision and Pattern Recognition (CVPR), 2016, pp. 770–778.</a:t>
            </a:r>
          </a:p>
          <a:p>
            <a:pPr algn="l">
              <a:spcAft>
                <a:spcPts val="800"/>
              </a:spcAft>
            </a:pPr>
            <a:r>
              <a:rPr sz="1200" b="0" i="0">
                <a:solidFill>
                  <a:srgbClr val="202020"/>
                </a:solidFill>
                <a:latin typeface="Calibri"/>
              </a:rPr>
              <a:t>[37] R. R. Selvaraju, M. Cogswell, A. Das, R. Vedantam, D. Parikh, and D. Batra, "Grad-CAM: Visual explanations from deep networks via gradient-based localization," in Proc. IEEE Int. Conf. Computer Vision (ICCV), 2017, pp. 618–626.</a:t>
            </a:r>
          </a:p>
          <a:p>
            <a:pPr algn="l">
              <a:spcAft>
                <a:spcPts val="800"/>
              </a:spcAft>
            </a:pPr>
            <a:r>
              <a:rPr sz="1200" b="0" i="0">
                <a:solidFill>
                  <a:srgbClr val="202020"/>
                </a:solidFill>
                <a:latin typeface="Calibri"/>
              </a:rPr>
              <a:t>[38] S. M. Lundberg and S.-I. Lee, "A unified approach to interpreting model predictions," in Proc. Advances in Neural Information Processing Systems (NeurIPS), 2017, pp. 4765–4774.</a:t>
            </a:r>
          </a:p>
        </p:txBody>
      </p:sp>
      <p:sp>
        <p:nvSpPr>
          <p:cNvPr id="16" name="TextBox 15"/>
          <p:cNvSpPr txBox="1"/>
          <p:nvPr/>
        </p:nvSpPr>
        <p:spPr>
          <a:xfrm>
            <a:off x="502920" y="6172200"/>
            <a:ext cx="8138160" cy="274320"/>
          </a:xfrm>
          <a:prstGeom prst="rect">
            <a:avLst/>
          </a:prstGeom>
          <a:noFill/>
        </p:spPr>
        <p:txBody>
          <a:bodyPr wrap="square" lIns="0" tIns="0" rIns="0" bIns="0">
            <a:spAutoFit/>
          </a:bodyPr>
          <a:lstStyle/>
          <a:p>
            <a:pPr algn="l"/>
            <a:r>
              <a:rPr sz="1000" b="0" i="1">
                <a:solidFill>
                  <a:srgbClr val="595959"/>
                </a:solidFill>
                <a:latin typeface="Calibri"/>
              </a:rPr>
              <a:t>Numbering follows the reference list of the mid-semester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3524</Words>
  <Application>Microsoft Office PowerPoint</Application>
  <PresentationFormat>On-screen Show (4:3)</PresentationFormat>
  <Paragraphs>408</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Calibri</vt:lpstr>
      <vt:lpstr>Times New Roman</vt:lpstr>
      <vt:lpstr>Office Theme</vt:lpstr>
      <vt:lpstr>B. Tech. Project Mid-Semester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 Tech. Project Mid-Semester Evaluation</dc:title>
  <dc:subject/>
  <dc:creator/>
  <cp:keywords/>
  <dc:description>generated using python-pptx</dc:description>
  <cp:lastModifiedBy>Sidhesh Tavare</cp:lastModifiedBy>
  <cp:revision>11</cp:revision>
  <dcterms:created xsi:type="dcterms:W3CDTF">2013-01-27T09:14:16Z</dcterms:created>
  <dcterms:modified xsi:type="dcterms:W3CDTF">2026-10-06T13:04:43Z</dcterms:modified>
  <cp:category/>
</cp:coreProperties>
</file>