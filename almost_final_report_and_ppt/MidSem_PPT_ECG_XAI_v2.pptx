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63" r:id="rId4"/>
    <p:sldId id="260" r:id="rId5"/>
    <p:sldId id="258" r:id="rId6"/>
    <p:sldId id="259" r:id="rId7"/>
    <p:sldId id="261" r:id="rId8"/>
    <p:sldId id="264" r:id="rId10"/>
    <p:sldId id="265" r:id="rId11"/>
    <p:sldId id="270" r:id="rId20"/>
    <p:sldId id="262" r:id="rId9"/>
    <p:sldId id="267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nate Jain" userId="976167ac889b25c4" providerId="LiveId" clId="{250E833E-F64D-4ED8-940D-5AB3540D8995}"/>
    <pc:docChg chg="modSld">
      <pc:chgData name="Mannate Jain" userId="976167ac889b25c4" providerId="LiveId" clId="{250E833E-F64D-4ED8-940D-5AB3540D8995}" dt="2026-10-05T15:00:52.989" v="10" actId="20577"/>
      <pc:docMkLst>
        <pc:docMk/>
      </pc:docMkLst>
      <pc:sldChg chg="modSp mod">
        <pc:chgData name="Mannate Jain" userId="976167ac889b25c4" providerId="LiveId" clId="{250E833E-F64D-4ED8-940D-5AB3540D8995}" dt="2026-10-05T15:00:52.989" v="10" actId="20577"/>
        <pc:sldMkLst>
          <pc:docMk/>
          <pc:sldMk cId="1268978073" sldId="269"/>
        </pc:sldMkLst>
        <pc:spChg chg="mod">
          <ac:chgData name="Mannate Jain" userId="976167ac889b25c4" providerId="LiveId" clId="{250E833E-F64D-4ED8-940D-5AB3540D8995}" dt="2026-10-05T15:00:52.989" v="10" actId="20577"/>
          <ac:spMkLst>
            <pc:docMk/>
            <pc:sldMk cId="1268978073" sldId="269"/>
            <ac:spMk id="4" creationId="{353E2B0F-1BE0-BEFD-61CD-D208C8E4A1B6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C836D-B34C-4DBC-9463-904D094D28A5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1D548-DD1F-4BC3-BDA6-C817C8D36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0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 respected panel members. </a:t>
            </a:r>
            <a:r>
              <a:rPr dirty="0"/>
              <a:t>We are Bhoomi Singhal (2314168) and Archita Roy (2314165), working under the supervision of Dr. Koushik Guha.</a:t>
            </a:r>
          </a:p>
          <a:p>
            <a:r>
              <a:rPr dirty="0"/>
              <a:t>Our project is "Design of an Energy-Efficient EEG Seizure Detection System using Approximate Computing".</a:t>
            </a:r>
          </a:p>
          <a:p>
            <a:r>
              <a:rPr dirty="0"/>
              <a:t>In one line: we detect epileptic seizures from EEG signals with a machine-learning classifier (SVM), and we plan to build its hardware with APPROXIMATE adders and multipliers so that it consumes much less power - making it suitable for wearable, battery-powered seizure monitors.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4048"/>
            <a:ext cx="8229600" cy="548640"/>
          </a:xfrm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2400" b="0" dirty="0">
                <a:latin typeface="Times New Roman"/>
              </a:rPr>
              <a:t>B. Tech. Project Mid-Semester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005840"/>
            <a:ext cx="8229600" cy="1234440"/>
          </a:xfrm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Times New Roman"/>
              </a:rPr>
              <a:t>Explainable Deep Learning Framework for Automated ECG Arrhythmia Detection and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0" y="2395728"/>
            <a:ext cx="1828800" cy="45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36576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Presented by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Sidhesh Mahesh Tavare (2314037)</a:t>
            </a:r>
            <a:b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Nikhil Kumar Singh (2314055)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572000" y="2697480"/>
            <a:ext cx="0" cy="914400"/>
          </a:xfrm>
          <a:prstGeom prst="line">
            <a:avLst/>
          </a:prstGeom>
          <a:ln w="12700">
            <a:solidFill>
              <a:srgbClr val="BFC9D9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663440" y="2606040"/>
            <a:ext cx="36576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Supervisor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Arnab Nandi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NIT Silcha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3977639"/>
            <a:ext cx="1143000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Electronics and Communication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82296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002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National Institute of Technology Silchar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47688"/>
            <a:ext cx="9144000" cy="45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411480"/>
            <a:ext cx="7772400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dirty="0">
                <a:solidFill>
                  <a:srgbClr val="1F1F1F"/>
                </a:solidFill>
                <a:latin typeface="Times New Roman"/>
              </a:rPr>
              <a:t>Introduction</a:t>
            </a:r>
            <a:r>
              <a:rPr sz="2600" b="1" dirty="0">
                <a:solidFill>
                  <a:srgbClr val="1F1F1F"/>
                </a:solidFill>
                <a:latin typeface="Times New Roman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27048"/>
            <a:ext cx="353872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latin typeface="Calibri"/>
              </a:rPr>
              <a:t>Electrocardiogram (ECG)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92808"/>
            <a:ext cx="3538728" cy="61401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1250" dirty="0"/>
              <a:t>Skin electrodes record the heart's electrical activity. Each beat shows a P wave, QRS complex and T wave; arrhythmias alter their morphology (shape) or rhythm (timing).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545491"/>
            <a:ext cx="3538728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dirty="0">
                <a:latin typeface="Calibri"/>
              </a:rPr>
              <a:t>Why automate?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892808"/>
            <a:ext cx="3538728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1400" dirty="0"/>
              <a:t>A 24 h Holter recording at ~70 bpm holds ≈ 100,000 beats. Manual beat-by-beat review is slow and error-prone, so automatic beat classification is needed.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63240"/>
            <a:ext cx="76809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u="sng" dirty="0">
                <a:latin typeface="Calibri"/>
              </a:rPr>
              <a:t>What the framework must deliver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66160"/>
            <a:ext cx="2148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latin typeface="Calibri"/>
              </a:rPr>
              <a:t>Accurate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68496"/>
            <a:ext cx="2148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dirty="0">
                <a:solidFill>
                  <a:srgbClr val="646464"/>
                </a:solidFill>
                <a:latin typeface="Calibri"/>
              </a:rPr>
              <a:t>per-class F1 on N, S, V, 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547872"/>
            <a:ext cx="2148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latin typeface="Calibri"/>
              </a:rPr>
              <a:t>Explanation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968496"/>
            <a:ext cx="2148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6464"/>
                </a:solidFill>
                <a:latin typeface="Calibri"/>
              </a:rPr>
              <a:t>sample-level heatmap per beat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547872"/>
            <a:ext cx="2148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latin typeface="Calibri"/>
              </a:rPr>
              <a:t>Robustness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968496"/>
            <a:ext cx="2148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6464"/>
                </a:solidFill>
                <a:latin typeface="Calibri"/>
              </a:rPr>
              <a:t>stable under real ECG noise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4754880"/>
            <a:ext cx="7543800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dirty="0">
                <a:latin typeface="Calibri"/>
              </a:rPr>
              <a:t>Deep models reach high accuracy but act as black boxes. This project pairs a CNN / CNN-LSTM classifier with Grad-CAM and SHAP, and quantitatively checks whether the explanations point at the clinically relevant waves.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ECG Beats &amp; Arrhythmia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P, QRS and T waves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474720" cy="10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P = atrial depolarisation; QRS = ventricular depolarisation (normal width &lt; 120 ms); T = ventricular repolarisation. Normal PR interval 120–200 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2588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RR interval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38328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Time between successive R peaks; heart rate = 60 / RR (s). A premature beat has a short previous RR and a long next RR (compensatory pause).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N – Normal  {N, L, R, e, j}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347472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Normal, bundle-branch-block and escape beats. ≈ 90% of all beats, so the data are heavily imbalanced.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S – Supraventricular  {A, a, J, S}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38328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Premature beats from the atria / AV junction. QRS is near-normal, so detection relies on the RR timing and an abnormal or hidden P wave.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V – Ventricular  {V, E}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26280"/>
            <a:ext cx="3474720" cy="915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Ectopic focus in the ventricles: wide (≥ 120 ms), bizarre QRS, no preceding P wave, often an opposite-polarity T wave.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F – Fusion  {F}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52628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Normal and ventricular activation meet, giving an intermediate shape. Rarest class (&lt; 1% of beats) and hardest to classify.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02020"/>
                </a:solidFill>
                <a:latin typeface="Calibri"/>
              </a:rPr>
              <a:t>Labels are grouped into AAMI EC57 classes [12]; paced / unclassifiable beats (Q) are excluded, as in most MIT-BIH studies.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86646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Literature Review &amp;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7680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202020"/>
                </a:solidFill>
                <a:latin typeface="Calibri"/>
              </a:rPr>
              <a:t>37 papers (2020–2026) on deep learning and XAI for ECG arrhythmia classification were reviewed.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20574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Calibri"/>
              </a:rPr>
              <a:t>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828800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Calibri"/>
              </a:rPr>
              <a:t>Existing direction &amp; reported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2057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020"/>
                </a:solidFill>
                <a:latin typeface="Calibri"/>
              </a:rPr>
              <a:t>Deep learning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240280"/>
            <a:ext cx="5394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CNN 96.8% vs CNN-LSTM 98.5% accuracy in a direct comparison [7]; lightweight CNN-LSTM with SHAP reports 98.24% over 9 rhythm classes [2]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2057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020"/>
                </a:solidFill>
                <a:latin typeface="Calibri"/>
              </a:rPr>
              <a:t>Evaluation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834640"/>
            <a:ext cx="5394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Only 30.3% of 122 studies use an inter-patient split [5]; where both are reported, F1 falls from 95.52% to 83.89% on unseen patients [4]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29000"/>
            <a:ext cx="2057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020"/>
                </a:solidFill>
                <a:latin typeface="Calibri"/>
              </a:rPr>
              <a:t>Explainability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429000"/>
            <a:ext cx="539496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Grad-CAM / SHAP mostly shown as example plots [2], [3]; &lt; 10% of studies validate maps against P / QRS / T structures [6]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33472"/>
            <a:ext cx="7726679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227832"/>
            <a:ext cx="7726679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822191"/>
            <a:ext cx="7726679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Research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526280"/>
            <a:ext cx="3474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Explanations are rarely quantified: do they fall on the right wave, are they faithful to the model, and do they stay stable when the ECG is noisy?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Our project 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26280"/>
            <a:ext cx="3474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Compare CNN vs CNN-LSTM + RR under intra- and inter-patient splits, then score Grad-CAM / SHAP with wave-region, deletion and noise-stability metrics.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411480"/>
            <a:ext cx="77724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dirty="0">
                <a:solidFill>
                  <a:srgbClr val="1F1F1F"/>
                </a:solidFill>
                <a:latin typeface="Times New Roman"/>
              </a:rPr>
              <a:t>Problem Statement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76809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dirty="0">
                <a:latin typeface="Calibri"/>
              </a:rPr>
              <a:t>Given a beat x ∈ ℝ²⁵² and its RR features r, learn a classifier f(x, r) → ŷ ∈ {N, S, V, F} together with an attribution map A(x) ∈ ℝ²⁵² that shows how much each sample drove the decision.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73152" cy="1508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2258568"/>
            <a:ext cx="15727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Black-box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24328"/>
            <a:ext cx="157276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1F1F1F"/>
                </a:solidFill>
                <a:latin typeface="Calibri"/>
              </a:rPr>
              <a:t>Thousands of learned weights and no stated reason; a clinician cannot verify the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148840"/>
            <a:ext cx="73152" cy="15087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33472" y="2258568"/>
            <a:ext cx="15727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Class imbalance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2624328"/>
            <a:ext cx="157276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F"/>
                </a:solidFill>
                <a:latin typeface="Calibri"/>
              </a:rPr>
              <a:t>N ≈ 90%, S ≈ 2%, F &lt; 1% of beats: high accuracy can hide near-zero S / F recall.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148840"/>
            <a:ext cx="73152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1" y="2258568"/>
            <a:ext cx="15727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Patient 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2624328"/>
            <a:ext cx="157276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F"/>
                </a:solidFill>
                <a:latin typeface="Calibri"/>
              </a:rPr>
              <a:t>Beats of one patient look alike; random splits place them in both train and test sets.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148840"/>
            <a:ext cx="73152" cy="1508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2258568"/>
            <a:ext cx="152704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Noisy signals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624328"/>
            <a:ext cx="152704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F"/>
                </a:solidFill>
                <a:latin typeface="Calibri"/>
              </a:rPr>
              <a:t>Muscle (EMG) and motion artefacts overlap the QRS band; most models are tested only on clean ECG.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06239"/>
            <a:ext cx="7543800" cy="3293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dirty="0">
                <a:latin typeface="Times New Roman"/>
              </a:rPr>
              <a:t>Core pipeline:  preprocess  →  classify  →  explain  →  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709160"/>
            <a:ext cx="7543800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Motivation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1F1F1F"/>
                </a:solidFill>
                <a:latin typeface="Calibri"/>
              </a:rPr>
              <a:t>• Long-term ECG screening needs automatic, beat-level arrhythmia detection.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1F1F1F"/>
                </a:solidFill>
                <a:latin typeface="Calibri"/>
              </a:rPr>
              <a:t>• A heatmap a clinician can check (e.g. "wide QRS → V") builds trust in the prediction.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1F1F1F"/>
                </a:solidFill>
                <a:latin typeface="Calibri"/>
              </a:rPr>
              <a:t>• Inter-patient and noise tests show how the model would behave on new, real recordings.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411480"/>
            <a:ext cx="7772400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dirty="0">
                <a:solidFill>
                  <a:srgbClr val="1F1F1F"/>
                </a:solidFill>
                <a:latin typeface="Times New Roman"/>
              </a:rP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6692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335024"/>
            <a:ext cx="2743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Preprocess MIT-BIH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3350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dirty="0">
                <a:solidFill>
                  <a:srgbClr val="1F1F1F"/>
                </a:solidFill>
                <a:latin typeface="Calibri"/>
              </a:rPr>
              <a:t>Band-pass filter, segment 252-sample beats around R peaks, compute normalised RR features, map labels to AAMI N / S / V / 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56692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238804"/>
            <a:ext cx="274320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Baseline &amp; proposed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249424"/>
            <a:ext cx="4754880" cy="2139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dirty="0">
                <a:solidFill>
                  <a:srgbClr val="1F1F1F"/>
                </a:solidFill>
                <a:latin typeface="Calibri"/>
              </a:rPr>
              <a:t>Train a 1D CNN baseline and a CNN-LSTM + RR model with class-weighted cross-entropy to handle the ≈ 45:1 N:S imbalance.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91840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243668"/>
            <a:ext cx="2743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Fair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638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1F1F"/>
                </a:solidFill>
                <a:latin typeface="Calibri"/>
              </a:rPr>
              <a:t>Intra-patient (stratified 80/20) and inter-patient DS1 → DS2 splits; confusion matrix, per-class precision, recall, F1, macro-F1.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06240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078224"/>
            <a:ext cx="2743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Explain &amp; 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782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1F1F"/>
                </a:solidFill>
                <a:latin typeface="Calibri"/>
              </a:rPr>
              <a:t>Grad-CAM and Gradient SHAP maps; measure importance share on P / QRS / T and faithfulness with a deletion test.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20640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992624"/>
            <a:ext cx="274320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Robustness &amp;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9926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1F1F"/>
                </a:solidFill>
                <a:latin typeface="Calibri"/>
              </a:rPr>
              <a:t>Add NSTDB muscle noise at 18 / 6 / 0 dB SNR: F1 vs SNR and heatmap stability; Streamlit demo of prediction + heatmap.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dirty="0">
                <a:solidFill>
                  <a:srgbClr val="202020"/>
                </a:solidFill>
                <a:latin typeface="Times New Roman"/>
              </a:rPr>
              <a:t>Dataset: MIT-BIH Arrhythmia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7680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02020"/>
                </a:solidFill>
                <a:latin typeface="Calibri"/>
              </a:rPr>
              <a:t>MIT-BIH Arrhythmia Database (PhysioNet)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96969"/>
                </a:solidFill>
                <a:latin typeface="Calibri"/>
              </a:rPr>
              <a:t>Moody &amp; Mark [1] • 48 records × 30 min • 47 subjects • 2 leads • 360 Hz, 11-bit • ≈ 110,000 annotated beats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Data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Lead MLII. Paced records 102, 104, 107, 217 removed → 44 records. Cardiologist beat labels and R-peak positions are used directly.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Two evaluation splits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9748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Intra-patient: stratified random 80/20 split of beats. Inter-patient [8]: train on DS1 (22 records), test on DS2 (22 other records).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20640"/>
            <a:ext cx="7315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Noise data: MIT-BIH Noise Stress Test Database (NSTDB) [11]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86400"/>
            <a:ext cx="7543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The 'ma' (muscle artefact) recording is scaled and added to test beats at SNR = 18, 6 and 0 dB, where SNR = 10·log₁₀(P_signal / P_noise).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4360" y="3703320"/>
          <a:ext cx="749807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/>
                <a:gridCol w="1249679"/>
                <a:gridCol w="1249679"/>
                <a:gridCol w="1249679"/>
                <a:gridCol w="1249679"/>
                <a:gridCol w="1249684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DS1 (train)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45,866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944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3,788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415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51,013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DS2 (test)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44,259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1,837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3,221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49,705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94360" y="4663440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95959"/>
                </a:solidFill>
                <a:latin typeface="Calibri"/>
              </a:rPr>
              <a:t>AAMI beat counts per split [8]: S and F together are &lt; 3% of beats, so per-class F1 matters more than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Current Work: Baseline 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1732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10512"/>
            <a:ext cx="33832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Literature review of 37 papers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Framework, metrics and splits defined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AAMI mapping and DS1 / DS2 records fixed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06324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In progress: baseline 1D CNN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456432"/>
            <a:ext cx="34290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Replicating a public reference 1D CNN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Retrained on our 252-sample, 4-class beats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Stratified 80/20 split, class-weighted loss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Output: confusion matrix, per-class P / R / F1, macro-F1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21208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These scores become the reference the CNN-LSTM + RR model must beat, especially on S and F recall.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sults placeholder"/>
          <p:cNvSpPr/>
          <p:nvPr/>
        </p:nvSpPr>
        <p:spPr>
          <a:xfrm>
            <a:off x="411480" y="1417320"/>
            <a:ext cx="3840480" cy="4206240"/>
          </a:xfrm>
          <a:prstGeom prst="rect">
            <a:avLst/>
          </a:prstGeom>
          <a:solidFill>
            <a:srgbClr val="FAFAFA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595959"/>
                </a:solidFill>
                <a:latin typeface="Calibri"/>
              </a:rPr>
              <a:t>Baseline CNN results</a:t>
            </a:r>
          </a:p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Confusion matrix and per-class precision / recall / F1</a:t>
            </a:r>
          </a:p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(to be attached after training)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 b="1" dirty="0">
                <a:solidFill>
                  <a:srgbClr val="202020"/>
                </a:solidFill>
                <a:latin typeface="Times New Roman"/>
              </a:rPr>
              <a:t>Methodology</a:t>
            </a:r>
          </a:p>
          <a:p>
            <a:pPr algn="ctr"/>
            <a:endParaRPr sz="3200" b="1" dirty="0">
              <a:solidFill>
                <a:srgbClr val="202020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Raw ECG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MLII, 360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BP 0.5–40 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−0.25 / +0.45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prev,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Classify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CNN / CNN-LSTM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7608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Predict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N, S, V, 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Grad-CAM, SHAP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2788920"/>
            <a:ext cx="7040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202020"/>
                </a:solidFill>
                <a:latin typeface="Calibri"/>
              </a:rPr>
              <a:t>Steps 1–4 turn each record into fixed-length beats plus timing features; steps 5–7 classify each beat and produce a sample-level explanation.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79476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Preprocessing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160520"/>
            <a:ext cx="34747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4th-order zero-phase Butterworth band-pass, 0.5–40 Hz: removes baseline wander and 60 Hz mains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Window: 90 samples before + 161 after the R peak = 252 samples (0.7 s)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Per-beat z-score: x′ = (x − μ) / 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79476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Features &amp;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160520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RR_prev, RR_next divided by the record's mean RR (removes patient heart-rate differences)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Class-weighted cross-entropy, w_c = N / (K · n_c)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Adam (lr 10⁻³), batch 128, early stopping on validation macro-F1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Models &amp;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32588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Baseline: 1D CNN  (≈ 44 k parameters)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691640"/>
            <a:ext cx="3657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Conv1D 32 (k=7) → 64 (k=5) → 128 (k=3)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Each: BatchNorm → ReLU → MaxPool(2): 252 → 31 steps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Global avg. pool → Dense 64 → Softmax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78892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Proposed: CNN-LSTM + 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15468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The 31 × 128 conv feature sequence feeds an LSTM(64) that models the P → QRS → T order; its last hidden state is concatenated with the 2 RR features before Dense 64 → Softmax 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16052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Explainability (Captum)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4526280"/>
            <a:ext cx="3657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202020"/>
                </a:solidFill>
                <a:latin typeface="Calibri"/>
              </a:rPr>
              <a:t>Grad-CAM [9]: α_k = (1/T) Σ_t ∂y_c / ∂A_k(t),  L = ReLU(Σ_k α_k A_k), upsampled 31 → 252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202020"/>
                </a:solidFill>
                <a:latin typeface="Calibri"/>
              </a:rPr>
              <a:t>Gradient SHAP [10]: averages gradient × (x − x′) over random baselines x′; Σ φ_i ≈ f(x) − E[f(x′)]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212080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96969"/>
                </a:solidFill>
                <a:latin typeface="Calibri"/>
              </a:rPr>
              <a:t>Expected: V beats → heatmap on the wide QRS; S beats → more weight on the P wave and RR inputs.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11480" y="141732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Beat x: 252 ×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148840"/>
            <a:ext cx="21945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050" b="1">
                <a:solidFill>
                  <a:srgbClr val="202020"/>
                </a:solidFill>
                <a:latin typeface="Calibri"/>
              </a:rPr>
              <a:t>Conv1D ×3</a:t>
            </a:r>
          </a:p>
          <a:p>
            <a:pPr algn="ctr"/>
            <a:r>
              <a:rPr sz="1050" b="1">
                <a:solidFill>
                  <a:srgbClr val="202020"/>
                </a:solidFill>
                <a:latin typeface="Calibri"/>
              </a:rPr>
              <a:t>32 → 64 → 128 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971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LSTM(64)  (proposed only)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70332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050" b="0">
                <a:solidFill>
                  <a:srgbClr val="202020"/>
                </a:solidFill>
                <a:latin typeface="Calibri"/>
              </a:rPr>
              <a:t>Concat → Dense 64 → Softmax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43484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 / S / V / 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703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RR prev, next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2148840"/>
            <a:ext cx="10972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950" b="1">
                <a:solidFill>
                  <a:srgbClr val="C55A11"/>
                </a:solidFill>
                <a:latin typeface="Calibri"/>
              </a:rPr>
              <a:t>Heatmap</a:t>
            </a:r>
          </a:p>
          <a:p>
            <a:pPr algn="ctr"/>
            <a:r>
              <a:rPr sz="950" b="1">
                <a:solidFill>
                  <a:srgbClr val="C55A11"/>
                </a:solidFill>
                <a:latin typeface="Calibri"/>
              </a:rPr>
              <a:t>A(x) ∈ ℝ²⁵²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08760" y="1874519"/>
            <a:ext cx="0" cy="274321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08760" y="2697480"/>
            <a:ext cx="0" cy="27432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08760" y="3429000"/>
            <a:ext cx="0" cy="27432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08760" y="4160520"/>
            <a:ext cx="0" cy="27432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606040" y="3931920"/>
            <a:ext cx="18288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606040" y="2423160"/>
            <a:ext cx="182880" cy="0"/>
          </a:xfrm>
          <a:prstGeom prst="line">
            <a:avLst/>
          </a:prstGeom>
          <a:ln w="15875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697480" y="272491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C55A11"/>
                </a:solidFill>
                <a:latin typeface="Calibri"/>
              </a:rPr>
              <a:t>Grad-CAM / SHAP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dirty="0">
                <a:solidFill>
                  <a:srgbClr val="202020"/>
                </a:solidFill>
                <a:latin typeface="Times New Roman"/>
              </a:rPr>
              <a:t>Conclusion</a:t>
            </a:r>
            <a:r>
              <a:rPr lang="en-US" sz="2600" b="1" dirty="0">
                <a:solidFill>
                  <a:srgbClr val="202020"/>
                </a:solidFill>
                <a:latin typeface="Times New Roman"/>
              </a:rPr>
              <a:t> And</a:t>
            </a:r>
            <a:r>
              <a:rPr sz="2600" b="1" dirty="0">
                <a:solidFill>
                  <a:srgbClr val="202020"/>
                </a:solidFill>
                <a:latin typeface="Times New Roman"/>
              </a:rPr>
              <a:t>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19072"/>
            <a:ext cx="7498079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Published accuracies (98–99%) are mostly intra-patient; inter-patient F1 is far lower.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Explanations are common, but rarely validated quantitatively.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Our framework adds region, deletion and noise-stability scores to standard classification metrics.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3756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30752"/>
            <a:ext cx="7498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Baseline CNN → CNN-LSTM + RR → DS1 / DS2 evaluation → Grad-CAM / SHAP with region and deletion checks → NSTDB noise tests → Streamlit demo.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939475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376672"/>
            <a:ext cx="74980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External test on INCART, automatic R-peak detection (Pan-Tompkins), MC-dropout uncertainty, full P/QRS/T delineation and clinician review of explanations.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3E2B0F-1BE0-BEFD-61CD-D208C8E4A1B6}"/>
              </a:ext>
            </a:extLst>
          </p:cNvPr>
          <p:cNvSpPr txBox="1"/>
          <p:nvPr/>
        </p:nvSpPr>
        <p:spPr>
          <a:xfrm>
            <a:off x="2360595" y="724504"/>
            <a:ext cx="4107581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902A3-03EC-E018-169F-15516CCD1D7F}"/>
              </a:ext>
            </a:extLst>
          </p:cNvPr>
          <p:cNvSpPr txBox="1"/>
          <p:nvPr/>
        </p:nvSpPr>
        <p:spPr>
          <a:xfrm>
            <a:off x="731519" y="1280160"/>
            <a:ext cx="7661709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[1] G. B. Moody and R. G. Mark, “The impact of the MIT-BIH Arrhythmia Database,” IEEE Eng. Med. Biol. Mag., vol. 20, no. 3, pp. 45–50, 2001.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[2] N. Alamatsaz et al., “A lightweight hybrid CNN-LSTM explainable model for ECG-based arrhythmia detection,” Biomed. Signal Process. Control, vol. 90, 2024.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[3] D. Tenepalli and T. M. Navamani, “Design of an explainable deep learning framework for ECG-based arrhythmia prediction,” IEEE Access, vol. 13, 2025.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[4] Q. Xiao et al., “Deep learning-based ECG arrhythmia classification: A systematic review,” Applied Sciences, vol. 13, 4964, 2023.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[5] G. A. L. Silva et al., “A systematic review of ECG arrhythmia classification: Adherence to standards, fair evaluation, and embedded feasibility,” arXiv:2503.07276, 2025.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[6] N. N. Kulkarni et al., “Recent advances in deep learning based arrhythmia classification using ECG and PPG signals: a systematic review,” Discover Computing, vol. 29, 2026.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[7] P. Pramkeaw et al., “Deep learning-based ECG arrhythmia detection system: A comparative study of CNN, RNN, and LSTM architectures,” IEEE ICCI, 2026.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[8] P. de Chazal, M. O’Dwyer and R. B. Reilly, “Automatic classification of heartbeats using ECG morphology and heartbeat interval features,” IEEE Trans. Biomed. Eng., vol. 51, no. 7, 2004.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[9] R. R. Selvaraju et al., “Grad-CAM: Visual explanations from deep networks via gradient-based localization,” Proc. IEEE ICCV, 2017.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[10] S. M. Lundberg and S.-I. Lee, “A unified approach to interpreting model predictions,” Proc. NeurIPS, 2017.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[11] G. B. Moody, W. Muldrow and R. G. Mark, “A noise stress test for arrhythmia detectors,” Computers in Cardiology, vol. 11, 1984.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[12] ANSI/AAMI EC57, “Testing and reporting performance results of cardiac rhythm and ST segment measurement algorithms,” AAMI, 2012.</a:t>
            </a:r>
          </a:p>
        </p:txBody>
      </p:sp>
    </p:spTree>
    <p:extLst>
      <p:ext uri="{BB962C8B-B14F-4D97-AF65-F5344CB8AC3E}">
        <p14:creationId xmlns:p14="http://schemas.microsoft.com/office/powerpoint/2010/main" val="1268978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Evaluation &amp; Explanation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Classification (per class)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474720" cy="10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Precision = TP / (TP + FP),  Recall = TP / (TP + FN),  F1 = 2PR / (P + R). Macro-F1 = mean F1 over N, S, V, F, so rare classes count equally.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2588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Confusion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38328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4 × 4 table of true vs predicted class. Shows the typical errors: S beats called N (similar shape) and F beats called N or 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Region share (are maps clinical?)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347472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R_w = Σ_{t∈w} |A(t)| / Σ_t |A(t)| for w ∈ {P, QRS, T}. Windows relative to R: P [−250, −80] ms, QRS [−50, +50] ms, T [+100, +400] 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Deletion test (are maps faithful?)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38328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Zero the 10% highest-importance samples: Δp = p_c(x) − p_c(x_del). Compare with 10% random samples; a faithful map gives a much larger drop.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Noise robustness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26280"/>
            <a:ext cx="3474720" cy="915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Add NSTDB muscle noise at SNR ∈ {18, 6, 0} dB and plot macro-F1 vs SNR for both models.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Explanation stability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52628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ρ = Pearson correlation of A(x_clean) and A(x_noisy); ρ → 1 means the explanation does not change with noise.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02020"/>
                </a:solidFill>
                <a:latin typeface="Calibri"/>
              </a:rPr>
              <a:t>All metrics are reported for both the intra-patient and inter-patient (DS1 → DS2) splits.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86646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1451</Words>
  <Application>Microsoft Office PowerPoint</Application>
  <PresentationFormat>On-screen Show (4:3)</PresentationFormat>
  <Paragraphs>150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Office Theme</vt:lpstr>
      <vt:lpstr>B. Tech. Project Mid-Semester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 Tech. Project Mid-Semester Evaluation</dc:title>
  <dc:subject/>
  <dc:creator/>
  <cp:keywords/>
  <dc:description>generated using python-pptx</dc:description>
  <cp:lastModifiedBy>Sidhesh Tavare</cp:lastModifiedBy>
  <cp:revision>10</cp:revision>
  <dcterms:created xsi:type="dcterms:W3CDTF">2013-01-27T09:14:16Z</dcterms:created>
  <dcterms:modified xsi:type="dcterms:W3CDTF">2026-10-06T09:37:31Z</dcterms:modified>
  <cp:category/>
</cp:coreProperties>
</file>