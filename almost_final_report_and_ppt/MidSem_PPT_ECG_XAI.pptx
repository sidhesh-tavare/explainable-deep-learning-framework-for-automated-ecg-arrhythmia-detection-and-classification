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68" r:id="rId2"/>
    <p:sldId id="257" r:id="rId3"/>
    <p:sldId id="263" r:id="rId4"/>
    <p:sldId id="260" r:id="rId5"/>
    <p:sldId id="258" r:id="rId6"/>
    <p:sldId id="259" r:id="rId7"/>
    <p:sldId id="261" r:id="rId8"/>
    <p:sldId id="264" r:id="rId10"/>
    <p:sldId id="265" r:id="rId11"/>
    <p:sldId id="262" r:id="rId9"/>
    <p:sldId id="267" r:id="rId12"/>
    <p:sldId id="269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nate Jain" userId="976167ac889b25c4" providerId="LiveId" clId="{250E833E-F64D-4ED8-940D-5AB3540D8995}"/>
    <pc:docChg chg="modSld">
      <pc:chgData name="Mannate Jain" userId="976167ac889b25c4" providerId="LiveId" clId="{250E833E-F64D-4ED8-940D-5AB3540D8995}" dt="2026-10-05T15:00:52.989" v="10" actId="20577"/>
      <pc:docMkLst>
        <pc:docMk/>
      </pc:docMkLst>
      <pc:sldChg chg="modSp mod">
        <pc:chgData name="Mannate Jain" userId="976167ac889b25c4" providerId="LiveId" clId="{250E833E-F64D-4ED8-940D-5AB3540D8995}" dt="2026-10-05T15:00:52.989" v="10" actId="20577"/>
        <pc:sldMkLst>
          <pc:docMk/>
          <pc:sldMk cId="1268978073" sldId="269"/>
        </pc:sldMkLst>
        <pc:spChg chg="mod">
          <ac:chgData name="Mannate Jain" userId="976167ac889b25c4" providerId="LiveId" clId="{250E833E-F64D-4ED8-940D-5AB3540D8995}" dt="2026-10-05T15:00:52.989" v="10" actId="20577"/>
          <ac:spMkLst>
            <pc:docMk/>
            <pc:sldMk cId="1268978073" sldId="269"/>
            <ac:spMk id="4" creationId="{353E2B0F-1BE0-BEFD-61CD-D208C8E4A1B6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6C836D-B34C-4DBC-9463-904D094D28A5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41D548-DD1F-4BC3-BDA6-C817C8D36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408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Good morning respected panel members. </a:t>
            </a:r>
            <a:r>
              <a:rPr dirty="0"/>
              <a:t>We are Bhoomi Singhal (2314168) and Archita Roy (2314165), working under the supervision of Dr. Koushik Guha.</a:t>
            </a:r>
          </a:p>
          <a:p>
            <a:r>
              <a:rPr dirty="0"/>
              <a:t>Our project is "Design of an Energy-Efficient EEG Seizure Detection System using Approximate Computing".</a:t>
            </a:r>
          </a:p>
          <a:p>
            <a:r>
              <a:rPr dirty="0"/>
              <a:t>In one line: we detect epileptic seizures from EEG signals with a machine-learning classifier (SVM), and we plan to build its hardware with APPROXIMATE adders and multipliers so that it consumes much less power - making it suitable for wearable, battery-powered seizure monitors.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384048"/>
            <a:ext cx="8229600" cy="548640"/>
          </a:xfrm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sz="2400" b="0" dirty="0">
                <a:latin typeface="Times New Roman"/>
              </a:rPr>
              <a:t>B. Tech. Project Mid-Semester Evaluation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1005840"/>
            <a:ext cx="8229600" cy="1234440"/>
          </a:xfrm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2600" b="1" dirty="0">
                <a:solidFill>
                  <a:schemeClr val="tx1"/>
                </a:solidFill>
                <a:latin typeface="Times New Roman"/>
              </a:rPr>
              <a:t>Explainable Deep Learning Framework for Automated ECG Arrhythmia Detection and Classification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57600" y="2395728"/>
            <a:ext cx="1828800" cy="4572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2606040"/>
            <a:ext cx="3657600" cy="11887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Presented by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7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Sidhesh Mahesh Tavare (2314037)</a:t>
            </a:r>
            <a:br>
              <a:rPr kumimoji="0" lang="en-IN" sz="17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IN" sz="17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Nikhil Kumar Singh (2314055)</a:t>
            </a:r>
            <a:endParaRPr kumimoji="0" sz="1700" b="1" i="0" u="none" strike="noStrike" kern="1200" cap="none" spc="0" normalizeH="0" baseline="0" noProof="0" dirty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4572000" y="2697480"/>
            <a:ext cx="0" cy="914400"/>
          </a:xfrm>
          <a:prstGeom prst="line">
            <a:avLst/>
          </a:prstGeom>
          <a:ln w="12700">
            <a:solidFill>
              <a:srgbClr val="BFC9D9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4663440" y="2606040"/>
            <a:ext cx="3657600" cy="11887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1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Supervisor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Dr. </a:t>
            </a: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Arnab Nandi</a:t>
            </a:r>
            <a:endParaRPr kumimoji="0" sz="1700" b="1" i="0" u="none" strike="noStrike" kern="1200" cap="none" spc="0" normalizeH="0" baseline="0" noProof="0" dirty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" name="Picture 9" descr="NIT Silchar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0" y="3977639"/>
            <a:ext cx="1143000" cy="1143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303520"/>
            <a:ext cx="82296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Department of Electronics and Communication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669280"/>
            <a:ext cx="822960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900" b="1" i="0" u="none" strike="noStrike" kern="1200" cap="none" spc="0" normalizeH="0" baseline="0" noProof="0">
                <a:ln>
                  <a:noFill/>
                </a:ln>
                <a:solidFill>
                  <a:srgbClr val="0020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National Institute of Technology Silchar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47688"/>
            <a:ext cx="9144000" cy="4572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6693408"/>
            <a:ext cx="9144000" cy="164592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11480" y="411480"/>
            <a:ext cx="7772400" cy="65248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dirty="0">
                <a:solidFill>
                  <a:srgbClr val="1F1F1F"/>
                </a:solidFill>
                <a:latin typeface="Times New Roman"/>
              </a:rPr>
              <a:t>Introduction</a:t>
            </a:r>
            <a:r>
              <a:rPr sz="2600" b="1" dirty="0">
                <a:solidFill>
                  <a:srgbClr val="1F1F1F"/>
                </a:solidFill>
                <a:latin typeface="Times New Roman"/>
              </a:rP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527048"/>
            <a:ext cx="3538728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dirty="0">
                <a:latin typeface="Calibri"/>
              </a:rPr>
              <a:t>Electrocardiogram (ECG)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892808"/>
            <a:ext cx="3538728" cy="61401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r>
              <a:rPr lang="en-US" sz="1250" dirty="0"/>
              <a:t>An ECG records the heart's electrical activity. Each beat shows a P wave, a QRS complex and a T wave; their shape and timing reveal rhythm problems.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1545491"/>
            <a:ext cx="3538728" cy="28315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b="1" dirty="0">
                <a:latin typeface="Calibri"/>
              </a:rPr>
              <a:t>Why automate?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1892808"/>
            <a:ext cx="3538728" cy="8987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r>
              <a:rPr lang="en-US" sz="1400" dirty="0"/>
              <a:t>Arrhythmias can be life-threatening, but checking a long Holter recording beat by beat by hand is slow and error-prone.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063240"/>
            <a:ext cx="7680960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u="sng" dirty="0">
                <a:latin typeface="Calibri"/>
              </a:rPr>
              <a:t>What the framework must deliver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566160"/>
            <a:ext cx="2148840" cy="28315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dirty="0">
                <a:latin typeface="Calibri"/>
              </a:rPr>
              <a:t>Accurate classification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968496"/>
            <a:ext cx="214884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dirty="0">
                <a:solidFill>
                  <a:srgbClr val="646464"/>
                </a:solidFill>
                <a:latin typeface="Calibri"/>
              </a:rPr>
              <a:t>per-class F1 on N, S, V, 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3547872"/>
            <a:ext cx="2148840" cy="28315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dirty="0">
                <a:latin typeface="Calibri"/>
              </a:rPr>
              <a:t>Explanation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3968496"/>
            <a:ext cx="214884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46464"/>
                </a:solidFill>
                <a:latin typeface="Calibri"/>
              </a:rPr>
              <a:t>why a beat was flagged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3547872"/>
            <a:ext cx="2148840" cy="28315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dirty="0">
                <a:latin typeface="Calibri"/>
              </a:rPr>
              <a:t>Robustness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23560" y="3968496"/>
            <a:ext cx="214884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46464"/>
                </a:solidFill>
                <a:latin typeface="Calibri"/>
              </a:rPr>
              <a:t>behaviour on noisy ECG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" y="4906089"/>
            <a:ext cx="7543800" cy="5293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dirty="0">
                <a:latin typeface="Calibri"/>
              </a:rPr>
              <a:t>The project builds a deep learning model that classifies ECG beats and shows, as a heatmap on the waveform, which part of the beat drove each decision.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0" y="57150"/>
            <a:ext cx="9144000" cy="2857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0" y="6800850"/>
            <a:ext cx="9144000" cy="5715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0" y="6772275"/>
            <a:ext cx="9144000" cy="28575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65760"/>
            <a:ext cx="77724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>
                <a:solidFill>
                  <a:srgbClr val="202020"/>
                </a:solidFill>
                <a:latin typeface="Times New Roman"/>
              </a:rPr>
              <a:t>ECG Beats &amp; Arrhythmia Classes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dirty="0">
                <a:solidFill>
                  <a:srgbClr val="202020"/>
                </a:solidFill>
                <a:latin typeface="Calibri"/>
              </a:rPr>
              <a:t>P, QRS and T waves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3474720" cy="10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0" dirty="0">
                <a:solidFill>
                  <a:srgbClr val="202020"/>
                </a:solidFill>
                <a:latin typeface="Calibri"/>
              </a:rPr>
              <a:t>P wave = atrial depolarisation, QRS complex = ventricular depolarisation, T wave = ventricular repolarisation. One beat lasts roughly 0.6–1 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325880"/>
            <a:ext cx="33832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dirty="0">
                <a:solidFill>
                  <a:srgbClr val="202020"/>
                </a:solidFill>
                <a:latin typeface="Calibri"/>
              </a:rPr>
              <a:t>RR interval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691640"/>
            <a:ext cx="3383280" cy="11003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0" dirty="0">
                <a:solidFill>
                  <a:srgbClr val="202020"/>
                </a:solidFill>
                <a:latin typeface="Calibri"/>
              </a:rPr>
              <a:t>Time between two successive R peaks. A premature beat arrives early (short previous RR, longer next RR), so timing carries as much information as shape.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743200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02020"/>
                </a:solidFill>
                <a:latin typeface="Calibri"/>
              </a:rPr>
              <a:t>N – Normal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108960"/>
            <a:ext cx="3474720" cy="7309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0" dirty="0">
                <a:solidFill>
                  <a:srgbClr val="202020"/>
                </a:solidFill>
                <a:latin typeface="Calibri"/>
              </a:rPr>
              <a:t>Normal and bundle-branch-block beats. The vast majority of beats, which makes the data strongly imbalanced.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743200"/>
            <a:ext cx="33832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dirty="0">
                <a:solidFill>
                  <a:srgbClr val="202020"/>
                </a:solidFill>
                <a:latin typeface="Calibri"/>
              </a:rPr>
              <a:t>S – Supraventricular ectopic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108960"/>
            <a:ext cx="3383280" cy="11003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0" dirty="0">
                <a:solidFill>
                  <a:srgbClr val="202020"/>
                </a:solidFill>
                <a:latin typeface="Calibri"/>
              </a:rPr>
              <a:t>Early beats starting in the atria. The QRS looks almost normal, so these are recognised mainly from the RR timing and the P wave.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160520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02020"/>
                </a:solidFill>
                <a:latin typeface="Calibri"/>
              </a:rPr>
              <a:t>V – Ventricular ectopic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526280"/>
            <a:ext cx="3474720" cy="9156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0" dirty="0">
                <a:solidFill>
                  <a:srgbClr val="202020"/>
                </a:solidFill>
                <a:latin typeface="Calibri"/>
              </a:rPr>
              <a:t>Beats starting in the ventricles: wide, abnormal QRS complex, usually with no P wave in front of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160520"/>
            <a:ext cx="33832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02020"/>
                </a:solidFill>
                <a:latin typeface="Calibri"/>
              </a:rPr>
              <a:t>F – Fusion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526280"/>
            <a:ext cx="33832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dirty="0">
                <a:solidFill>
                  <a:srgbClr val="202020"/>
                </a:solidFill>
                <a:latin typeface="Calibri"/>
              </a:rPr>
              <a:t>A mix of a normal and a ventricular beat. The rarest class and the hardest one to classify.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62356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202020"/>
                </a:solidFill>
                <a:latin typeface="Calibri"/>
              </a:rPr>
              <a:t>Classes follow the AAMI EC57 standard, so our results can be compared fairly with other MIT-BIH studies.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57150"/>
            <a:ext cx="9144000" cy="2857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0" y="6800850"/>
            <a:ext cx="9144000" cy="5715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0" y="6772275"/>
            <a:ext cx="9144000" cy="28575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686646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65760"/>
            <a:ext cx="77724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>
                <a:solidFill>
                  <a:srgbClr val="202020"/>
                </a:solidFill>
                <a:latin typeface="Times New Roman"/>
              </a:rPr>
              <a:t>Literature Review &amp; Research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768096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dirty="0">
                <a:solidFill>
                  <a:srgbClr val="202020"/>
                </a:solidFill>
                <a:latin typeface="Calibri"/>
              </a:rPr>
              <a:t>37 papers (2020–2026) on deep learning and XAI for ECG arrhythmia classification were reviewed.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20574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02020"/>
                </a:solidFill>
                <a:latin typeface="Calibri"/>
              </a:rPr>
              <a:t>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88920" y="1828800"/>
            <a:ext cx="24231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02020"/>
                </a:solidFill>
                <a:latin typeface="Calibri"/>
              </a:rPr>
              <a:t>Existing direction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40280"/>
            <a:ext cx="205740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202020"/>
                </a:solidFill>
                <a:latin typeface="Calibri"/>
              </a:rPr>
              <a:t>Deep learning models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2240280"/>
            <a:ext cx="53949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dirty="0">
                <a:solidFill>
                  <a:srgbClr val="202020"/>
                </a:solidFill>
                <a:latin typeface="Calibri"/>
              </a:rPr>
              <a:t>1D CNN, CNN-LSTM and transformer models report 98–99% accuracy on MIT-BIH [2], [7]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834640"/>
            <a:ext cx="205740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202020"/>
                </a:solidFill>
                <a:latin typeface="Calibri"/>
              </a:rPr>
              <a:t>Evaluation protocol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2834640"/>
            <a:ext cx="53949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dirty="0">
                <a:solidFill>
                  <a:srgbClr val="202020"/>
                </a:solidFill>
                <a:latin typeface="Calibri"/>
              </a:rPr>
              <a:t>Only ~30% use the inter-patient split; F1 falls 95.5% → 83.9% on unseen patients [4], [5]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429000"/>
            <a:ext cx="205740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202020"/>
                </a:solidFill>
                <a:latin typeface="Calibri"/>
              </a:rPr>
              <a:t>Explainability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3429000"/>
            <a:ext cx="5394960" cy="353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dirty="0">
                <a:solidFill>
                  <a:srgbClr val="202020"/>
                </a:solidFill>
                <a:latin typeface="Calibri"/>
              </a:rPr>
              <a:t>SHAP / Grad-CAM shown as example heatmaps; &lt; 10% of studies validate them [2], [3], [6]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633472"/>
            <a:ext cx="7726679" cy="7315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2920" y="3227832"/>
            <a:ext cx="7726679" cy="7315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2920" y="3822191"/>
            <a:ext cx="7726679" cy="7315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4160520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02020"/>
                </a:solidFill>
                <a:latin typeface="Calibri"/>
              </a:rPr>
              <a:t>Research gap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526280"/>
            <a:ext cx="34747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02020"/>
                </a:solidFill>
                <a:latin typeface="Calibri"/>
              </a:rPr>
              <a:t>Explanations are rarely checked (do they point at the right waves? are they faithful?) and almost never tested on noisy ECG.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160520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02020"/>
                </a:solidFill>
                <a:latin typeface="Calibri"/>
              </a:rPr>
              <a:t>Our project position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526280"/>
            <a:ext cx="34747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02020"/>
                </a:solidFill>
                <a:latin typeface="Calibri"/>
              </a:rPr>
              <a:t>Build a CNN / CNN-LSTM beat classifier, explain it with Grad-CAM and SHAP, and measure whether those explanations make sense.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0" y="57150"/>
            <a:ext cx="9144000" cy="2857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0" y="6800850"/>
            <a:ext cx="9144000" cy="5715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0" y="6772275"/>
            <a:ext cx="9144000" cy="28575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11480" y="411480"/>
            <a:ext cx="777240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dirty="0">
                <a:solidFill>
                  <a:srgbClr val="1F1F1F"/>
                </a:solidFill>
                <a:latin typeface="Times New Roman"/>
              </a:rPr>
              <a:t>Problem Statement &amp; Motivation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7680960" cy="77559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dirty="0">
                <a:latin typeface="Calibri"/>
              </a:rPr>
              <a:t>Develop an explainable deep learning framework that classifies single ECG beats into the AAMI classes N, S, V and F and shows which part of the waveform drove each prediction.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148840"/>
            <a:ext cx="73152" cy="1508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" y="2258568"/>
            <a:ext cx="1572768" cy="2369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dirty="0">
                <a:latin typeface="Calibri"/>
              </a:rPr>
              <a:t>Black-box models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624328"/>
            <a:ext cx="1572768" cy="94183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dirty="0">
                <a:solidFill>
                  <a:srgbClr val="1F1F1F"/>
                </a:solidFill>
                <a:latin typeface="Calibri"/>
              </a:rPr>
              <a:t>High accuracy, but no reason is given for a decision, so clinicians find it hard to trust.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68880" y="2148840"/>
            <a:ext cx="73152" cy="150876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633472" y="2258568"/>
            <a:ext cx="1572768" cy="2369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dirty="0">
                <a:latin typeface="Calibri"/>
              </a:rPr>
              <a:t>Class imbalance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33472" y="2624328"/>
            <a:ext cx="1572768" cy="94183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F1F1F"/>
                </a:solidFill>
                <a:latin typeface="Calibri"/>
              </a:rPr>
              <a:t>Normal beats dominate; rare S and F beats get poor recall.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34840" y="2148840"/>
            <a:ext cx="73152" cy="1508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99431" y="2258568"/>
            <a:ext cx="1572768" cy="2369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dirty="0">
                <a:latin typeface="Calibri"/>
              </a:rPr>
              <a:t>Patient leakage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9431" y="2624328"/>
            <a:ext cx="1572768" cy="94183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F1F1F"/>
                </a:solidFill>
                <a:latin typeface="Calibri"/>
              </a:rPr>
              <a:t>Same patient in train and test sets inflates the reported scores.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2148840"/>
            <a:ext cx="73152" cy="15087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65392" y="2258568"/>
            <a:ext cx="1527048" cy="2369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dirty="0">
                <a:latin typeface="Calibri"/>
              </a:rPr>
              <a:t>Noisy signals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2624328"/>
            <a:ext cx="1527048" cy="94183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F1F1F"/>
                </a:solidFill>
                <a:latin typeface="Calibri"/>
              </a:rPr>
              <a:t>Real ECGs contain muscle and motion artefacts; most models are tested on clean data only.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206239"/>
            <a:ext cx="7543800" cy="3293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dirty="0">
                <a:latin typeface="Times New Roman"/>
              </a:rPr>
              <a:t>Core pipeline:  preprocess  →  classify  →  explain  →  validate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800600"/>
            <a:ext cx="7543800" cy="6832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dirty="0">
                <a:solidFill>
                  <a:srgbClr val="1F1F1F"/>
                </a:solidFill>
                <a:latin typeface="Calibri"/>
              </a:rPr>
              <a:t>Motivation</a:t>
            </a:r>
          </a:p>
          <a:p>
            <a:pPr algn="l">
              <a:lnSpc>
                <a:spcPct val="100000"/>
              </a:lnSpc>
            </a:pPr>
            <a:r>
              <a:rPr sz="1300" b="0" dirty="0">
                <a:solidFill>
                  <a:srgbClr val="1F1F1F"/>
                </a:solidFill>
                <a:latin typeface="Calibri"/>
              </a:rPr>
              <a:t>• Screening long ECG recordings for arrhythmias needs automation.</a:t>
            </a:r>
          </a:p>
          <a:p>
            <a:pPr algn="l">
              <a:lnSpc>
                <a:spcPct val="100000"/>
              </a:lnSpc>
            </a:pPr>
            <a:r>
              <a:rPr sz="1300" b="0" dirty="0">
                <a:solidFill>
                  <a:srgbClr val="1F1F1F"/>
                </a:solidFill>
                <a:latin typeface="Calibri"/>
              </a:rPr>
              <a:t>• A model that shows why it flagged a beat is easier to verify and trust.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0" y="57150"/>
            <a:ext cx="9144000" cy="2857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0" y="6800850"/>
            <a:ext cx="9144000" cy="5715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0" y="6772275"/>
            <a:ext cx="9144000" cy="28575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11480" y="411480"/>
            <a:ext cx="7772400" cy="4370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dirty="0">
                <a:solidFill>
                  <a:srgbClr val="1F1F1F"/>
                </a:solidFill>
                <a:latin typeface="Times New Roman"/>
              </a:rPr>
              <a:t>Project 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566928" cy="2369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dirty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1335024"/>
            <a:ext cx="2743200" cy="28315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dirty="0">
                <a:solidFill>
                  <a:srgbClr val="1F1F1F"/>
                </a:solidFill>
                <a:latin typeface="Calibri"/>
              </a:rPr>
              <a:t>Preprocess MIT-BIH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335024"/>
            <a:ext cx="475488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dirty="0">
                <a:solidFill>
                  <a:srgbClr val="1F1F1F"/>
                </a:solidFill>
                <a:latin typeface="Calibri"/>
              </a:rPr>
              <a:t>Filter the signal, cut beats around R peaks, add RR-interval features and map labels to N, S, V, F.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377440"/>
            <a:ext cx="566928" cy="2369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2238804"/>
            <a:ext cx="2743200" cy="5293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dirty="0">
                <a:solidFill>
                  <a:srgbClr val="1F1F1F"/>
                </a:solidFill>
                <a:latin typeface="Calibri"/>
              </a:rPr>
              <a:t>Baseline &amp; proposed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249424"/>
            <a:ext cx="4754880" cy="21390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dirty="0">
                <a:solidFill>
                  <a:srgbClr val="1F1F1F"/>
                </a:solidFill>
                <a:latin typeface="Calibri"/>
              </a:rPr>
              <a:t>Train a 1D CNN baseline and a CNN-LSTM + RR model, with class-weighted loss for imbalance.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291840"/>
            <a:ext cx="566928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1872" y="3243668"/>
            <a:ext cx="2743200" cy="28315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dirty="0">
                <a:solidFill>
                  <a:srgbClr val="1F1F1F"/>
                </a:solidFill>
                <a:latin typeface="Calibri"/>
              </a:rPr>
              <a:t>Fair evaluation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163824"/>
            <a:ext cx="475488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F1F1F"/>
                </a:solidFill>
                <a:latin typeface="Calibri"/>
              </a:rPr>
              <a:t>Intra-patient (random 80/20) and inter-patient (DS1/DS2) splits; per-class precision, recall, F1.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206240"/>
            <a:ext cx="566928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1872" y="4078224"/>
            <a:ext cx="2743200" cy="28315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dirty="0">
                <a:solidFill>
                  <a:srgbClr val="1F1F1F"/>
                </a:solidFill>
                <a:latin typeface="Calibri"/>
              </a:rPr>
              <a:t>Explain predictions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078224"/>
            <a:ext cx="475488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F1F1F"/>
                </a:solidFill>
                <a:latin typeface="Calibri"/>
              </a:rPr>
              <a:t>Grad-CAM and SHAP heatmaps; check importance on P/QRS/T and run a deletion test.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120640"/>
            <a:ext cx="566928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61872" y="4992624"/>
            <a:ext cx="2743200" cy="5293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dirty="0">
                <a:solidFill>
                  <a:srgbClr val="1F1F1F"/>
                </a:solidFill>
                <a:latin typeface="Calibri"/>
              </a:rPr>
              <a:t>Robustness and demo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4992624"/>
            <a:ext cx="475488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F1F1F"/>
                </a:solidFill>
                <a:latin typeface="Calibri"/>
              </a:rPr>
              <a:t>Add real muscle noise (NSTDB) at 18, 6, 0 dB SNR; small Streamlit demo of prediction + heatmap.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0" y="57150"/>
            <a:ext cx="9144000" cy="2857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0" y="6800850"/>
            <a:ext cx="9144000" cy="5715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0" y="6772275"/>
            <a:ext cx="9144000" cy="28575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65760"/>
            <a:ext cx="777240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 dirty="0">
                <a:solidFill>
                  <a:srgbClr val="202020"/>
                </a:solidFill>
                <a:latin typeface="Times New Roman"/>
              </a:rPr>
              <a:t>Dataset: MIT-BIH Arrhythmia Database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76809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202020"/>
                </a:solidFill>
                <a:latin typeface="Calibri"/>
              </a:rPr>
              <a:t>MIT-BIH Arrhythmia Database (PhysioNet)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373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96969"/>
                </a:solidFill>
                <a:latin typeface="Calibri"/>
              </a:rPr>
              <a:t>Moody &amp; Mark [1] • 48 half-hour two-lead recordings • 47 subjects • 360 Hz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31720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02020"/>
                </a:solidFill>
                <a:latin typeface="Calibri"/>
              </a:rPr>
              <a:t>Data used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697480"/>
            <a:ext cx="347472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02020"/>
                </a:solidFill>
                <a:latin typeface="Calibri"/>
              </a:rPr>
              <a:t>Lead MLII only. The 4 paced records (102, 104, 107, 217) are removed. Every beat has a cardiologist label and R-peak position.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331720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02020"/>
                </a:solidFill>
                <a:latin typeface="Calibri"/>
              </a:rPr>
              <a:t>Two evaluation splits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697480"/>
            <a:ext cx="347472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02020"/>
                </a:solidFill>
                <a:latin typeface="Calibri"/>
              </a:rPr>
              <a:t>Intra-patient: random 80/20 split of beats. Inter-patient: DS1 (22 records) to train, DS2 (22 records) to test, so no patient appears in both [8].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160520"/>
            <a:ext cx="73152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02020"/>
                </a:solidFill>
                <a:latin typeface="Calibri"/>
              </a:rPr>
              <a:t>Noise data: MIT-BIH Noise Stress Test Database (NSTDB)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572000"/>
            <a:ext cx="7543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02020"/>
                </a:solidFill>
                <a:latin typeface="Calibri"/>
              </a:rPr>
              <a:t>Real muscle-artefact noise from NSTDB will be added to the test beats at controlled SNRs to check how accuracy and explanations hold up.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57150"/>
            <a:ext cx="9144000" cy="2857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6800850"/>
            <a:ext cx="9144000" cy="5715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6772275"/>
            <a:ext cx="9144000" cy="28575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65760"/>
            <a:ext cx="77724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>
                <a:solidFill>
                  <a:srgbClr val="202020"/>
                </a:solidFill>
                <a:latin typeface="Times New Roman"/>
              </a:rPr>
              <a:t>Current Work: Baseline CNN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417320"/>
            <a:ext cx="33832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02020"/>
                </a:solidFill>
                <a:latin typeface="Calibri"/>
              </a:rPr>
              <a:t>Completed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810512"/>
            <a:ext cx="338328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02020"/>
                </a:solidFill>
                <a:latin typeface="Calibri"/>
              </a:rPr>
              <a:t>• Literature review of 37 papers</a:t>
            </a:r>
          </a:p>
          <a:p>
            <a:pPr algn="l"/>
            <a:r>
              <a:rPr sz="1200" b="0">
                <a:solidFill>
                  <a:srgbClr val="202020"/>
                </a:solidFill>
                <a:latin typeface="Calibri"/>
              </a:rPr>
              <a:t>• Framework and pipeline design</a:t>
            </a:r>
          </a:p>
          <a:p>
            <a:pPr algn="l"/>
            <a:r>
              <a:rPr sz="1200" b="0">
                <a:solidFill>
                  <a:srgbClr val="202020"/>
                </a:solidFill>
                <a:latin typeface="Calibri"/>
              </a:rPr>
              <a:t>• Dataset, classes and splits fixed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063240"/>
            <a:ext cx="33832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02020"/>
                </a:solidFill>
                <a:latin typeface="Calibri"/>
              </a:rPr>
              <a:t>In progress: baseline 1D CNN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3456432"/>
            <a:ext cx="3429000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02020"/>
                </a:solidFill>
                <a:latin typeface="Calibri"/>
              </a:rPr>
              <a:t>• Input: 252-sample MIT-BIH beats</a:t>
            </a:r>
          </a:p>
          <a:p>
            <a:pPr algn="l"/>
            <a:r>
              <a:rPr sz="1200" b="0">
                <a:solidFill>
                  <a:srgbClr val="202020"/>
                </a:solidFill>
                <a:latin typeface="Calibri"/>
              </a:rPr>
              <a:t>• 4 classes: N, S, V, F</a:t>
            </a:r>
          </a:p>
          <a:p>
            <a:pPr algn="l"/>
            <a:r>
              <a:rPr sz="1200" b="0">
                <a:solidFill>
                  <a:srgbClr val="202020"/>
                </a:solidFill>
                <a:latin typeface="Calibri"/>
              </a:rPr>
              <a:t>• Intra-patient 80/20 split</a:t>
            </a:r>
          </a:p>
          <a:p>
            <a:pPr algn="l"/>
            <a:r>
              <a:rPr sz="1200" b="0">
                <a:solidFill>
                  <a:srgbClr val="202020"/>
                </a:solidFill>
                <a:latin typeface="Calibri"/>
              </a:rPr>
              <a:t>• Class-weighted cross-entropy</a:t>
            </a:r>
          </a:p>
          <a:p>
            <a:pPr algn="l"/>
            <a:r>
              <a:rPr sz="1200" b="0">
                <a:solidFill>
                  <a:srgbClr val="202020"/>
                </a:solidFill>
                <a:latin typeface="Calibri"/>
              </a:rPr>
              <a:t>• Output: confusion matrix + per-class F1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5212080"/>
            <a:ext cx="3429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02020"/>
                </a:solidFill>
                <a:latin typeface="Calibri"/>
              </a:rPr>
              <a:t>The baseline gives the reference scores that the CNN-LSTM + RR model must beat.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57150"/>
            <a:ext cx="9144000" cy="2857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6800850"/>
            <a:ext cx="9144000" cy="5715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6772275"/>
            <a:ext cx="9144000" cy="28575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sults placeholder"/>
          <p:cNvSpPr/>
          <p:nvPr/>
        </p:nvSpPr>
        <p:spPr>
          <a:xfrm>
            <a:off x="411480" y="1417320"/>
            <a:ext cx="3840480" cy="4206240"/>
          </a:xfrm>
          <a:prstGeom prst="rect">
            <a:avLst/>
          </a:prstGeom>
          <a:solidFill>
            <a:srgbClr val="FAFAFA"/>
          </a:solidFill>
          <a:ln w="1587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595959"/>
                </a:solidFill>
                <a:latin typeface="Calibri"/>
              </a:rPr>
              <a:t>Baseline CNN results</a:t>
            </a:r>
          </a:p>
          <a:p>
            <a:pPr algn="ctr"/>
            <a:r>
              <a:rPr sz="1200" b="0" i="0">
                <a:solidFill>
                  <a:srgbClr val="595959"/>
                </a:solidFill>
                <a:latin typeface="Calibri"/>
              </a:rPr>
              <a:t>Confusion matrix and per-class precision / recall / F1</a:t>
            </a:r>
          </a:p>
          <a:p>
            <a:pPr algn="ctr"/>
            <a:r>
              <a:rPr sz="1200" b="0" i="1">
                <a:solidFill>
                  <a:srgbClr val="595959"/>
                </a:solidFill>
                <a:latin typeface="Calibri"/>
              </a:rPr>
              <a:t>(to be attached after training)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65760"/>
            <a:ext cx="777240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3200" b="1" dirty="0">
                <a:solidFill>
                  <a:srgbClr val="202020"/>
                </a:solidFill>
                <a:latin typeface="Times New Roman"/>
              </a:rPr>
              <a:t>Methodology</a:t>
            </a:r>
          </a:p>
          <a:p>
            <a:pPr algn="ctr"/>
            <a:endParaRPr sz="3200" b="1" dirty="0">
              <a:solidFill>
                <a:srgbClr val="202020"/>
              </a:solidFill>
              <a:latin typeface="Times New Roman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353312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202020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167335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202020"/>
                </a:solidFill>
                <a:latin typeface="Calibri"/>
              </a:rPr>
              <a:t>Raw ECG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2029968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696969"/>
                </a:solidFill>
                <a:latin typeface="Calibri"/>
              </a:rPr>
              <a:t>MLII, 360 Hz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1737360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202020"/>
                </a:solidFill>
                <a:latin typeface="Times New Roman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27632" y="1353312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202020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67335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202020"/>
                </a:solidFill>
                <a:latin typeface="Calibri"/>
              </a:rPr>
              <a:t>Filter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2" y="2029968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696969"/>
                </a:solidFill>
                <a:latin typeface="Calibri"/>
              </a:rPr>
              <a:t>0.5–40 Hz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1737360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202020"/>
                </a:solidFill>
                <a:latin typeface="Times New Roman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61488" y="1353312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202020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96896" y="167335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202020"/>
                </a:solidFill>
                <a:latin typeface="Calibri"/>
              </a:rPr>
              <a:t>Segment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32888" y="2029968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696969"/>
                </a:solidFill>
                <a:latin typeface="Calibri"/>
              </a:rPr>
              <a:t>252-sample beats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19856" y="1737360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202020"/>
                </a:solidFill>
                <a:latin typeface="Times New Roman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13632" y="1353312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202020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40" y="167335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202020"/>
                </a:solidFill>
                <a:latin typeface="Calibri"/>
              </a:rPr>
              <a:t>RR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85032" y="2029968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696969"/>
                </a:solidFill>
                <a:latin typeface="Calibri"/>
              </a:rPr>
              <a:t>features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1737360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202020"/>
                </a:solidFill>
                <a:latin typeface="Times New Roman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56632" y="1353312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202020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167335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202020"/>
                </a:solidFill>
                <a:latin typeface="Calibri"/>
              </a:rPr>
              <a:t>Classify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28032" y="2029968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696969"/>
                </a:solidFill>
                <a:latin typeface="Calibri"/>
              </a:rPr>
              <a:t>CNN / CNN-LSTM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1737360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202020"/>
                </a:solidFill>
                <a:latin typeface="Times New Roman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1353312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202020"/>
                </a:solidFill>
                <a:latin typeface="Calibr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07608" y="167335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202020"/>
                </a:solidFill>
                <a:latin typeface="Calibri"/>
              </a:rPr>
              <a:t>Predict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2029968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696969"/>
                </a:solidFill>
                <a:latin typeface="Calibri"/>
              </a:rPr>
              <a:t>N, S, V, 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0568" y="1737360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202020"/>
                </a:solidFill>
                <a:latin typeface="Times New Roman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80" y="1353312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202020"/>
                </a:solidFill>
                <a:latin typeface="Calibri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04888" y="167335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202020"/>
                </a:solidFill>
                <a:latin typeface="Calibri"/>
              </a:rPr>
              <a:t>Explain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2029968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696969"/>
                </a:solidFill>
                <a:latin typeface="Calibri"/>
              </a:rPr>
              <a:t>Grad-CAM, SHAP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2788920"/>
            <a:ext cx="70408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202020"/>
                </a:solidFill>
                <a:latin typeface="Calibri"/>
              </a:rPr>
              <a:t>Steps 1–4 turn the raw record into fixed-length beats plus timing features; steps 5–7 classify each beat and explain the decision.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3794760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02020"/>
                </a:solidFill>
                <a:latin typeface="Calibri"/>
              </a:rPr>
              <a:t>Preprocessing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4160520"/>
            <a:ext cx="34747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02020"/>
                </a:solidFill>
                <a:latin typeface="Calibri"/>
              </a:rPr>
              <a:t>Band-pass filter (0.5–40 Hz) removes baseline wander and power-line noise. A 252-sample (0.7 s) window around each R peak, z-score normalised.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3794760"/>
            <a:ext cx="33832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02020"/>
                </a:solidFill>
                <a:latin typeface="Calibri"/>
              </a:rPr>
              <a:t>Imbalance &amp; metrics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4160520"/>
            <a:ext cx="33832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02020"/>
                </a:solidFill>
                <a:latin typeface="Calibri"/>
              </a:rPr>
              <a:t>Class-weighted cross-entropy loss. Results reported as confusion matrix, per-class precision / recall / F1 and macro-F1, since accuracy alone hides rare classes.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0" y="57150"/>
            <a:ext cx="9144000" cy="2857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0" y="6800850"/>
            <a:ext cx="9144000" cy="5715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0" y="6772275"/>
            <a:ext cx="9144000" cy="28575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65760"/>
            <a:ext cx="77724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>
                <a:solidFill>
                  <a:srgbClr val="202020"/>
                </a:solidFill>
                <a:latin typeface="Times New Roman"/>
              </a:rPr>
              <a:t>Models &amp; Explainability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43400" y="1417320"/>
            <a:ext cx="36576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dirty="0">
                <a:solidFill>
                  <a:srgbClr val="202020"/>
                </a:solidFill>
                <a:latin typeface="Calibri"/>
              </a:rPr>
              <a:t>Baseline: 1D CNN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1810512"/>
            <a:ext cx="365760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dirty="0">
                <a:solidFill>
                  <a:srgbClr val="202020"/>
                </a:solidFill>
                <a:latin typeface="Calibri"/>
              </a:rPr>
              <a:t>• Conv → BatchNorm → ReLU → MaxPool blocks</a:t>
            </a:r>
          </a:p>
          <a:p>
            <a:pPr algn="l"/>
            <a:r>
              <a:rPr sz="1200" b="0" dirty="0">
                <a:solidFill>
                  <a:srgbClr val="202020"/>
                </a:solidFill>
                <a:latin typeface="Calibri"/>
              </a:rPr>
              <a:t>• Global pooling → dense → softmax (4 classes)</a:t>
            </a:r>
          </a:p>
          <a:p>
            <a:pPr algn="l"/>
            <a:r>
              <a:rPr sz="1200" b="0" dirty="0">
                <a:solidFill>
                  <a:srgbClr val="202020"/>
                </a:solidFill>
                <a:latin typeface="Calibri"/>
              </a:rPr>
              <a:t>• Learns the local shape of the QRS, P and T waves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3108960"/>
            <a:ext cx="36576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02020"/>
                </a:solidFill>
                <a:latin typeface="Calibri"/>
              </a:rPr>
              <a:t>Proposed: CNN-LSTM + RR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3493008"/>
            <a:ext cx="3657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dirty="0">
                <a:solidFill>
                  <a:srgbClr val="202020"/>
                </a:solidFill>
                <a:latin typeface="Calibri"/>
              </a:rPr>
              <a:t>CNN extracts wave shape, the LSTM models the order P → QRS → T, and the previous / next RR intervals are added before the classifier (helps S beats).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4480560"/>
            <a:ext cx="36576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02020"/>
                </a:solidFill>
                <a:latin typeface="Calibri"/>
              </a:rPr>
              <a:t>Explainability (Captum)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4864608"/>
            <a:ext cx="365760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1200" b="0" dirty="0">
                <a:solidFill>
                  <a:srgbClr val="202020"/>
                </a:solidFill>
                <a:latin typeface="Calibri"/>
              </a:rPr>
              <a:t>Grad-CAM: last conv layer, gradient-weighted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1200" b="0" dirty="0">
                <a:solidFill>
                  <a:srgbClr val="202020"/>
                </a:solidFill>
                <a:latin typeface="Calibri"/>
              </a:rPr>
              <a:t>Gradient SHAP: contribution of each sample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1200" b="0" dirty="0">
                <a:solidFill>
                  <a:srgbClr val="202020"/>
                </a:solidFill>
                <a:latin typeface="Calibri"/>
              </a:rPr>
              <a:t>Checks: % importance on P / QRS / T, deletion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257800"/>
            <a:ext cx="34290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>
                <a:solidFill>
                  <a:srgbClr val="696969"/>
                </a:solidFill>
                <a:latin typeface="Calibri"/>
              </a:rPr>
              <a:t>Expected: V beats → heatmap on the wide QRS; S beats → more weight on P wave and RR timing.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57150"/>
            <a:ext cx="9144000" cy="2857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6800850"/>
            <a:ext cx="9144000" cy="5715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6772275"/>
            <a:ext cx="9144000" cy="28575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11480" y="1417320"/>
            <a:ext cx="2194560" cy="457200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ECG beat (252 samples)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2148840"/>
            <a:ext cx="219456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1100" b="1">
                <a:solidFill>
                  <a:srgbClr val="202020"/>
                </a:solidFill>
                <a:latin typeface="Calibri"/>
              </a:rPr>
              <a:t>Conv1D blocks ×3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2971800"/>
            <a:ext cx="2194560" cy="457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LSTM (proposed only)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3703320"/>
            <a:ext cx="2194560" cy="457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Concat → Dense → Softmax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4434840"/>
            <a:ext cx="2194560" cy="457200"/>
          </a:xfrm>
          <a:prstGeom prst="roundRect">
            <a:avLst>
              <a:gd name="adj" fmla="val 15000"/>
            </a:avLst>
          </a:prstGeom>
          <a:solidFill>
            <a:srgbClr val="1F3864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N / S / V / F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88920" y="3703320"/>
            <a:ext cx="1097280" cy="457200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1000" b="0">
                <a:solidFill>
                  <a:srgbClr val="202020"/>
                </a:solidFill>
                <a:latin typeface="Calibri"/>
              </a:rPr>
              <a:t>RR features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88920" y="2148840"/>
            <a:ext cx="109728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1000" b="1">
                <a:solidFill>
                  <a:srgbClr val="C55A11"/>
                </a:solidFill>
                <a:latin typeface="Calibri"/>
              </a:rPr>
              <a:t>Heatmap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508760" y="1874519"/>
            <a:ext cx="0" cy="274321"/>
          </a:xfrm>
          <a:prstGeom prst="line">
            <a:avLst/>
          </a:prstGeom>
          <a:ln w="15875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508760" y="2697480"/>
            <a:ext cx="0" cy="274320"/>
          </a:xfrm>
          <a:prstGeom prst="line">
            <a:avLst/>
          </a:prstGeom>
          <a:ln w="15875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508760" y="3429000"/>
            <a:ext cx="0" cy="274320"/>
          </a:xfrm>
          <a:prstGeom prst="line">
            <a:avLst/>
          </a:prstGeom>
          <a:ln w="15875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508760" y="4160520"/>
            <a:ext cx="0" cy="274320"/>
          </a:xfrm>
          <a:prstGeom prst="line">
            <a:avLst/>
          </a:prstGeom>
          <a:ln w="15875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2606040" y="3931920"/>
            <a:ext cx="182880" cy="0"/>
          </a:xfrm>
          <a:prstGeom prst="line">
            <a:avLst/>
          </a:prstGeom>
          <a:ln w="15875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606040" y="2423160"/>
            <a:ext cx="182880" cy="0"/>
          </a:xfrm>
          <a:prstGeom prst="line">
            <a:avLst/>
          </a:prstGeom>
          <a:ln w="15875">
            <a:solidFill>
              <a:srgbClr val="C55A1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697480" y="272491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i="1">
                <a:solidFill>
                  <a:srgbClr val="C55A11"/>
                </a:solidFill>
                <a:latin typeface="Calibri"/>
              </a:rPr>
              <a:t>Grad-CAM / SHAP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65760"/>
            <a:ext cx="777240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 dirty="0">
                <a:solidFill>
                  <a:srgbClr val="202020"/>
                </a:solidFill>
                <a:latin typeface="Times New Roman"/>
              </a:rPr>
              <a:t>Conclusion</a:t>
            </a:r>
            <a:r>
              <a:rPr lang="en-US" sz="2600" b="1" dirty="0">
                <a:solidFill>
                  <a:srgbClr val="202020"/>
                </a:solidFill>
                <a:latin typeface="Times New Roman"/>
              </a:rPr>
              <a:t> And</a:t>
            </a:r>
            <a:r>
              <a:rPr sz="2600" b="1" dirty="0">
                <a:solidFill>
                  <a:srgbClr val="202020"/>
                </a:solidFill>
                <a:latin typeface="Times New Roman"/>
              </a:rPr>
              <a:t>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02020"/>
                </a:solidFill>
                <a:latin typeface="Calibri"/>
              </a:rPr>
              <a:t>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719072"/>
            <a:ext cx="347472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dirty="0">
                <a:solidFill>
                  <a:srgbClr val="202020"/>
                </a:solidFill>
                <a:latin typeface="Calibri"/>
              </a:rPr>
              <a:t>• Deep learning reaches high accuracy on MIT-BIH, but explanations are rarely validated.</a:t>
            </a:r>
          </a:p>
          <a:p>
            <a:pPr algn="l"/>
            <a:r>
              <a:rPr sz="1200" b="0" dirty="0">
                <a:solidFill>
                  <a:srgbClr val="202020"/>
                </a:solidFill>
                <a:latin typeface="Calibri"/>
              </a:rPr>
              <a:t>• Inter-patient testing is needed for honest results.</a:t>
            </a:r>
          </a:p>
          <a:p>
            <a:pPr algn="l"/>
            <a:r>
              <a:rPr sz="1200" b="0" dirty="0">
                <a:solidFill>
                  <a:srgbClr val="202020"/>
                </a:solidFill>
                <a:latin typeface="Calibri"/>
              </a:rPr>
              <a:t>• Our framework joins classification, explanation and checks of the explanation.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337560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02020"/>
                </a:solidFill>
                <a:latin typeface="Calibri"/>
              </a:rPr>
              <a:t>Next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730752"/>
            <a:ext cx="34747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dirty="0">
                <a:solidFill>
                  <a:srgbClr val="202020"/>
                </a:solidFill>
                <a:latin typeface="Calibri"/>
              </a:rPr>
              <a:t>Baseline CNN → CNN-LSTM + RR → DS1/DS2 evaluation → Grad-CAM / SHAP with region and deletion checks → noise robustness → demo.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939475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02020"/>
                </a:solidFill>
                <a:latin typeface="Calibri"/>
              </a:rPr>
              <a:t>Future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376672"/>
            <a:ext cx="34747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dirty="0">
                <a:solidFill>
                  <a:srgbClr val="202020"/>
                </a:solidFill>
                <a:latin typeface="Calibri"/>
              </a:rPr>
              <a:t>External test on another database (INCART), automatic R-peak detection (Pan-Tompkins), uncertainty estimation and clinician review of explanations.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57150"/>
            <a:ext cx="9144000" cy="2857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6800850"/>
            <a:ext cx="9144000" cy="5715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6772275"/>
            <a:ext cx="9144000" cy="28575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53E2B0F-1BE0-BEFD-61CD-D208C8E4A1B6}"/>
              </a:ext>
            </a:extLst>
          </p:cNvPr>
          <p:cNvSpPr txBox="1"/>
          <p:nvPr/>
        </p:nvSpPr>
        <p:spPr>
          <a:xfrm>
            <a:off x="2360595" y="724504"/>
            <a:ext cx="4107581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eferences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7902A3-03EC-E018-169F-15516CCD1D7F}"/>
              </a:ext>
            </a:extLst>
          </p:cNvPr>
          <p:cNvSpPr txBox="1"/>
          <p:nvPr/>
        </p:nvSpPr>
        <p:spPr>
          <a:xfrm>
            <a:off x="731519" y="1325880"/>
            <a:ext cx="7661709" cy="2785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1150" dirty="0">
                <a:solidFill>
                  <a:srgbClr val="202020"/>
                </a:solidFill>
              </a:rPr>
              <a:t>[1] G. B. Moody and R. G. Mark, “The impact of the MIT-BIH Arrhythmia Database,” IEEE Eng. Med. Biol. Mag., vol. 20, no. 3, pp. 45–50, 2001.</a:t>
            </a:r>
          </a:p>
          <a:p>
            <a:pPr>
              <a:spcAft>
                <a:spcPts val="600"/>
              </a:spcAft>
            </a:pPr>
            <a:r>
              <a:rPr lang="en-US" sz="1150" dirty="0">
                <a:solidFill>
                  <a:srgbClr val="202020"/>
                </a:solidFill>
              </a:rPr>
              <a:t>[2] N. Alamatsaz et al., “A lightweight hybrid CNN-LSTM explainable model for ECG-based arrhythmia detection,” Biomed. Signal Process. Control, vol. 90, 2024.</a:t>
            </a:r>
          </a:p>
          <a:p>
            <a:pPr>
              <a:spcAft>
                <a:spcPts val="600"/>
              </a:spcAft>
            </a:pPr>
            <a:r>
              <a:rPr lang="en-US" sz="1150" dirty="0">
                <a:solidFill>
                  <a:srgbClr val="202020"/>
                </a:solidFill>
              </a:rPr>
              <a:t>[3] D. Tenepalli and T. M. Navamani, “Design of an explainable deep learning framework for ECG-based arrhythmia prediction,” IEEE Access, vol. 13, 2025.</a:t>
            </a:r>
          </a:p>
          <a:p>
            <a:pPr>
              <a:spcAft>
                <a:spcPts val="600"/>
              </a:spcAft>
            </a:pPr>
            <a:r>
              <a:rPr lang="en-US" sz="1150" dirty="0">
                <a:solidFill>
                  <a:srgbClr val="202020"/>
                </a:solidFill>
              </a:rPr>
              <a:t>[4] Q. Xiao et al., “Deep learning-based ECG arrhythmia classification: A systematic review,” Applied Sciences, vol. 13, 4964, 2023.</a:t>
            </a:r>
          </a:p>
          <a:p>
            <a:pPr>
              <a:spcAft>
                <a:spcPts val="600"/>
              </a:spcAft>
            </a:pPr>
            <a:r>
              <a:rPr lang="en-US" sz="1150" dirty="0">
                <a:solidFill>
                  <a:srgbClr val="202020"/>
                </a:solidFill>
              </a:rPr>
              <a:t>[5] G. A. L. Silva et al., “A systematic review of ECG arrhythmia classification: Adherence to standards, fair evaluation, and embedded feasibility,” arXiv:2503.07276, 2025.</a:t>
            </a:r>
          </a:p>
          <a:p>
            <a:pPr>
              <a:spcAft>
                <a:spcPts val="600"/>
              </a:spcAft>
            </a:pPr>
            <a:r>
              <a:rPr lang="en-US" sz="1150" dirty="0">
                <a:solidFill>
                  <a:srgbClr val="202020"/>
                </a:solidFill>
              </a:rPr>
              <a:t>[6] N. N. Kulkarni et al., “Recent advances in deep learning based arrhythmia classification using ECG and PPG signals: a systematic review,” Discover Computing, vol. 29, 2026.</a:t>
            </a:r>
          </a:p>
          <a:p>
            <a:pPr>
              <a:spcAft>
                <a:spcPts val="600"/>
              </a:spcAft>
            </a:pPr>
            <a:r>
              <a:rPr lang="en-US" sz="1150" dirty="0">
                <a:solidFill>
                  <a:srgbClr val="202020"/>
                </a:solidFill>
              </a:rPr>
              <a:t>[7] P. Pramkeaw et al., “Deep learning-based ECG arrhythmia detection system: A comparative study of CNN, RNN, and LSTM architectures,” IEEE ICCI, 2026.</a:t>
            </a:r>
          </a:p>
          <a:p>
            <a:pPr>
              <a:spcAft>
                <a:spcPts val="600"/>
              </a:spcAft>
            </a:pPr>
            <a:r>
              <a:rPr lang="en-US" sz="1150" dirty="0">
                <a:solidFill>
                  <a:srgbClr val="202020"/>
                </a:solidFill>
              </a:rPr>
              <a:t>[8] P. de Chazal, M. O’Dwyer and R. B. Reilly, “Automatic classification of heartbeats using ECG morphology and heartbeat interval features,” IEEE Trans. Biomed. Eng., vol. 51, no. 7, 2004.</a:t>
            </a:r>
          </a:p>
        </p:txBody>
      </p:sp>
    </p:spTree>
    <p:extLst>
      <p:ext uri="{BB962C8B-B14F-4D97-AF65-F5344CB8AC3E}">
        <p14:creationId xmlns:p14="http://schemas.microsoft.com/office/powerpoint/2010/main" val="12689780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1451</Words>
  <Application>Microsoft Office PowerPoint</Application>
  <PresentationFormat>On-screen Show (4:3)</PresentationFormat>
  <Paragraphs>150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Times New Roman</vt:lpstr>
      <vt:lpstr>Office Theme</vt:lpstr>
      <vt:lpstr>B. Tech. Project Mid-Semester Evaluation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B. Tech. Project Mid-Semester Evaluation</dc:title>
  <dc:subject/>
  <dc:creator/>
  <cp:keywords/>
  <dc:description>generated using python-pptx</dc:description>
  <cp:lastModifiedBy>Sidhesh Tavare</cp:lastModifiedBy>
  <cp:revision>10</cp:revision>
  <dcterms:created xsi:type="dcterms:W3CDTF">2013-01-27T09:14:16Z</dcterms:created>
  <dcterms:modified xsi:type="dcterms:W3CDTF">2026-10-06T09:37:31Z</dcterms:modified>
  <cp:category/>
</cp:coreProperties>
</file>